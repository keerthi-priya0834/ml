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mber 1 (Slides 1–5)" id="{4BD099A2-03B9-1C6A-66B9-52DFC05B59CA}">
          <p14:sldIdLst>
            <p14:sldId id="256"/>
            <p14:sldId id="257"/>
            <p14:sldId id="258"/>
            <p14:sldId id="259"/>
            <p14:sldId id="260"/>
          </p14:sldIdLst>
        </p14:section>
        <p14:section name="Member 2 (Slides 6–10)" id="{1F7020C3-E407-AA02-C810-3B140590E80C}">
          <p14:sldIdLst>
            <p14:sldId id="261"/>
            <p14:sldId id="262"/>
            <p14:sldId id="263"/>
            <p14:sldId id="264"/>
            <p14:sldId id="265"/>
          </p14:sldIdLst>
        </p14:section>
        <p14:section name="Member 3 (Slides 11–15)" id="{E20F41F3-012F-BB7B-47C1-4A7DE2F3F5AC}">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43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Today we will explain Reinforcement Learning in a very simple way. It is a way for computers to learn by trying things and getting feedback, just like we learn from our mistakes. We are three members, and each of us will explain five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Reinforcement Learning is one type of Machine Learning. There is an agent, which is the learner, and an environment, which is the world around it. The agent takes an action and gets feedback. Its goal is to collect the most reward. Think of a robot learning to walk: it falls, tries again, and slowly gets better.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child learning to ride a bicycle. When the child balances well, it feels good. That is positive feedback. When the child falls, that is negative feedback. After many tries, the child improves. Reinforcement Learning works the same way: the child is the agent, and the bike and road are the environment.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learn five important words. Agent is the learner. Environment is the world it lives in. State is the situation right now. Action is what the agent does. Reward is the feedback it gets. For example, think of a robot in a room. The agent acts, the environment reacts, a reward comes back, and the agent learns from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learning loop. First, the agent looks around. Then it understands the current state and picks an action. The environment responds, and the agent gets a reward or a penalty. Finally, the agent learns from the result. This cycle repeats again and again, and the agent slowly makes better choices. Now Member 2 will continue.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reward is a positive score for a good action. A penalty is a negative score for a bad action. Look at the game example. Collecting a coin gives plus ten. Hitting an obstacle gives minus ten. Rewards tell the agent what is good and what is bad, so it repeats good actions and avoids bad 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Exploration means trying something new. Exploitation means using what already works. Think about a restaurant. Trying a new dish is exploration. Ordering your favourite dish is exploitation. If you only explore, you waste time on bad choices. If you only exploit, you may miss something even better. Reinforcement Learning needs a balance of both.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policy is the agent's strategy. It tells the agent which action to take in each state. For example, if there is a wall ahead, the policy may say turn right. A good policy gives better decisions and higher rewards. So learning in Reinforcement Learning means improving the policy step by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kinds of feedback. Positive reinforcement adds a reward after a good action. Negative reinforcement removes something unpleasant after a good action. There are also two main approaches. Model-free learning works only by trial and error. Model-based learning builds a small map of the world and plans ahead. Just remember these names for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common algorithms. Q-Learning keeps a table of scores. SARSA is very similar to Q-Learning. DQN uses a neural network, so it can handle big problems like video games. Policy Gradient learns the strategy directly. We will not use any maths here. Q-Learning is the easiest to understand, so Member 3 will explain it next.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Q-Learning works step by step. The agent looks at the state, picks an action, and gets a reward. Then it updates its knowledge. This knowledge is stored in a Q-Table. Think of it as a cheat sheet with a score for each action in each state. A higher score means a better action. After many tries, the agent simply picks the action with the highest score.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use a simple game as an example. The player is the agent, and the game world is the environment. The state is the player's current position. The actions are move left, move right, or jump. The reward is points. The goal is to get the maximum score. At first the player makes mistakes, but slowly it learns to collect coins and avoid obstacles.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Reinforcement Learning is used in many places. Robots learn to move and pick things up. Self-driving cars learn to drive safely. Game AI can beat champions. Recommendation systems suggest videos and products. It is also explored in healthcare, finance, energy use, and factories. Whenever decisions are made step by step, Reinforcement Learning can help.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both sides. The advantages: it learns from experience, it does not need labeled examples like supervised learning, it can solve step-by-step decision problems, and it keeps improving. The limitations: it needs many trials, training can be slow, designing rewards is hard, it can need a lot of computing power, and poor exploration can lead to bad learning.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Reinforcement Learning is learning through interaction and feedback. The agent takes actions, rewards guide its learning, and its decisions get better over time. It is useful in games, robotics, automation, and many other areas. Thank you for listening. We are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5.png"/><Relationship Id="rId10" Type="http://schemas.openxmlformats.org/officeDocument/2006/relationships/image" Target="../media/image32.png"/><Relationship Id="rId4" Type="http://schemas.openxmlformats.org/officeDocument/2006/relationships/image" Target="../media/image27.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Circle"/>
          <p:cNvSpPr/>
          <p:nvPr/>
        </p:nvSpPr>
        <p:spPr>
          <a:xfrm>
            <a:off x="6949440" y="1097280"/>
            <a:ext cx="4572000" cy="4572000"/>
          </a:xfrm>
          <a:prstGeom prst="ellipse">
            <a:avLst/>
          </a:prstGeom>
          <a:solidFill>
            <a:schemeClr val="accent2">
              <a:alpha val="7000"/>
            </a:schemeClr>
          </a:solidFill>
          <a:ln/>
        </p:spPr>
        <p:txBody>
          <a:bodyPr/>
          <a:lstStyle/>
          <a:p>
            <a:endParaRPr lang="en-IN"/>
          </a:p>
        </p:txBody>
      </p:sp>
      <p:sp>
        <p:nvSpPr>
          <p:cNvPr id="4" name="Orbit ring"/>
          <p:cNvSpPr/>
          <p:nvPr/>
        </p:nvSpPr>
        <p:spPr>
          <a:xfrm>
            <a:off x="7132320" y="1325880"/>
            <a:ext cx="4206240" cy="4206240"/>
          </a:xfrm>
          <a:prstGeom prst="ellipse">
            <a:avLst/>
          </a:prstGeom>
          <a:ln w="12700">
            <a:solidFill>
              <a:schemeClr val="bg2"/>
            </a:solidFill>
            <a:prstDash val="dash"/>
          </a:ln>
        </p:spPr>
        <p:txBody>
          <a:bodyPr/>
          <a:lstStyle/>
          <a:p>
            <a:endParaRPr lang="en-IN"/>
          </a:p>
        </p:txBody>
      </p:sp>
      <p:sp>
        <p:nvSpPr>
          <p:cNvPr id="5" name="Circle"/>
          <p:cNvSpPr/>
          <p:nvPr/>
        </p:nvSpPr>
        <p:spPr>
          <a:xfrm>
            <a:off x="8046720" y="2240280"/>
            <a:ext cx="2377440" cy="2377440"/>
          </a:xfrm>
          <a:prstGeom prst="ellipse">
            <a:avLst/>
          </a:prstGeom>
          <a:solidFill>
            <a:schemeClr val="accent1">
              <a:alpha val="15000"/>
            </a:schemeClr>
          </a:solidFill>
          <a:ln w="19050">
            <a:solidFill>
              <a:schemeClr val="accent1"/>
            </a:solidFill>
            <a:prstDash val="solid"/>
          </a:ln>
        </p:spPr>
        <p:txBody>
          <a:bodyPr/>
          <a:lstStyle/>
          <a:p>
            <a:endParaRPr lang="en-IN"/>
          </a:p>
        </p:txBody>
      </p:sp>
      <p:pic>
        <p:nvPicPr>
          <p:cNvPr id="6" name="Icon FaRobot" descr="preencoded.png"/>
          <p:cNvPicPr>
            <a:picLocks noChangeAspect="1"/>
          </p:cNvPicPr>
          <p:nvPr/>
        </p:nvPicPr>
        <p:blipFill>
          <a:blip r:embed="rId3"/>
          <a:stretch>
            <a:fillRect/>
          </a:stretch>
        </p:blipFill>
        <p:spPr>
          <a:xfrm>
            <a:off x="8549640" y="2743200"/>
            <a:ext cx="1371600" cy="1371600"/>
          </a:xfrm>
          <a:prstGeom prst="rect">
            <a:avLst/>
          </a:prstGeom>
        </p:spPr>
      </p:pic>
      <p:sp>
        <p:nvSpPr>
          <p:cNvPr id="7" name="Circle"/>
          <p:cNvSpPr/>
          <p:nvPr/>
        </p:nvSpPr>
        <p:spPr>
          <a:xfrm>
            <a:off x="7424928" y="1362456"/>
            <a:ext cx="914400" cy="914400"/>
          </a:xfrm>
          <a:prstGeom prst="ellipse">
            <a:avLst/>
          </a:prstGeom>
          <a:solidFill>
            <a:schemeClr val="accent4">
              <a:alpha val="20000"/>
            </a:schemeClr>
          </a:solidFill>
          <a:ln w="19050">
            <a:solidFill>
              <a:schemeClr val="accent4"/>
            </a:solidFill>
            <a:prstDash val="solid"/>
          </a:ln>
        </p:spPr>
        <p:txBody>
          <a:bodyPr/>
          <a:lstStyle/>
          <a:p>
            <a:endParaRPr lang="en-IN"/>
          </a:p>
        </p:txBody>
      </p:sp>
      <p:pic>
        <p:nvPicPr>
          <p:cNvPr id="8" name="Icon FaStar" descr="preencoded.png"/>
          <p:cNvPicPr>
            <a:picLocks noChangeAspect="1"/>
          </p:cNvPicPr>
          <p:nvPr/>
        </p:nvPicPr>
        <p:blipFill>
          <a:blip r:embed="rId4"/>
          <a:stretch>
            <a:fillRect/>
          </a:stretch>
        </p:blipFill>
        <p:spPr>
          <a:xfrm>
            <a:off x="7635240" y="1572768"/>
            <a:ext cx="493776" cy="493776"/>
          </a:xfrm>
          <a:prstGeom prst="rect">
            <a:avLst/>
          </a:prstGeom>
        </p:spPr>
      </p:pic>
      <p:sp>
        <p:nvSpPr>
          <p:cNvPr id="9" name="Circle"/>
          <p:cNvSpPr/>
          <p:nvPr/>
        </p:nvSpPr>
        <p:spPr>
          <a:xfrm>
            <a:off x="10131552" y="1362456"/>
            <a:ext cx="914400" cy="914400"/>
          </a:xfrm>
          <a:prstGeom prst="ellipse">
            <a:avLst/>
          </a:prstGeom>
          <a:solidFill>
            <a:schemeClr val="accent2">
              <a:alpha val="20000"/>
            </a:schemeClr>
          </a:solidFill>
          <a:ln w="19050">
            <a:solidFill>
              <a:schemeClr val="accent2"/>
            </a:solidFill>
            <a:prstDash val="solid"/>
          </a:ln>
        </p:spPr>
        <p:txBody>
          <a:bodyPr/>
          <a:lstStyle/>
          <a:p>
            <a:endParaRPr lang="en-IN"/>
          </a:p>
        </p:txBody>
      </p:sp>
      <p:pic>
        <p:nvPicPr>
          <p:cNvPr id="10" name="Icon FaBrain" descr="preencoded.png"/>
          <p:cNvPicPr>
            <a:picLocks noChangeAspect="1"/>
          </p:cNvPicPr>
          <p:nvPr/>
        </p:nvPicPr>
        <p:blipFill>
          <a:blip r:embed="rId5"/>
          <a:stretch>
            <a:fillRect/>
          </a:stretch>
        </p:blipFill>
        <p:spPr>
          <a:xfrm>
            <a:off x="10341864" y="1572768"/>
            <a:ext cx="493776" cy="493776"/>
          </a:xfrm>
          <a:prstGeom prst="rect">
            <a:avLst/>
          </a:prstGeom>
        </p:spPr>
      </p:pic>
      <p:sp>
        <p:nvSpPr>
          <p:cNvPr id="11" name="Circle"/>
          <p:cNvSpPr/>
          <p:nvPr/>
        </p:nvSpPr>
        <p:spPr>
          <a:xfrm>
            <a:off x="7424928" y="4581144"/>
            <a:ext cx="914400" cy="914400"/>
          </a:xfrm>
          <a:prstGeom prst="ellipse">
            <a:avLst/>
          </a:prstGeom>
          <a:solidFill>
            <a:schemeClr val="accent3">
              <a:alpha val="20000"/>
            </a:schemeClr>
          </a:solidFill>
          <a:ln w="19050">
            <a:solidFill>
              <a:schemeClr val="accent3"/>
            </a:solidFill>
            <a:prstDash val="solid"/>
          </a:ln>
        </p:spPr>
        <p:txBody>
          <a:bodyPr/>
          <a:lstStyle/>
          <a:p>
            <a:endParaRPr lang="en-IN"/>
          </a:p>
        </p:txBody>
      </p:sp>
      <p:pic>
        <p:nvPicPr>
          <p:cNvPr id="12" name="Icon FaCogs" descr="preencoded.png"/>
          <p:cNvPicPr>
            <a:picLocks noChangeAspect="1"/>
          </p:cNvPicPr>
          <p:nvPr/>
        </p:nvPicPr>
        <p:blipFill>
          <a:blip r:embed="rId6"/>
          <a:stretch>
            <a:fillRect/>
          </a:stretch>
        </p:blipFill>
        <p:spPr>
          <a:xfrm>
            <a:off x="7635240" y="4791456"/>
            <a:ext cx="493776" cy="493776"/>
          </a:xfrm>
          <a:prstGeom prst="rect">
            <a:avLst/>
          </a:prstGeom>
        </p:spPr>
      </p:pic>
      <p:sp>
        <p:nvSpPr>
          <p:cNvPr id="13" name="Circle"/>
          <p:cNvSpPr/>
          <p:nvPr/>
        </p:nvSpPr>
        <p:spPr>
          <a:xfrm>
            <a:off x="10131552" y="4581144"/>
            <a:ext cx="914400" cy="914400"/>
          </a:xfrm>
          <a:prstGeom prst="ellipse">
            <a:avLst/>
          </a:prstGeom>
          <a:solidFill>
            <a:schemeClr val="accent6">
              <a:alpha val="20000"/>
            </a:schemeClr>
          </a:solidFill>
          <a:ln w="19050">
            <a:solidFill>
              <a:schemeClr val="accent6"/>
            </a:solidFill>
            <a:prstDash val="solid"/>
          </a:ln>
        </p:spPr>
        <p:txBody>
          <a:bodyPr/>
          <a:lstStyle/>
          <a:p>
            <a:endParaRPr lang="en-IN"/>
          </a:p>
        </p:txBody>
      </p:sp>
      <p:pic>
        <p:nvPicPr>
          <p:cNvPr id="14" name="Icon FaGamepad" descr="preencoded.png"/>
          <p:cNvPicPr>
            <a:picLocks noChangeAspect="1"/>
          </p:cNvPicPr>
          <p:nvPr/>
        </p:nvPicPr>
        <p:blipFill>
          <a:blip r:embed="rId7"/>
          <a:stretch>
            <a:fillRect/>
          </a:stretch>
        </p:blipFill>
        <p:spPr>
          <a:xfrm>
            <a:off x="10341864" y="4791456"/>
            <a:ext cx="493776" cy="493776"/>
          </a:xfrm>
          <a:prstGeom prst="rect">
            <a:avLst/>
          </a:prstGeom>
        </p:spPr>
      </p:pic>
      <p:sp>
        <p:nvSpPr>
          <p:cNvPr id="15" name="Chip"/>
          <p:cNvSpPr/>
          <p:nvPr/>
        </p:nvSpPr>
        <p:spPr>
          <a:xfrm>
            <a:off x="731520" y="1097280"/>
            <a:ext cx="4754880" cy="411480"/>
          </a:xfrm>
          <a:prstGeom prst="roundRect">
            <a:avLst>
              <a:gd name="adj" fmla="val 22222"/>
            </a:avLst>
          </a:prstGeom>
          <a:solidFill>
            <a:schemeClr val="accent1">
              <a:alpha val="20000"/>
            </a:schemeClr>
          </a:solidFill>
          <a:ln w="15875">
            <a:solidFill>
              <a:schemeClr val="accent1"/>
            </a:solidFill>
            <a:prstDash val="solid"/>
          </a:ln>
        </p:spPr>
        <p:txBody>
          <a:bodyPr/>
          <a:lstStyle/>
          <a:p>
            <a:endParaRPr lang="en-IN"/>
          </a:p>
        </p:txBody>
      </p:sp>
      <p:sp>
        <p:nvSpPr>
          <p:cNvPr id="16" name="Text 8"/>
          <p:cNvSpPr txBox="1"/>
          <p:nvPr/>
        </p:nvSpPr>
        <p:spPr>
          <a:xfrm>
            <a:off x="731520" y="1097280"/>
            <a:ext cx="4754880" cy="411480"/>
          </a:xfrm>
          <a:prstGeom prst="rect">
            <a:avLst/>
          </a:prstGeom>
          <a:noFill/>
          <a:ln/>
        </p:spPr>
        <p:txBody>
          <a:bodyPr wrap="square" lIns="0" tIns="0" rIns="0" bIns="0" rtlCol="0" anchor="ctr"/>
          <a:lstStyle/>
          <a:p>
            <a:pPr marL="0" indent="0" algn="ctr">
              <a:buNone/>
            </a:pPr>
            <a:r>
              <a:rPr lang="en-US" sz="1300" b="1" dirty="0">
                <a:solidFill>
                  <a:schemeClr val="bg1"/>
                </a:solidFill>
              </a:rPr>
              <a:t>MACHINE LEARNING  </a:t>
            </a:r>
            <a:endParaRPr lang="en-US" sz="1300" dirty="0"/>
          </a:p>
        </p:txBody>
      </p:sp>
      <p:sp>
        <p:nvSpPr>
          <p:cNvPr id="17" name="Text 9"/>
          <p:cNvSpPr txBox="1"/>
          <p:nvPr/>
        </p:nvSpPr>
        <p:spPr>
          <a:xfrm>
            <a:off x="731520" y="1737360"/>
            <a:ext cx="6035040" cy="1828800"/>
          </a:xfrm>
          <a:prstGeom prst="rect">
            <a:avLst/>
          </a:prstGeom>
          <a:noFill/>
          <a:ln/>
        </p:spPr>
        <p:txBody>
          <a:bodyPr wrap="square" lIns="0" tIns="0" rIns="0" bIns="0" rtlCol="0" anchor="t"/>
          <a:lstStyle/>
          <a:p>
            <a:pPr marL="0" indent="0">
              <a:buNone/>
            </a:pPr>
            <a:r>
              <a:rPr lang="en-US" sz="6000" b="1" dirty="0">
                <a:solidFill>
                  <a:schemeClr val="bg1"/>
                </a:solidFill>
              </a:rPr>
              <a:t>Reinforcement Learning</a:t>
            </a:r>
            <a:endParaRPr lang="en-US" sz="6000" dirty="0"/>
          </a:p>
        </p:txBody>
      </p:sp>
      <p:sp>
        <p:nvSpPr>
          <p:cNvPr id="18" name="Text 10"/>
          <p:cNvSpPr txBox="1"/>
          <p:nvPr/>
        </p:nvSpPr>
        <p:spPr>
          <a:xfrm>
            <a:off x="731520" y="3703320"/>
            <a:ext cx="6217920" cy="502920"/>
          </a:xfrm>
          <a:prstGeom prst="rect">
            <a:avLst/>
          </a:prstGeom>
          <a:noFill/>
          <a:ln/>
        </p:spPr>
        <p:txBody>
          <a:bodyPr wrap="square" lIns="0" tIns="0" rIns="0" bIns="0" rtlCol="0" anchor="ctr"/>
          <a:lstStyle/>
          <a:p>
            <a:pPr marL="0" indent="0">
              <a:buNone/>
            </a:pPr>
            <a:r>
              <a:rPr lang="en-US" sz="2600" i="1" dirty="0">
                <a:solidFill>
                  <a:schemeClr val="accent1"/>
                </a:solidFill>
              </a:rPr>
              <a:t>Learning Through Trial and Error</a:t>
            </a:r>
            <a:endParaRPr lang="en-US" sz="2600" dirty="0"/>
          </a:p>
        </p:txBody>
      </p:sp>
      <p:sp>
        <p:nvSpPr>
          <p:cNvPr id="19" name="Text 11"/>
          <p:cNvSpPr txBox="1"/>
          <p:nvPr/>
        </p:nvSpPr>
        <p:spPr>
          <a:xfrm>
            <a:off x="731520" y="4617720"/>
            <a:ext cx="3657600" cy="274320"/>
          </a:xfrm>
          <a:prstGeom prst="rect">
            <a:avLst/>
          </a:prstGeom>
          <a:noFill/>
          <a:ln/>
        </p:spPr>
        <p:txBody>
          <a:bodyPr wrap="square" lIns="0" tIns="0" rIns="0" bIns="0" rtlCol="0" anchor="ctr"/>
          <a:lstStyle/>
          <a:p>
            <a:pPr marL="0" indent="0">
              <a:buNone/>
            </a:pPr>
            <a:r>
              <a:rPr lang="en-US" sz="1200" kern="0" spc="300" dirty="0">
                <a:solidFill>
                  <a:schemeClr val="bg2"/>
                </a:solidFill>
              </a:rPr>
              <a:t>PRESENTED BY</a:t>
            </a:r>
            <a:endParaRPr lang="en-US" sz="1200" dirty="0"/>
          </a:p>
        </p:txBody>
      </p:sp>
      <p:sp>
        <p:nvSpPr>
          <p:cNvPr id="20" name="Text 12"/>
          <p:cNvSpPr txBox="1"/>
          <p:nvPr/>
        </p:nvSpPr>
        <p:spPr>
          <a:xfrm>
            <a:off x="740664" y="4919472"/>
            <a:ext cx="6217920" cy="365760"/>
          </a:xfrm>
          <a:prstGeom prst="rect">
            <a:avLst/>
          </a:prstGeom>
          <a:noFill/>
          <a:ln/>
        </p:spPr>
        <p:txBody>
          <a:bodyPr wrap="square" lIns="0" tIns="0" rIns="0" bIns="0" rtlCol="0" anchor="ctr"/>
          <a:lstStyle/>
          <a:p>
            <a:pPr marL="0" indent="0">
              <a:buNone/>
            </a:pPr>
            <a:r>
              <a:rPr lang="en-US" sz="1700" b="1" dirty="0">
                <a:solidFill>
                  <a:schemeClr val="bg1"/>
                </a:solidFill>
              </a:rPr>
              <a:t> HARSHITH  • SHANMUKHA  •  KEERTHIPRIYA</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What is Reinforcement Learning?</a:t>
            </a:r>
            <a:endParaRPr lang="en-US" sz="3800" dirty="0"/>
          </a:p>
        </p:txBody>
      </p:sp>
      <p:sp>
        <p:nvSpPr>
          <p:cNvPr id="5" name="Bullets"/>
          <p:cNvSpPr txBox="1"/>
          <p:nvPr/>
        </p:nvSpPr>
        <p:spPr>
          <a:xfrm>
            <a:off x="548640" y="1645920"/>
            <a:ext cx="6419088" cy="3900865"/>
          </a:xfrm>
          <a:prstGeom prst="rect">
            <a:avLst/>
          </a:prstGeom>
          <a:noFill/>
          <a:ln/>
        </p:spPr>
        <p:txBody>
          <a:bodyPr wrap="square" lIns="0" tIns="0" rIns="0" bIns="0" rtlCol="0" anchor="t"/>
          <a:lstStyle/>
          <a:p>
            <a:pPr marL="228600" indent="-228600">
              <a:spcAft>
                <a:spcPts val="1600"/>
              </a:spcAft>
              <a:buSzPct val="100000"/>
              <a:buChar char="•"/>
            </a:pPr>
            <a:r>
              <a:rPr lang="en-US" sz="2200" dirty="0">
                <a:solidFill>
                  <a:schemeClr val="bg1"/>
                </a:solidFill>
              </a:rPr>
              <a:t>A type of </a:t>
            </a:r>
            <a:r>
              <a:rPr lang="en-US" sz="2200" b="1" dirty="0">
                <a:solidFill>
                  <a:schemeClr val="accent1"/>
                </a:solidFill>
              </a:rPr>
              <a:t>Machine Learning</a:t>
            </a:r>
            <a:endParaRPr lang="en-US" sz="2200" dirty="0"/>
          </a:p>
          <a:p>
            <a:pPr marL="228600" indent="-228600">
              <a:spcAft>
                <a:spcPts val="1600"/>
              </a:spcAft>
              <a:buSzPct val="100000"/>
              <a:buChar char="•"/>
            </a:pPr>
            <a:r>
              <a:rPr lang="en-US" sz="2200" dirty="0">
                <a:solidFill>
                  <a:schemeClr val="bg1"/>
                </a:solidFill>
              </a:rPr>
              <a:t>An </a:t>
            </a:r>
            <a:r>
              <a:rPr lang="en-US" sz="2200" b="1" dirty="0">
                <a:solidFill>
                  <a:schemeClr val="accent1"/>
                </a:solidFill>
              </a:rPr>
              <a:t>agent</a:t>
            </a:r>
            <a:r>
              <a:rPr lang="en-US" sz="2200" b="1" dirty="0"/>
              <a:t> </a:t>
            </a:r>
            <a:r>
              <a:rPr lang="en-US" sz="2200" dirty="0">
                <a:solidFill>
                  <a:schemeClr val="bg1"/>
                </a:solidFill>
              </a:rPr>
              <a:t>learns by interacting with an </a:t>
            </a:r>
            <a:r>
              <a:rPr lang="en-US" sz="2200" b="1" dirty="0">
                <a:solidFill>
                  <a:schemeClr val="accent1"/>
                </a:solidFill>
              </a:rPr>
              <a:t>environment</a:t>
            </a:r>
            <a:endParaRPr lang="en-US" sz="2200" dirty="0"/>
          </a:p>
          <a:p>
            <a:pPr marL="228600" indent="-228600">
              <a:spcAft>
                <a:spcPts val="1600"/>
              </a:spcAft>
              <a:buSzPct val="100000"/>
              <a:buChar char="•"/>
            </a:pPr>
            <a:r>
              <a:rPr lang="en-US" sz="2200" dirty="0">
                <a:solidFill>
                  <a:schemeClr val="bg1"/>
                </a:solidFill>
              </a:rPr>
              <a:t>It learns from </a:t>
            </a:r>
            <a:r>
              <a:rPr lang="en-US" sz="2200" b="1" dirty="0">
                <a:solidFill>
                  <a:schemeClr val="accent1"/>
                </a:solidFill>
              </a:rPr>
              <a:t>actions</a:t>
            </a:r>
            <a:r>
              <a:rPr lang="en-US" sz="2200" b="1" dirty="0"/>
              <a:t> </a:t>
            </a:r>
            <a:r>
              <a:rPr lang="en-US" sz="2200" dirty="0">
                <a:solidFill>
                  <a:schemeClr val="bg1"/>
                </a:solidFill>
              </a:rPr>
              <a:t>and </a:t>
            </a:r>
            <a:r>
              <a:rPr lang="en-US" sz="2200" b="1" dirty="0">
                <a:solidFill>
                  <a:schemeClr val="accent1"/>
                </a:solidFill>
              </a:rPr>
              <a:t>feedback</a:t>
            </a:r>
            <a:endParaRPr lang="en-US" sz="2200" dirty="0"/>
          </a:p>
          <a:p>
            <a:pPr marL="228600" indent="-228600">
              <a:spcAft>
                <a:spcPts val="1600"/>
              </a:spcAft>
              <a:buSzPct val="100000"/>
              <a:buChar char="•"/>
            </a:pPr>
            <a:r>
              <a:rPr lang="en-US" sz="2200" dirty="0">
                <a:solidFill>
                  <a:schemeClr val="bg1"/>
                </a:solidFill>
              </a:rPr>
              <a:t>Goal: learn the best actions to get the </a:t>
            </a:r>
            <a:r>
              <a:rPr lang="en-US" sz="2200" b="1" dirty="0">
                <a:solidFill>
                  <a:schemeClr val="accent1"/>
                </a:solidFill>
              </a:rPr>
              <a:t>maximum reward</a:t>
            </a:r>
            <a:endParaRPr lang="en-US" sz="2200" dirty="0"/>
          </a:p>
          <a:p>
            <a:pPr marL="228600" indent="-228600">
              <a:spcAft>
                <a:spcPts val="1600"/>
              </a:spcAft>
              <a:buSzPct val="100000"/>
              <a:buChar char="•"/>
            </a:pPr>
            <a:r>
              <a:rPr lang="en-US" sz="2200" dirty="0">
                <a:solidFill>
                  <a:schemeClr val="bg1"/>
                </a:solidFill>
              </a:rPr>
              <a:t>Example: a robot learning to walk</a:t>
            </a:r>
            <a:endParaRPr lang="en-US" sz="2200" dirty="0"/>
          </a:p>
        </p:txBody>
      </p:sp>
      <p:sp>
        <p:nvSpPr>
          <p:cNvPr id="6" name="Card"/>
          <p:cNvSpPr/>
          <p:nvPr/>
        </p:nvSpPr>
        <p:spPr>
          <a:xfrm>
            <a:off x="6675120" y="1508760"/>
            <a:ext cx="4965192" cy="4526280"/>
          </a:xfrm>
          <a:prstGeom prst="roundRect">
            <a:avLst>
              <a:gd name="adj" fmla="val 2424"/>
            </a:avLst>
          </a:prstGeom>
          <a:solidFill>
            <a:schemeClr val="tx2"/>
          </a:solidFill>
          <a:ln/>
        </p:spPr>
        <p:txBody>
          <a:bodyPr/>
          <a:lstStyle/>
          <a:p>
            <a:endParaRPr lang="en-IN"/>
          </a:p>
        </p:txBody>
      </p:sp>
      <p:sp>
        <p:nvSpPr>
          <p:cNvPr id="7" name="Text 4"/>
          <p:cNvSpPr txBox="1"/>
          <p:nvPr/>
        </p:nvSpPr>
        <p:spPr>
          <a:xfrm>
            <a:off x="6903720" y="1691640"/>
            <a:ext cx="4526280" cy="365760"/>
          </a:xfrm>
          <a:prstGeom prst="rect">
            <a:avLst/>
          </a:prstGeom>
          <a:noFill/>
          <a:ln/>
        </p:spPr>
        <p:txBody>
          <a:bodyPr wrap="square" lIns="0" tIns="0" rIns="0" bIns="0" rtlCol="0" anchor="ctr"/>
          <a:lstStyle/>
          <a:p>
            <a:pPr marL="0" indent="0">
              <a:buNone/>
            </a:pPr>
            <a:r>
              <a:rPr lang="en-US" sz="1700" b="1" dirty="0">
                <a:solidFill>
                  <a:schemeClr val="bg2"/>
                </a:solidFill>
              </a:rPr>
              <a:t>Example: a robot learning to walk</a:t>
            </a:r>
            <a:endParaRPr lang="en-US" sz="1700" dirty="0"/>
          </a:p>
        </p:txBody>
      </p:sp>
      <p:sp>
        <p:nvSpPr>
          <p:cNvPr id="8" name="Circle"/>
          <p:cNvSpPr/>
          <p:nvPr/>
        </p:nvSpPr>
        <p:spPr>
          <a:xfrm>
            <a:off x="7040880" y="2286000"/>
            <a:ext cx="1097280" cy="1097280"/>
          </a:xfrm>
          <a:prstGeom prst="ellipse">
            <a:avLst/>
          </a:prstGeom>
          <a:solidFill>
            <a:schemeClr val="accent1">
              <a:alpha val="18000"/>
            </a:schemeClr>
          </a:solidFill>
          <a:ln/>
        </p:spPr>
        <p:txBody>
          <a:bodyPr/>
          <a:lstStyle/>
          <a:p>
            <a:endParaRPr lang="en-IN"/>
          </a:p>
        </p:txBody>
      </p:sp>
      <p:pic>
        <p:nvPicPr>
          <p:cNvPr id="9" name="Icon FaRobot" descr="preencoded.png"/>
          <p:cNvPicPr>
            <a:picLocks noChangeAspect="1"/>
          </p:cNvPicPr>
          <p:nvPr/>
        </p:nvPicPr>
        <p:blipFill>
          <a:blip r:embed="rId3"/>
          <a:stretch>
            <a:fillRect/>
          </a:stretch>
        </p:blipFill>
        <p:spPr>
          <a:xfrm>
            <a:off x="7315200" y="2560320"/>
            <a:ext cx="548640" cy="548640"/>
          </a:xfrm>
          <a:prstGeom prst="rect">
            <a:avLst/>
          </a:prstGeom>
        </p:spPr>
      </p:pic>
      <p:sp>
        <p:nvSpPr>
          <p:cNvPr id="10" name="Circle"/>
          <p:cNvSpPr/>
          <p:nvPr/>
        </p:nvSpPr>
        <p:spPr>
          <a:xfrm>
            <a:off x="10195560" y="2286000"/>
            <a:ext cx="1097280" cy="1097280"/>
          </a:xfrm>
          <a:prstGeom prst="ellipse">
            <a:avLst/>
          </a:prstGeom>
          <a:solidFill>
            <a:schemeClr val="accent2">
              <a:alpha val="18000"/>
            </a:schemeClr>
          </a:solidFill>
          <a:ln/>
        </p:spPr>
        <p:txBody>
          <a:bodyPr/>
          <a:lstStyle/>
          <a:p>
            <a:endParaRPr lang="en-IN"/>
          </a:p>
        </p:txBody>
      </p:sp>
      <p:pic>
        <p:nvPicPr>
          <p:cNvPr id="11" name="Icon FaGlobe" descr="preencoded.png"/>
          <p:cNvPicPr>
            <a:picLocks noChangeAspect="1"/>
          </p:cNvPicPr>
          <p:nvPr/>
        </p:nvPicPr>
        <p:blipFill>
          <a:blip r:embed="rId4"/>
          <a:stretch>
            <a:fillRect/>
          </a:stretch>
        </p:blipFill>
        <p:spPr>
          <a:xfrm>
            <a:off x="10469880" y="2560320"/>
            <a:ext cx="548640" cy="548640"/>
          </a:xfrm>
          <a:prstGeom prst="rect">
            <a:avLst/>
          </a:prstGeom>
        </p:spPr>
      </p:pic>
      <p:sp>
        <p:nvSpPr>
          <p:cNvPr id="12" name="Arrow"/>
          <p:cNvSpPr/>
          <p:nvPr/>
        </p:nvSpPr>
        <p:spPr>
          <a:xfrm>
            <a:off x="8275320" y="2606040"/>
            <a:ext cx="1783080" cy="0"/>
          </a:xfrm>
          <a:prstGeom prst="line">
            <a:avLst/>
          </a:prstGeom>
          <a:noFill/>
          <a:ln w="28575">
            <a:solidFill>
              <a:schemeClr val="accent3"/>
            </a:solidFill>
            <a:prstDash val="solid"/>
            <a:tailEnd type="triangle"/>
          </a:ln>
        </p:spPr>
        <p:txBody>
          <a:bodyPr/>
          <a:lstStyle/>
          <a:p>
            <a:endParaRPr lang="en-IN"/>
          </a:p>
        </p:txBody>
      </p:sp>
      <p:sp>
        <p:nvSpPr>
          <p:cNvPr id="13" name="Arrow"/>
          <p:cNvSpPr/>
          <p:nvPr/>
        </p:nvSpPr>
        <p:spPr>
          <a:xfrm flipH="1">
            <a:off x="8275320" y="3108960"/>
            <a:ext cx="1783080" cy="0"/>
          </a:xfrm>
          <a:prstGeom prst="line">
            <a:avLst/>
          </a:prstGeom>
          <a:noFill/>
          <a:ln w="28575">
            <a:solidFill>
              <a:schemeClr val="accent4"/>
            </a:solidFill>
            <a:prstDash val="solid"/>
            <a:tailEnd type="triangle"/>
          </a:ln>
        </p:spPr>
        <p:txBody>
          <a:bodyPr/>
          <a:lstStyle/>
          <a:p>
            <a:endParaRPr lang="en-IN"/>
          </a:p>
        </p:txBody>
      </p:sp>
      <p:sp>
        <p:nvSpPr>
          <p:cNvPr id="14" name="Text 9"/>
          <p:cNvSpPr txBox="1"/>
          <p:nvPr/>
        </p:nvSpPr>
        <p:spPr>
          <a:xfrm>
            <a:off x="8275320" y="2212848"/>
            <a:ext cx="1783080" cy="320040"/>
          </a:xfrm>
          <a:prstGeom prst="rect">
            <a:avLst/>
          </a:prstGeom>
          <a:noFill/>
          <a:ln/>
        </p:spPr>
        <p:txBody>
          <a:bodyPr wrap="square" lIns="0" tIns="0" rIns="0" bIns="0" rtlCol="0" anchor="ctr"/>
          <a:lstStyle/>
          <a:p>
            <a:pPr marL="0" indent="0" algn="ctr">
              <a:buNone/>
            </a:pPr>
            <a:r>
              <a:rPr lang="en-US" sz="1400" b="1" dirty="0">
                <a:solidFill>
                  <a:schemeClr val="accent3"/>
                </a:solidFill>
              </a:rPr>
              <a:t>Action</a:t>
            </a:r>
            <a:endParaRPr lang="en-US" sz="1400" dirty="0"/>
          </a:p>
        </p:txBody>
      </p:sp>
      <p:sp>
        <p:nvSpPr>
          <p:cNvPr id="15" name="Text 10"/>
          <p:cNvSpPr txBox="1"/>
          <p:nvPr/>
        </p:nvSpPr>
        <p:spPr>
          <a:xfrm>
            <a:off x="8275320" y="3200400"/>
            <a:ext cx="1783080" cy="320040"/>
          </a:xfrm>
          <a:prstGeom prst="rect">
            <a:avLst/>
          </a:prstGeom>
          <a:noFill/>
          <a:ln/>
        </p:spPr>
        <p:txBody>
          <a:bodyPr wrap="square" lIns="0" tIns="0" rIns="0" bIns="0" rtlCol="0" anchor="ctr"/>
          <a:lstStyle/>
          <a:p>
            <a:pPr marL="0" indent="0" algn="ctr">
              <a:buNone/>
            </a:pPr>
            <a:r>
              <a:rPr lang="en-US" sz="1400" b="1" dirty="0">
                <a:solidFill>
                  <a:schemeClr val="accent4"/>
                </a:solidFill>
              </a:rPr>
              <a:t>Feedback</a:t>
            </a:r>
            <a:endParaRPr lang="en-US" sz="1400" dirty="0"/>
          </a:p>
        </p:txBody>
      </p:sp>
      <p:sp>
        <p:nvSpPr>
          <p:cNvPr id="16" name="Text 11"/>
          <p:cNvSpPr txBox="1"/>
          <p:nvPr/>
        </p:nvSpPr>
        <p:spPr>
          <a:xfrm>
            <a:off x="6812280" y="3474720"/>
            <a:ext cx="1554480" cy="320040"/>
          </a:xfrm>
          <a:prstGeom prst="rect">
            <a:avLst/>
          </a:prstGeom>
          <a:noFill/>
          <a:ln/>
        </p:spPr>
        <p:txBody>
          <a:bodyPr wrap="square" lIns="0" tIns="0" rIns="0" bIns="0" rtlCol="0" anchor="ctr"/>
          <a:lstStyle/>
          <a:p>
            <a:pPr marL="0" indent="0" algn="ctr">
              <a:buNone/>
            </a:pPr>
            <a:r>
              <a:rPr lang="en-US" sz="1500" b="1" dirty="0">
                <a:solidFill>
                  <a:schemeClr val="bg1"/>
                </a:solidFill>
              </a:rPr>
              <a:t>Robot (Agent)</a:t>
            </a:r>
            <a:endParaRPr lang="en-US" sz="1500" dirty="0"/>
          </a:p>
        </p:txBody>
      </p:sp>
      <p:sp>
        <p:nvSpPr>
          <p:cNvPr id="17" name="Text 12"/>
          <p:cNvSpPr txBox="1"/>
          <p:nvPr/>
        </p:nvSpPr>
        <p:spPr>
          <a:xfrm>
            <a:off x="9966960" y="3474720"/>
            <a:ext cx="1554480" cy="320040"/>
          </a:xfrm>
          <a:prstGeom prst="rect">
            <a:avLst/>
          </a:prstGeom>
          <a:noFill/>
          <a:ln/>
        </p:spPr>
        <p:txBody>
          <a:bodyPr wrap="square" lIns="0" tIns="0" rIns="0" bIns="0" rtlCol="0" anchor="ctr"/>
          <a:lstStyle/>
          <a:p>
            <a:pPr marL="0" indent="0" algn="ctr">
              <a:buNone/>
            </a:pPr>
            <a:r>
              <a:rPr lang="en-US" sz="1500" b="1" dirty="0">
                <a:solidFill>
                  <a:schemeClr val="bg1"/>
                </a:solidFill>
              </a:rPr>
              <a:t>Environment</a:t>
            </a:r>
            <a:endParaRPr lang="en-US" sz="1500" dirty="0"/>
          </a:p>
        </p:txBody>
      </p:sp>
      <p:sp>
        <p:nvSpPr>
          <p:cNvPr id="18" name="Chip"/>
          <p:cNvSpPr/>
          <p:nvPr/>
        </p:nvSpPr>
        <p:spPr>
          <a:xfrm>
            <a:off x="6903720" y="4114800"/>
            <a:ext cx="4526280" cy="502920"/>
          </a:xfrm>
          <a:prstGeom prst="roundRect">
            <a:avLst>
              <a:gd name="adj" fmla="val 18182"/>
            </a:avLst>
          </a:prstGeom>
          <a:solidFill>
            <a:schemeClr val="accent3">
              <a:alpha val="20000"/>
            </a:schemeClr>
          </a:solidFill>
          <a:ln w="15875">
            <a:solidFill>
              <a:schemeClr val="accent3"/>
            </a:solidFill>
            <a:prstDash val="solid"/>
          </a:ln>
        </p:spPr>
        <p:txBody>
          <a:bodyPr/>
          <a:lstStyle/>
          <a:p>
            <a:endParaRPr lang="en-IN"/>
          </a:p>
        </p:txBody>
      </p:sp>
      <p:sp>
        <p:nvSpPr>
          <p:cNvPr id="19" name="Text 14"/>
          <p:cNvSpPr txBox="1"/>
          <p:nvPr/>
        </p:nvSpPr>
        <p:spPr>
          <a:xfrm>
            <a:off x="6903720" y="4114800"/>
            <a:ext cx="4526280" cy="502920"/>
          </a:xfrm>
          <a:prstGeom prst="rect">
            <a:avLst/>
          </a:prstGeom>
          <a:noFill/>
          <a:ln/>
        </p:spPr>
        <p:txBody>
          <a:bodyPr wrap="square" lIns="0" tIns="0" rIns="0" bIns="0" rtlCol="0" anchor="ctr"/>
          <a:lstStyle/>
          <a:p>
            <a:pPr marL="0" indent="0" algn="ctr">
              <a:buNone/>
            </a:pPr>
            <a:r>
              <a:rPr lang="en-US" sz="1500" dirty="0">
                <a:solidFill>
                  <a:schemeClr val="bg1"/>
                </a:solidFill>
              </a:rPr>
              <a:t>Takes a step, stays up  →  +1 reward</a:t>
            </a:r>
            <a:endParaRPr lang="en-US" sz="1500" dirty="0"/>
          </a:p>
        </p:txBody>
      </p:sp>
      <p:sp>
        <p:nvSpPr>
          <p:cNvPr id="20" name="Chip"/>
          <p:cNvSpPr/>
          <p:nvPr/>
        </p:nvSpPr>
        <p:spPr>
          <a:xfrm>
            <a:off x="6903720" y="4709160"/>
            <a:ext cx="4526280" cy="502920"/>
          </a:xfrm>
          <a:prstGeom prst="roundRect">
            <a:avLst>
              <a:gd name="adj" fmla="val 18182"/>
            </a:avLst>
          </a:prstGeom>
          <a:solidFill>
            <a:schemeClr val="accent5">
              <a:alpha val="20000"/>
            </a:schemeClr>
          </a:solidFill>
          <a:ln w="15875">
            <a:solidFill>
              <a:schemeClr val="accent5"/>
            </a:solidFill>
            <a:prstDash val="solid"/>
          </a:ln>
        </p:spPr>
        <p:txBody>
          <a:bodyPr/>
          <a:lstStyle/>
          <a:p>
            <a:endParaRPr lang="en-IN"/>
          </a:p>
        </p:txBody>
      </p:sp>
      <p:sp>
        <p:nvSpPr>
          <p:cNvPr id="21" name="Text 16"/>
          <p:cNvSpPr txBox="1"/>
          <p:nvPr/>
        </p:nvSpPr>
        <p:spPr>
          <a:xfrm>
            <a:off x="6903720" y="4709160"/>
            <a:ext cx="4526280" cy="502920"/>
          </a:xfrm>
          <a:prstGeom prst="rect">
            <a:avLst/>
          </a:prstGeom>
          <a:noFill/>
          <a:ln/>
        </p:spPr>
        <p:txBody>
          <a:bodyPr wrap="square" lIns="0" tIns="0" rIns="0" bIns="0" rtlCol="0" anchor="ctr"/>
          <a:lstStyle/>
          <a:p>
            <a:pPr marL="0" indent="0" algn="ctr">
              <a:buNone/>
            </a:pPr>
            <a:r>
              <a:rPr lang="en-US" sz="1500" dirty="0">
                <a:solidFill>
                  <a:schemeClr val="bg1"/>
                </a:solidFill>
              </a:rPr>
              <a:t>Falls down  →  −1 penalty</a:t>
            </a:r>
            <a:endParaRPr lang="en-US" sz="1500" dirty="0"/>
          </a:p>
        </p:txBody>
      </p:sp>
      <p:sp>
        <p:nvSpPr>
          <p:cNvPr id="22" name="Chip"/>
          <p:cNvSpPr/>
          <p:nvPr/>
        </p:nvSpPr>
        <p:spPr>
          <a:xfrm>
            <a:off x="6903720" y="5303520"/>
            <a:ext cx="4526280" cy="502920"/>
          </a:xfrm>
          <a:prstGeom prst="roundRect">
            <a:avLst>
              <a:gd name="adj" fmla="val 18182"/>
            </a:avLst>
          </a:prstGeom>
          <a:solidFill>
            <a:schemeClr val="accent1">
              <a:alpha val="20000"/>
            </a:schemeClr>
          </a:solidFill>
          <a:ln w="15875">
            <a:solidFill>
              <a:schemeClr val="accent1"/>
            </a:solidFill>
            <a:prstDash val="solid"/>
          </a:ln>
        </p:spPr>
        <p:txBody>
          <a:bodyPr/>
          <a:lstStyle/>
          <a:p>
            <a:endParaRPr lang="en-IN"/>
          </a:p>
        </p:txBody>
      </p:sp>
      <p:sp>
        <p:nvSpPr>
          <p:cNvPr id="23" name="Text 18"/>
          <p:cNvSpPr txBox="1"/>
          <p:nvPr/>
        </p:nvSpPr>
        <p:spPr>
          <a:xfrm>
            <a:off x="6903720" y="5303520"/>
            <a:ext cx="4526280" cy="502920"/>
          </a:xfrm>
          <a:prstGeom prst="rect">
            <a:avLst/>
          </a:prstGeom>
          <a:noFill/>
          <a:ln/>
        </p:spPr>
        <p:txBody>
          <a:bodyPr wrap="square" lIns="0" tIns="0" rIns="0" bIns="0" rtlCol="0" anchor="ctr"/>
          <a:lstStyle/>
          <a:p>
            <a:pPr marL="0" indent="0" algn="ctr">
              <a:buNone/>
            </a:pPr>
            <a:r>
              <a:rPr lang="en-US" sz="1500" dirty="0">
                <a:solidFill>
                  <a:schemeClr val="bg1"/>
                </a:solidFill>
              </a:rPr>
              <a:t>After many tries  →  walks smoothly</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Real-Life Example: Learning to Ride a Bicycle</a:t>
            </a:r>
            <a:endParaRPr lang="en-US" sz="3800" dirty="0"/>
          </a:p>
        </p:txBody>
      </p:sp>
      <p:sp>
        <p:nvSpPr>
          <p:cNvPr id="5" name="Card"/>
          <p:cNvSpPr/>
          <p:nvPr/>
        </p:nvSpPr>
        <p:spPr>
          <a:xfrm>
            <a:off x="548640" y="2331720"/>
            <a:ext cx="2286000" cy="1554480"/>
          </a:xfrm>
          <a:prstGeom prst="roundRect">
            <a:avLst>
              <a:gd name="adj" fmla="val 7059"/>
            </a:avLst>
          </a:prstGeom>
          <a:solidFill>
            <a:schemeClr val="tx2"/>
          </a:solidFill>
          <a:ln/>
        </p:spPr>
        <p:txBody>
          <a:bodyPr/>
          <a:lstStyle/>
          <a:p>
            <a:endParaRPr lang="en-IN"/>
          </a:p>
        </p:txBody>
      </p:sp>
      <p:sp>
        <p:nvSpPr>
          <p:cNvPr id="6" name="Circle"/>
          <p:cNvSpPr/>
          <p:nvPr/>
        </p:nvSpPr>
        <p:spPr>
          <a:xfrm>
            <a:off x="1143000" y="2441448"/>
            <a:ext cx="731520" cy="731520"/>
          </a:xfrm>
          <a:prstGeom prst="ellipse">
            <a:avLst/>
          </a:prstGeom>
          <a:solidFill>
            <a:schemeClr val="accent1">
              <a:alpha val="18000"/>
            </a:schemeClr>
          </a:solidFill>
          <a:ln/>
        </p:spPr>
        <p:txBody>
          <a:bodyPr/>
          <a:lstStyle/>
          <a:p>
            <a:endParaRPr lang="en-IN"/>
          </a:p>
        </p:txBody>
      </p:sp>
      <p:pic>
        <p:nvPicPr>
          <p:cNvPr id="7" name="Icon FaBicycle" descr="preencoded.png"/>
          <p:cNvPicPr>
            <a:picLocks noChangeAspect="1"/>
          </p:cNvPicPr>
          <p:nvPr/>
        </p:nvPicPr>
        <p:blipFill>
          <a:blip r:embed="rId3"/>
          <a:stretch>
            <a:fillRect/>
          </a:stretch>
        </p:blipFill>
        <p:spPr>
          <a:xfrm>
            <a:off x="1325880" y="2624328"/>
            <a:ext cx="365760" cy="365760"/>
          </a:xfrm>
          <a:prstGeom prst="rect">
            <a:avLst/>
          </a:prstGeom>
        </p:spPr>
      </p:pic>
      <p:sp>
        <p:nvSpPr>
          <p:cNvPr id="8" name="Text 4"/>
          <p:cNvSpPr txBox="1"/>
          <p:nvPr/>
        </p:nvSpPr>
        <p:spPr>
          <a:xfrm>
            <a:off x="640080" y="320040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Child tries to ride</a:t>
            </a:r>
            <a:endParaRPr lang="en-US" sz="1600" dirty="0"/>
          </a:p>
        </p:txBody>
      </p:sp>
      <p:sp>
        <p:nvSpPr>
          <p:cNvPr id="9" name="Card"/>
          <p:cNvSpPr/>
          <p:nvPr/>
        </p:nvSpPr>
        <p:spPr>
          <a:xfrm>
            <a:off x="3291840" y="2331720"/>
            <a:ext cx="2377440" cy="1554480"/>
          </a:xfrm>
          <a:prstGeom prst="roundRect">
            <a:avLst>
              <a:gd name="adj" fmla="val 7059"/>
            </a:avLst>
          </a:prstGeom>
          <a:solidFill>
            <a:schemeClr val="tx2"/>
          </a:solidFill>
          <a:ln/>
        </p:spPr>
        <p:txBody>
          <a:bodyPr/>
          <a:lstStyle/>
          <a:p>
            <a:endParaRPr lang="en-IN"/>
          </a:p>
        </p:txBody>
      </p:sp>
      <p:sp>
        <p:nvSpPr>
          <p:cNvPr id="10" name="Circle"/>
          <p:cNvSpPr/>
          <p:nvPr/>
        </p:nvSpPr>
        <p:spPr>
          <a:xfrm>
            <a:off x="3931920" y="2441448"/>
            <a:ext cx="731520" cy="731520"/>
          </a:xfrm>
          <a:prstGeom prst="ellipse">
            <a:avLst/>
          </a:prstGeom>
          <a:solidFill>
            <a:schemeClr val="accent2">
              <a:alpha val="18000"/>
            </a:schemeClr>
          </a:solidFill>
          <a:ln/>
        </p:spPr>
        <p:txBody>
          <a:bodyPr/>
          <a:lstStyle/>
          <a:p>
            <a:endParaRPr lang="en-IN"/>
          </a:p>
        </p:txBody>
      </p:sp>
      <p:pic>
        <p:nvPicPr>
          <p:cNvPr id="11" name="Icon FaBolt" descr="preencoded.png"/>
          <p:cNvPicPr>
            <a:picLocks noChangeAspect="1"/>
          </p:cNvPicPr>
          <p:nvPr/>
        </p:nvPicPr>
        <p:blipFill>
          <a:blip r:embed="rId4"/>
          <a:stretch>
            <a:fillRect/>
          </a:stretch>
        </p:blipFill>
        <p:spPr>
          <a:xfrm>
            <a:off x="4114800" y="2624328"/>
            <a:ext cx="365760" cy="365760"/>
          </a:xfrm>
          <a:prstGeom prst="rect">
            <a:avLst/>
          </a:prstGeom>
        </p:spPr>
      </p:pic>
      <p:sp>
        <p:nvSpPr>
          <p:cNvPr id="12" name="Text 7"/>
          <p:cNvSpPr txBox="1"/>
          <p:nvPr/>
        </p:nvSpPr>
        <p:spPr>
          <a:xfrm>
            <a:off x="3383280" y="3200400"/>
            <a:ext cx="2194560" cy="640080"/>
          </a:xfrm>
          <a:prstGeom prst="rect">
            <a:avLst/>
          </a:prstGeom>
          <a:noFill/>
          <a:ln/>
        </p:spPr>
        <p:txBody>
          <a:bodyPr wrap="square" lIns="0" tIns="0" rIns="0" bIns="0" rtlCol="0" anchor="ctr"/>
          <a:lstStyle/>
          <a:p>
            <a:pPr marL="0" indent="0" algn="ctr">
              <a:buNone/>
            </a:pPr>
            <a:r>
              <a:rPr lang="en-US" sz="1500" b="1" dirty="0">
                <a:solidFill>
                  <a:schemeClr val="bg1"/>
                </a:solidFill>
              </a:rPr>
              <a:t>Takes an action: pedal, steer, balance</a:t>
            </a:r>
            <a:endParaRPr lang="en-US" sz="1500" dirty="0"/>
          </a:p>
        </p:txBody>
      </p:sp>
      <p:sp>
        <p:nvSpPr>
          <p:cNvPr id="13" name="Arrow"/>
          <p:cNvSpPr/>
          <p:nvPr/>
        </p:nvSpPr>
        <p:spPr>
          <a:xfrm>
            <a:off x="2880360" y="3108960"/>
            <a:ext cx="365760" cy="0"/>
          </a:xfrm>
          <a:prstGeom prst="line">
            <a:avLst/>
          </a:prstGeom>
          <a:noFill/>
          <a:ln w="28575">
            <a:solidFill>
              <a:schemeClr val="bg2"/>
            </a:solidFill>
            <a:prstDash val="solid"/>
            <a:tailEnd type="triangle"/>
          </a:ln>
        </p:spPr>
        <p:txBody>
          <a:bodyPr/>
          <a:lstStyle/>
          <a:p>
            <a:endParaRPr lang="en-IN"/>
          </a:p>
        </p:txBody>
      </p:sp>
      <p:sp>
        <p:nvSpPr>
          <p:cNvPr id="14" name="Card"/>
          <p:cNvSpPr/>
          <p:nvPr/>
        </p:nvSpPr>
        <p:spPr>
          <a:xfrm>
            <a:off x="6309360" y="1554480"/>
            <a:ext cx="2834640" cy="1188720"/>
          </a:xfrm>
          <a:prstGeom prst="roundRect">
            <a:avLst>
              <a:gd name="adj" fmla="val 9231"/>
            </a:avLst>
          </a:prstGeom>
          <a:solidFill>
            <a:schemeClr val="accent3">
              <a:alpha val="15000"/>
            </a:schemeClr>
          </a:solidFill>
          <a:ln w="15875">
            <a:solidFill>
              <a:schemeClr val="accent3"/>
            </a:solidFill>
            <a:prstDash val="solid"/>
          </a:ln>
        </p:spPr>
        <p:txBody>
          <a:bodyPr/>
          <a:lstStyle/>
          <a:p>
            <a:endParaRPr lang="en-IN"/>
          </a:p>
        </p:txBody>
      </p:sp>
      <p:pic>
        <p:nvPicPr>
          <p:cNvPr id="15" name="Icon FaSmile" descr="preencoded.png"/>
          <p:cNvPicPr>
            <a:picLocks noChangeAspect="1"/>
          </p:cNvPicPr>
          <p:nvPr/>
        </p:nvPicPr>
        <p:blipFill>
          <a:blip r:embed="rId5"/>
          <a:stretch>
            <a:fillRect/>
          </a:stretch>
        </p:blipFill>
        <p:spPr>
          <a:xfrm>
            <a:off x="6446520" y="1874520"/>
            <a:ext cx="548640" cy="548640"/>
          </a:xfrm>
          <a:prstGeom prst="rect">
            <a:avLst/>
          </a:prstGeom>
        </p:spPr>
      </p:pic>
      <p:sp>
        <p:nvSpPr>
          <p:cNvPr id="16" name="Text 10"/>
          <p:cNvSpPr txBox="1"/>
          <p:nvPr/>
        </p:nvSpPr>
        <p:spPr>
          <a:xfrm>
            <a:off x="7132320" y="1645920"/>
            <a:ext cx="1920240" cy="1005840"/>
          </a:xfrm>
          <a:prstGeom prst="rect">
            <a:avLst/>
          </a:prstGeom>
          <a:noFill/>
          <a:ln/>
        </p:spPr>
        <p:txBody>
          <a:bodyPr wrap="square" lIns="0" tIns="0" rIns="0" bIns="0" rtlCol="0" anchor="ctr"/>
          <a:lstStyle/>
          <a:p>
            <a:pPr marL="0" indent="0">
              <a:buNone/>
            </a:pPr>
            <a:r>
              <a:rPr lang="en-US" sz="1600" b="1" dirty="0">
                <a:solidFill>
                  <a:schemeClr val="accent3"/>
                </a:solidFill>
              </a:rPr>
              <a:t>Stays balanced</a:t>
            </a:r>
            <a:endParaRPr lang="en-US" sz="1600" dirty="0"/>
          </a:p>
          <a:p>
            <a:pPr marL="0" indent="0">
              <a:buNone/>
            </a:pPr>
            <a:r>
              <a:rPr lang="en-US" sz="1600" dirty="0">
                <a:solidFill>
                  <a:schemeClr val="bg1"/>
                </a:solidFill>
              </a:rPr>
              <a:t>Positive feedback</a:t>
            </a:r>
            <a:endParaRPr lang="en-US" sz="1600" dirty="0"/>
          </a:p>
        </p:txBody>
      </p:sp>
      <p:sp>
        <p:nvSpPr>
          <p:cNvPr id="17" name="Card"/>
          <p:cNvSpPr/>
          <p:nvPr/>
        </p:nvSpPr>
        <p:spPr>
          <a:xfrm>
            <a:off x="6309360" y="3200400"/>
            <a:ext cx="2834640" cy="1188720"/>
          </a:xfrm>
          <a:prstGeom prst="roundRect">
            <a:avLst>
              <a:gd name="adj" fmla="val 9231"/>
            </a:avLst>
          </a:prstGeom>
          <a:solidFill>
            <a:schemeClr val="accent5">
              <a:alpha val="15000"/>
            </a:schemeClr>
          </a:solidFill>
          <a:ln w="15875">
            <a:solidFill>
              <a:schemeClr val="accent5"/>
            </a:solidFill>
            <a:prstDash val="solid"/>
          </a:ln>
        </p:spPr>
        <p:txBody>
          <a:bodyPr/>
          <a:lstStyle/>
          <a:p>
            <a:endParaRPr lang="en-IN"/>
          </a:p>
        </p:txBody>
      </p:sp>
      <p:pic>
        <p:nvPicPr>
          <p:cNvPr id="18" name="Icon FaFrown" descr="preencoded.png"/>
          <p:cNvPicPr>
            <a:picLocks noChangeAspect="1"/>
          </p:cNvPicPr>
          <p:nvPr/>
        </p:nvPicPr>
        <p:blipFill>
          <a:blip r:embed="rId6"/>
          <a:stretch>
            <a:fillRect/>
          </a:stretch>
        </p:blipFill>
        <p:spPr>
          <a:xfrm>
            <a:off x="6446520" y="3520440"/>
            <a:ext cx="548640" cy="548640"/>
          </a:xfrm>
          <a:prstGeom prst="rect">
            <a:avLst/>
          </a:prstGeom>
        </p:spPr>
      </p:pic>
      <p:sp>
        <p:nvSpPr>
          <p:cNvPr id="19" name="Text 12"/>
          <p:cNvSpPr txBox="1"/>
          <p:nvPr/>
        </p:nvSpPr>
        <p:spPr>
          <a:xfrm>
            <a:off x="7132320" y="3291840"/>
            <a:ext cx="1920240" cy="1005840"/>
          </a:xfrm>
          <a:prstGeom prst="rect">
            <a:avLst/>
          </a:prstGeom>
          <a:noFill/>
          <a:ln/>
        </p:spPr>
        <p:txBody>
          <a:bodyPr wrap="square" lIns="0" tIns="0" rIns="0" bIns="0" rtlCol="0" anchor="ctr"/>
          <a:lstStyle/>
          <a:p>
            <a:pPr marL="0" indent="0">
              <a:buNone/>
            </a:pPr>
            <a:r>
              <a:rPr lang="en-US" sz="1600" b="1" dirty="0">
                <a:solidFill>
                  <a:schemeClr val="accent5"/>
                </a:solidFill>
              </a:rPr>
              <a:t>Falls down</a:t>
            </a:r>
            <a:endParaRPr lang="en-US" sz="1600" dirty="0"/>
          </a:p>
          <a:p>
            <a:pPr marL="0" indent="0">
              <a:buNone/>
            </a:pPr>
            <a:r>
              <a:rPr lang="en-US" sz="1600" dirty="0">
                <a:solidFill>
                  <a:schemeClr val="bg1"/>
                </a:solidFill>
              </a:rPr>
              <a:t>Negative feedback</a:t>
            </a:r>
            <a:endParaRPr lang="en-US" sz="1600" dirty="0"/>
          </a:p>
        </p:txBody>
      </p:sp>
      <p:sp>
        <p:nvSpPr>
          <p:cNvPr id="20" name="Arrow"/>
          <p:cNvSpPr/>
          <p:nvPr/>
        </p:nvSpPr>
        <p:spPr>
          <a:xfrm flipV="1">
            <a:off x="5715000" y="2148840"/>
            <a:ext cx="548640" cy="685800"/>
          </a:xfrm>
          <a:prstGeom prst="line">
            <a:avLst/>
          </a:prstGeom>
          <a:noFill/>
          <a:ln w="28575">
            <a:solidFill>
              <a:schemeClr val="bg2"/>
            </a:solidFill>
            <a:prstDash val="solid"/>
            <a:tailEnd type="triangle"/>
          </a:ln>
        </p:spPr>
        <p:txBody>
          <a:bodyPr/>
          <a:lstStyle/>
          <a:p>
            <a:endParaRPr lang="en-IN"/>
          </a:p>
        </p:txBody>
      </p:sp>
      <p:sp>
        <p:nvSpPr>
          <p:cNvPr id="21" name="Arrow"/>
          <p:cNvSpPr/>
          <p:nvPr/>
        </p:nvSpPr>
        <p:spPr>
          <a:xfrm>
            <a:off x="5715000" y="3383280"/>
            <a:ext cx="548640" cy="411480"/>
          </a:xfrm>
          <a:prstGeom prst="line">
            <a:avLst/>
          </a:prstGeom>
          <a:noFill/>
          <a:ln w="28575">
            <a:solidFill>
              <a:schemeClr val="bg2"/>
            </a:solidFill>
            <a:prstDash val="solid"/>
            <a:tailEnd type="triangle"/>
          </a:ln>
        </p:spPr>
        <p:txBody>
          <a:bodyPr/>
          <a:lstStyle/>
          <a:p>
            <a:endParaRPr lang="en-IN"/>
          </a:p>
        </p:txBody>
      </p:sp>
      <p:sp>
        <p:nvSpPr>
          <p:cNvPr id="22" name="Card"/>
          <p:cNvSpPr/>
          <p:nvPr/>
        </p:nvSpPr>
        <p:spPr>
          <a:xfrm>
            <a:off x="9692640" y="2331720"/>
            <a:ext cx="1947672" cy="1554480"/>
          </a:xfrm>
          <a:prstGeom prst="roundRect">
            <a:avLst>
              <a:gd name="adj" fmla="val 7059"/>
            </a:avLst>
          </a:prstGeom>
          <a:solidFill>
            <a:schemeClr val="tx2"/>
          </a:solidFill>
          <a:ln/>
        </p:spPr>
        <p:txBody>
          <a:bodyPr/>
          <a:lstStyle/>
          <a:p>
            <a:endParaRPr lang="en-IN"/>
          </a:p>
        </p:txBody>
      </p:sp>
      <p:sp>
        <p:nvSpPr>
          <p:cNvPr id="23" name="Circle"/>
          <p:cNvSpPr/>
          <p:nvPr/>
        </p:nvSpPr>
        <p:spPr>
          <a:xfrm>
            <a:off x="10213848" y="2441448"/>
            <a:ext cx="731520" cy="731520"/>
          </a:xfrm>
          <a:prstGeom prst="ellipse">
            <a:avLst/>
          </a:prstGeom>
          <a:solidFill>
            <a:schemeClr val="accent4">
              <a:alpha val="18000"/>
            </a:schemeClr>
          </a:solidFill>
          <a:ln/>
        </p:spPr>
        <p:txBody>
          <a:bodyPr/>
          <a:lstStyle/>
          <a:p>
            <a:endParaRPr lang="en-IN"/>
          </a:p>
        </p:txBody>
      </p:sp>
      <p:pic>
        <p:nvPicPr>
          <p:cNvPr id="24" name="Icon FaSyncAlt" descr="preencoded.png"/>
          <p:cNvPicPr>
            <a:picLocks noChangeAspect="1"/>
          </p:cNvPicPr>
          <p:nvPr/>
        </p:nvPicPr>
        <p:blipFill>
          <a:blip r:embed="rId7"/>
          <a:stretch>
            <a:fillRect/>
          </a:stretch>
        </p:blipFill>
        <p:spPr>
          <a:xfrm>
            <a:off x="10396728" y="2624328"/>
            <a:ext cx="365760" cy="365760"/>
          </a:xfrm>
          <a:prstGeom prst="rect">
            <a:avLst/>
          </a:prstGeom>
        </p:spPr>
      </p:pic>
      <p:sp>
        <p:nvSpPr>
          <p:cNvPr id="25" name="Text 17"/>
          <p:cNvSpPr txBox="1"/>
          <p:nvPr/>
        </p:nvSpPr>
        <p:spPr>
          <a:xfrm>
            <a:off x="9738360" y="3200400"/>
            <a:ext cx="1856232" cy="640080"/>
          </a:xfrm>
          <a:prstGeom prst="rect">
            <a:avLst/>
          </a:prstGeom>
          <a:noFill/>
          <a:ln/>
        </p:spPr>
        <p:txBody>
          <a:bodyPr wrap="square" lIns="0" tIns="0" rIns="0" bIns="0" rtlCol="0" anchor="ctr"/>
          <a:lstStyle/>
          <a:p>
            <a:pPr marL="0" indent="0" algn="ctr">
              <a:buNone/>
            </a:pPr>
            <a:r>
              <a:rPr lang="en-US" sz="1500" b="1" dirty="0">
                <a:solidFill>
                  <a:schemeClr val="bg1"/>
                </a:solidFill>
              </a:rPr>
              <a:t>Tries again and improves</a:t>
            </a:r>
            <a:endParaRPr lang="en-US" sz="1500" dirty="0"/>
          </a:p>
        </p:txBody>
      </p:sp>
      <p:sp>
        <p:nvSpPr>
          <p:cNvPr id="26" name="Arrow"/>
          <p:cNvSpPr/>
          <p:nvPr/>
        </p:nvSpPr>
        <p:spPr>
          <a:xfrm>
            <a:off x="9189720" y="2148840"/>
            <a:ext cx="457200" cy="640080"/>
          </a:xfrm>
          <a:prstGeom prst="line">
            <a:avLst/>
          </a:prstGeom>
          <a:noFill/>
          <a:ln w="28575">
            <a:solidFill>
              <a:schemeClr val="bg2"/>
            </a:solidFill>
            <a:prstDash val="solid"/>
            <a:tailEnd type="triangle"/>
          </a:ln>
        </p:spPr>
        <p:txBody>
          <a:bodyPr/>
          <a:lstStyle/>
          <a:p>
            <a:endParaRPr lang="en-IN"/>
          </a:p>
        </p:txBody>
      </p:sp>
      <p:sp>
        <p:nvSpPr>
          <p:cNvPr id="27" name="Arrow"/>
          <p:cNvSpPr/>
          <p:nvPr/>
        </p:nvSpPr>
        <p:spPr>
          <a:xfrm flipV="1">
            <a:off x="9189720" y="3429000"/>
            <a:ext cx="457200" cy="365760"/>
          </a:xfrm>
          <a:prstGeom prst="line">
            <a:avLst/>
          </a:prstGeom>
          <a:noFill/>
          <a:ln w="28575">
            <a:solidFill>
              <a:schemeClr val="bg2"/>
            </a:solidFill>
            <a:prstDash val="solid"/>
            <a:tailEnd type="triangle"/>
          </a:ln>
        </p:spPr>
        <p:txBody>
          <a:bodyPr/>
          <a:lstStyle/>
          <a:p>
            <a:endParaRPr lang="en-IN"/>
          </a:p>
        </p:txBody>
      </p:sp>
      <p:sp>
        <p:nvSpPr>
          <p:cNvPr id="28" name="Text 20"/>
          <p:cNvSpPr txBox="1"/>
          <p:nvPr/>
        </p:nvSpPr>
        <p:spPr>
          <a:xfrm>
            <a:off x="548640" y="4572000"/>
            <a:ext cx="7315200" cy="365760"/>
          </a:xfrm>
          <a:prstGeom prst="rect">
            <a:avLst/>
          </a:prstGeom>
          <a:noFill/>
          <a:ln/>
        </p:spPr>
        <p:txBody>
          <a:bodyPr wrap="square" lIns="0" tIns="0" rIns="0" bIns="0" rtlCol="0" anchor="ctr"/>
          <a:lstStyle/>
          <a:p>
            <a:pPr marL="0" indent="0">
              <a:buNone/>
            </a:pPr>
            <a:r>
              <a:rPr lang="en-US" sz="1800" b="1" dirty="0">
                <a:solidFill>
                  <a:schemeClr val="accent1"/>
                </a:solidFill>
              </a:rPr>
              <a:t>Connect it to Reinforcement Learning</a:t>
            </a:r>
            <a:endParaRPr lang="en-US" sz="1800" dirty="0"/>
          </a:p>
        </p:txBody>
      </p:sp>
      <p:sp>
        <p:nvSpPr>
          <p:cNvPr id="29" name="Card"/>
          <p:cNvSpPr/>
          <p:nvPr/>
        </p:nvSpPr>
        <p:spPr>
          <a:xfrm>
            <a:off x="548640" y="5029200"/>
            <a:ext cx="2606040" cy="1097280"/>
          </a:xfrm>
          <a:prstGeom prst="roundRect">
            <a:avLst>
              <a:gd name="adj" fmla="val 10000"/>
            </a:avLst>
          </a:prstGeom>
          <a:solidFill>
            <a:schemeClr val="tx2"/>
          </a:solidFill>
          <a:ln/>
        </p:spPr>
        <p:txBody>
          <a:bodyPr/>
          <a:lstStyle/>
          <a:p>
            <a:endParaRPr lang="en-IN"/>
          </a:p>
        </p:txBody>
      </p:sp>
      <p:sp>
        <p:nvSpPr>
          <p:cNvPr id="30" name="Text 22"/>
          <p:cNvSpPr txBox="1"/>
          <p:nvPr/>
        </p:nvSpPr>
        <p:spPr>
          <a:xfrm>
            <a:off x="731520" y="5102352"/>
            <a:ext cx="2286000" cy="411480"/>
          </a:xfrm>
          <a:prstGeom prst="rect">
            <a:avLst/>
          </a:prstGeom>
          <a:noFill/>
          <a:ln/>
        </p:spPr>
        <p:txBody>
          <a:bodyPr wrap="square" lIns="0" tIns="0" rIns="0" bIns="0" rtlCol="0" anchor="ctr"/>
          <a:lstStyle/>
          <a:p>
            <a:pPr marL="0" indent="0">
              <a:buNone/>
            </a:pPr>
            <a:r>
              <a:rPr lang="en-US" sz="1800" b="1" dirty="0">
                <a:solidFill>
                  <a:schemeClr val="bg1"/>
                </a:solidFill>
              </a:rPr>
              <a:t>Child</a:t>
            </a:r>
            <a:endParaRPr lang="en-US" sz="1800" dirty="0"/>
          </a:p>
        </p:txBody>
      </p:sp>
      <p:sp>
        <p:nvSpPr>
          <p:cNvPr id="31" name="Text 23"/>
          <p:cNvSpPr txBox="1"/>
          <p:nvPr/>
        </p:nvSpPr>
        <p:spPr>
          <a:xfrm>
            <a:off x="731520" y="5532120"/>
            <a:ext cx="2286000" cy="411480"/>
          </a:xfrm>
          <a:prstGeom prst="rect">
            <a:avLst/>
          </a:prstGeom>
          <a:noFill/>
          <a:ln/>
        </p:spPr>
        <p:txBody>
          <a:bodyPr wrap="square" lIns="0" tIns="0" rIns="0" bIns="0" rtlCol="0" anchor="ctr"/>
          <a:lstStyle/>
          <a:p>
            <a:pPr marL="0" indent="0">
              <a:buNone/>
            </a:pPr>
            <a:r>
              <a:rPr lang="en-US" sz="1600" dirty="0">
                <a:solidFill>
                  <a:schemeClr val="bg1"/>
                </a:solidFill>
              </a:rPr>
              <a:t>= </a:t>
            </a:r>
            <a:r>
              <a:rPr lang="en-US" sz="1600" b="1" dirty="0">
                <a:solidFill>
                  <a:schemeClr val="accent1"/>
                </a:solidFill>
              </a:rPr>
              <a:t>Agent</a:t>
            </a:r>
            <a:endParaRPr lang="en-US" sz="1600" dirty="0"/>
          </a:p>
        </p:txBody>
      </p:sp>
      <p:sp>
        <p:nvSpPr>
          <p:cNvPr id="32" name="Card"/>
          <p:cNvSpPr/>
          <p:nvPr/>
        </p:nvSpPr>
        <p:spPr>
          <a:xfrm>
            <a:off x="3383280" y="5029200"/>
            <a:ext cx="2606040" cy="1097280"/>
          </a:xfrm>
          <a:prstGeom prst="roundRect">
            <a:avLst>
              <a:gd name="adj" fmla="val 10000"/>
            </a:avLst>
          </a:prstGeom>
          <a:solidFill>
            <a:schemeClr val="tx2"/>
          </a:solidFill>
          <a:ln/>
        </p:spPr>
        <p:txBody>
          <a:bodyPr/>
          <a:lstStyle/>
          <a:p>
            <a:endParaRPr lang="en-IN"/>
          </a:p>
        </p:txBody>
      </p:sp>
      <p:sp>
        <p:nvSpPr>
          <p:cNvPr id="33" name="Text 25"/>
          <p:cNvSpPr txBox="1"/>
          <p:nvPr/>
        </p:nvSpPr>
        <p:spPr>
          <a:xfrm>
            <a:off x="3566160" y="5102352"/>
            <a:ext cx="2286000" cy="411480"/>
          </a:xfrm>
          <a:prstGeom prst="rect">
            <a:avLst/>
          </a:prstGeom>
          <a:noFill/>
          <a:ln/>
        </p:spPr>
        <p:txBody>
          <a:bodyPr wrap="square" lIns="0" tIns="0" rIns="0" bIns="0" rtlCol="0" anchor="ctr"/>
          <a:lstStyle/>
          <a:p>
            <a:pPr marL="0" indent="0">
              <a:buNone/>
            </a:pPr>
            <a:r>
              <a:rPr lang="en-US" sz="1800" b="1" dirty="0">
                <a:solidFill>
                  <a:schemeClr val="bg1"/>
                </a:solidFill>
              </a:rPr>
              <a:t>Bike + road</a:t>
            </a:r>
            <a:endParaRPr lang="en-US" sz="1800" dirty="0"/>
          </a:p>
        </p:txBody>
      </p:sp>
      <p:sp>
        <p:nvSpPr>
          <p:cNvPr id="34" name="Text 26"/>
          <p:cNvSpPr txBox="1"/>
          <p:nvPr/>
        </p:nvSpPr>
        <p:spPr>
          <a:xfrm>
            <a:off x="3566160" y="5532120"/>
            <a:ext cx="2286000" cy="411480"/>
          </a:xfrm>
          <a:prstGeom prst="rect">
            <a:avLst/>
          </a:prstGeom>
          <a:noFill/>
          <a:ln/>
        </p:spPr>
        <p:txBody>
          <a:bodyPr wrap="square" lIns="0" tIns="0" rIns="0" bIns="0" rtlCol="0" anchor="ctr"/>
          <a:lstStyle/>
          <a:p>
            <a:pPr marL="0" indent="0">
              <a:buNone/>
            </a:pPr>
            <a:r>
              <a:rPr lang="en-US" sz="1600" dirty="0">
                <a:solidFill>
                  <a:schemeClr val="bg1"/>
                </a:solidFill>
              </a:rPr>
              <a:t>= </a:t>
            </a:r>
            <a:r>
              <a:rPr lang="en-US" sz="1600" b="1" dirty="0">
                <a:solidFill>
                  <a:schemeClr val="accent1"/>
                </a:solidFill>
              </a:rPr>
              <a:t>Environment</a:t>
            </a:r>
            <a:endParaRPr lang="en-US" sz="1600" dirty="0"/>
          </a:p>
        </p:txBody>
      </p:sp>
      <p:sp>
        <p:nvSpPr>
          <p:cNvPr id="35" name="Card"/>
          <p:cNvSpPr/>
          <p:nvPr/>
        </p:nvSpPr>
        <p:spPr>
          <a:xfrm>
            <a:off x="6217920" y="5029200"/>
            <a:ext cx="2606040" cy="1097280"/>
          </a:xfrm>
          <a:prstGeom prst="roundRect">
            <a:avLst>
              <a:gd name="adj" fmla="val 10000"/>
            </a:avLst>
          </a:prstGeom>
          <a:solidFill>
            <a:schemeClr val="tx2"/>
          </a:solidFill>
          <a:ln/>
        </p:spPr>
        <p:txBody>
          <a:bodyPr/>
          <a:lstStyle/>
          <a:p>
            <a:endParaRPr lang="en-IN"/>
          </a:p>
        </p:txBody>
      </p:sp>
      <p:sp>
        <p:nvSpPr>
          <p:cNvPr id="36" name="Text 28"/>
          <p:cNvSpPr txBox="1"/>
          <p:nvPr/>
        </p:nvSpPr>
        <p:spPr>
          <a:xfrm>
            <a:off x="6400800" y="5102352"/>
            <a:ext cx="2286000" cy="411480"/>
          </a:xfrm>
          <a:prstGeom prst="rect">
            <a:avLst/>
          </a:prstGeom>
          <a:noFill/>
          <a:ln/>
        </p:spPr>
        <p:txBody>
          <a:bodyPr wrap="square" lIns="0" tIns="0" rIns="0" bIns="0" rtlCol="0" anchor="ctr"/>
          <a:lstStyle/>
          <a:p>
            <a:pPr marL="0" indent="0">
              <a:buNone/>
            </a:pPr>
            <a:r>
              <a:rPr lang="en-US" sz="1800" b="1" dirty="0">
                <a:solidFill>
                  <a:schemeClr val="bg1"/>
                </a:solidFill>
              </a:rPr>
              <a:t>Pedal / steer</a:t>
            </a:r>
            <a:endParaRPr lang="en-US" sz="1800" dirty="0"/>
          </a:p>
        </p:txBody>
      </p:sp>
      <p:sp>
        <p:nvSpPr>
          <p:cNvPr id="37" name="Text 29"/>
          <p:cNvSpPr txBox="1"/>
          <p:nvPr/>
        </p:nvSpPr>
        <p:spPr>
          <a:xfrm>
            <a:off x="6400800" y="5532120"/>
            <a:ext cx="2286000" cy="411480"/>
          </a:xfrm>
          <a:prstGeom prst="rect">
            <a:avLst/>
          </a:prstGeom>
          <a:noFill/>
          <a:ln/>
        </p:spPr>
        <p:txBody>
          <a:bodyPr wrap="square" lIns="0" tIns="0" rIns="0" bIns="0" rtlCol="0" anchor="ctr"/>
          <a:lstStyle/>
          <a:p>
            <a:pPr marL="0" indent="0">
              <a:buNone/>
            </a:pPr>
            <a:r>
              <a:rPr lang="en-US" sz="1600" dirty="0">
                <a:solidFill>
                  <a:schemeClr val="bg1"/>
                </a:solidFill>
              </a:rPr>
              <a:t>= </a:t>
            </a:r>
            <a:r>
              <a:rPr lang="en-US" sz="1600" b="1" dirty="0">
                <a:solidFill>
                  <a:schemeClr val="accent1"/>
                </a:solidFill>
              </a:rPr>
              <a:t>Action</a:t>
            </a:r>
            <a:endParaRPr lang="en-US" sz="1600" dirty="0"/>
          </a:p>
        </p:txBody>
      </p:sp>
      <p:sp>
        <p:nvSpPr>
          <p:cNvPr id="38" name="Card"/>
          <p:cNvSpPr/>
          <p:nvPr/>
        </p:nvSpPr>
        <p:spPr>
          <a:xfrm>
            <a:off x="9052560" y="5029200"/>
            <a:ext cx="2606040" cy="1097280"/>
          </a:xfrm>
          <a:prstGeom prst="roundRect">
            <a:avLst>
              <a:gd name="adj" fmla="val 10000"/>
            </a:avLst>
          </a:prstGeom>
          <a:solidFill>
            <a:schemeClr val="tx2"/>
          </a:solidFill>
          <a:ln/>
        </p:spPr>
        <p:txBody>
          <a:bodyPr/>
          <a:lstStyle/>
          <a:p>
            <a:endParaRPr lang="en-IN"/>
          </a:p>
        </p:txBody>
      </p:sp>
      <p:sp>
        <p:nvSpPr>
          <p:cNvPr id="39" name="Text 31"/>
          <p:cNvSpPr txBox="1"/>
          <p:nvPr/>
        </p:nvSpPr>
        <p:spPr>
          <a:xfrm>
            <a:off x="9235440" y="5102352"/>
            <a:ext cx="2286000" cy="411480"/>
          </a:xfrm>
          <a:prstGeom prst="rect">
            <a:avLst/>
          </a:prstGeom>
          <a:noFill/>
          <a:ln/>
        </p:spPr>
        <p:txBody>
          <a:bodyPr wrap="square" lIns="0" tIns="0" rIns="0" bIns="0" rtlCol="0" anchor="ctr"/>
          <a:lstStyle/>
          <a:p>
            <a:pPr marL="0" indent="0">
              <a:buNone/>
            </a:pPr>
            <a:r>
              <a:rPr lang="en-US" sz="1800" b="1" dirty="0">
                <a:solidFill>
                  <a:schemeClr val="bg1"/>
                </a:solidFill>
              </a:rPr>
              <a:t>Stay up / fall</a:t>
            </a:r>
            <a:endParaRPr lang="en-US" sz="1800" dirty="0"/>
          </a:p>
        </p:txBody>
      </p:sp>
      <p:sp>
        <p:nvSpPr>
          <p:cNvPr id="40" name="Text 32"/>
          <p:cNvSpPr txBox="1"/>
          <p:nvPr/>
        </p:nvSpPr>
        <p:spPr>
          <a:xfrm>
            <a:off x="9235440" y="5532120"/>
            <a:ext cx="2286000" cy="411480"/>
          </a:xfrm>
          <a:prstGeom prst="rect">
            <a:avLst/>
          </a:prstGeom>
          <a:noFill/>
          <a:ln/>
        </p:spPr>
        <p:txBody>
          <a:bodyPr wrap="square" lIns="0" tIns="0" rIns="0" bIns="0" rtlCol="0" anchor="ctr"/>
          <a:lstStyle/>
          <a:p>
            <a:pPr marL="0" indent="0">
              <a:buNone/>
            </a:pPr>
            <a:r>
              <a:rPr lang="en-US" sz="1600" dirty="0">
                <a:solidFill>
                  <a:schemeClr val="bg1"/>
                </a:solidFill>
              </a:rPr>
              <a:t>= </a:t>
            </a:r>
            <a:r>
              <a:rPr lang="en-US" sz="1600" b="1" dirty="0">
                <a:solidFill>
                  <a:schemeClr val="accent1"/>
                </a:solidFill>
              </a:rPr>
              <a:t>Reward / Penalty</a:t>
            </a:r>
            <a:endParaRPr lang="en-US" sz="16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Important Terms in Reinforcement Learning</a:t>
            </a:r>
            <a:endParaRPr lang="en-US" sz="3800" dirty="0"/>
          </a:p>
        </p:txBody>
      </p:sp>
      <p:sp>
        <p:nvSpPr>
          <p:cNvPr id="5" name="Card"/>
          <p:cNvSpPr/>
          <p:nvPr/>
        </p:nvSpPr>
        <p:spPr>
          <a:xfrm>
            <a:off x="548640" y="1417320"/>
            <a:ext cx="2035454" cy="3200400"/>
          </a:xfrm>
          <a:prstGeom prst="roundRect">
            <a:avLst>
              <a:gd name="adj" fmla="val 5391"/>
            </a:avLst>
          </a:prstGeom>
          <a:solidFill>
            <a:schemeClr val="tx2"/>
          </a:solidFill>
          <a:ln/>
        </p:spPr>
        <p:txBody>
          <a:bodyPr/>
          <a:lstStyle/>
          <a:p>
            <a:endParaRPr lang="en-IN"/>
          </a:p>
        </p:txBody>
      </p:sp>
      <p:sp>
        <p:nvSpPr>
          <p:cNvPr id="6" name="Circle"/>
          <p:cNvSpPr/>
          <p:nvPr/>
        </p:nvSpPr>
        <p:spPr>
          <a:xfrm>
            <a:off x="731520" y="1618488"/>
            <a:ext cx="777240" cy="777240"/>
          </a:xfrm>
          <a:prstGeom prst="ellipse">
            <a:avLst/>
          </a:prstGeom>
          <a:solidFill>
            <a:schemeClr val="accent1">
              <a:alpha val="18000"/>
            </a:schemeClr>
          </a:solidFill>
          <a:ln/>
        </p:spPr>
        <p:txBody>
          <a:bodyPr/>
          <a:lstStyle/>
          <a:p>
            <a:endParaRPr lang="en-IN"/>
          </a:p>
        </p:txBody>
      </p:sp>
      <p:pic>
        <p:nvPicPr>
          <p:cNvPr id="7" name="Icon FaRobot" descr="preencoded.png"/>
          <p:cNvPicPr>
            <a:picLocks noChangeAspect="1"/>
          </p:cNvPicPr>
          <p:nvPr/>
        </p:nvPicPr>
        <p:blipFill>
          <a:blip r:embed="rId3"/>
          <a:stretch>
            <a:fillRect/>
          </a:stretch>
        </p:blipFill>
        <p:spPr>
          <a:xfrm>
            <a:off x="925830" y="1812798"/>
            <a:ext cx="388620" cy="388620"/>
          </a:xfrm>
          <a:prstGeom prst="rect">
            <a:avLst/>
          </a:prstGeom>
        </p:spPr>
      </p:pic>
      <p:sp>
        <p:nvSpPr>
          <p:cNvPr id="8" name="Text 4"/>
          <p:cNvSpPr txBox="1"/>
          <p:nvPr/>
        </p:nvSpPr>
        <p:spPr>
          <a:xfrm>
            <a:off x="731520" y="2514600"/>
            <a:ext cx="1761134" cy="411480"/>
          </a:xfrm>
          <a:prstGeom prst="rect">
            <a:avLst/>
          </a:prstGeom>
          <a:noFill/>
          <a:ln/>
        </p:spPr>
        <p:txBody>
          <a:bodyPr wrap="square" lIns="0" tIns="0" rIns="0" bIns="0" rtlCol="0" anchor="ctr"/>
          <a:lstStyle/>
          <a:p>
            <a:pPr marL="0" indent="0">
              <a:buNone/>
            </a:pPr>
            <a:r>
              <a:rPr lang="en-US" sz="2100" b="1" dirty="0">
                <a:solidFill>
                  <a:schemeClr val="accent1"/>
                </a:solidFill>
              </a:rPr>
              <a:t>Agent</a:t>
            </a:r>
            <a:endParaRPr lang="en-US" sz="2100" dirty="0"/>
          </a:p>
        </p:txBody>
      </p:sp>
      <p:sp>
        <p:nvSpPr>
          <p:cNvPr id="9" name="Text 5"/>
          <p:cNvSpPr txBox="1"/>
          <p:nvPr/>
        </p:nvSpPr>
        <p:spPr>
          <a:xfrm>
            <a:off x="731520" y="2971800"/>
            <a:ext cx="1715414" cy="685800"/>
          </a:xfrm>
          <a:prstGeom prst="rect">
            <a:avLst/>
          </a:prstGeom>
          <a:noFill/>
          <a:ln/>
        </p:spPr>
        <p:txBody>
          <a:bodyPr wrap="square" lIns="0" tIns="0" rIns="0" bIns="0" rtlCol="0" anchor="t"/>
          <a:lstStyle/>
          <a:p>
            <a:pPr marL="0" indent="0">
              <a:buNone/>
            </a:pPr>
            <a:r>
              <a:rPr lang="en-US" sz="1400" dirty="0">
                <a:solidFill>
                  <a:schemeClr val="bg1"/>
                </a:solidFill>
              </a:rPr>
              <a:t>The learner that makes decisions</a:t>
            </a:r>
            <a:endParaRPr lang="en-US" sz="1400" dirty="0"/>
          </a:p>
        </p:txBody>
      </p:sp>
      <p:sp>
        <p:nvSpPr>
          <p:cNvPr id="10" name="Text 6"/>
          <p:cNvSpPr txBox="1"/>
          <p:nvPr/>
        </p:nvSpPr>
        <p:spPr>
          <a:xfrm>
            <a:off x="731520" y="3749040"/>
            <a:ext cx="1715414" cy="731520"/>
          </a:xfrm>
          <a:prstGeom prst="rect">
            <a:avLst/>
          </a:prstGeom>
          <a:noFill/>
          <a:ln/>
        </p:spPr>
        <p:txBody>
          <a:bodyPr wrap="square" lIns="0" tIns="0" rIns="0" bIns="0" rtlCol="0" anchor="t"/>
          <a:lstStyle/>
          <a:p>
            <a:pPr marL="0" indent="0">
              <a:buNone/>
            </a:pPr>
            <a:r>
              <a:rPr lang="en-US" sz="1400" i="1" dirty="0">
                <a:solidFill>
                  <a:schemeClr val="bg2"/>
                </a:solidFill>
              </a:rPr>
              <a:t>Robot: the cleaning robot</a:t>
            </a:r>
            <a:endParaRPr lang="en-US" sz="1400" dirty="0"/>
          </a:p>
        </p:txBody>
      </p:sp>
      <p:sp>
        <p:nvSpPr>
          <p:cNvPr id="11" name="Card"/>
          <p:cNvSpPr/>
          <p:nvPr/>
        </p:nvSpPr>
        <p:spPr>
          <a:xfrm>
            <a:off x="2812694" y="1417320"/>
            <a:ext cx="2035454" cy="3200400"/>
          </a:xfrm>
          <a:prstGeom prst="roundRect">
            <a:avLst>
              <a:gd name="adj" fmla="val 5391"/>
            </a:avLst>
          </a:prstGeom>
          <a:solidFill>
            <a:schemeClr val="tx2"/>
          </a:solidFill>
          <a:ln/>
        </p:spPr>
        <p:txBody>
          <a:bodyPr/>
          <a:lstStyle/>
          <a:p>
            <a:endParaRPr lang="en-IN"/>
          </a:p>
        </p:txBody>
      </p:sp>
      <p:sp>
        <p:nvSpPr>
          <p:cNvPr id="12" name="Circle"/>
          <p:cNvSpPr/>
          <p:nvPr/>
        </p:nvSpPr>
        <p:spPr>
          <a:xfrm>
            <a:off x="2995574" y="1618488"/>
            <a:ext cx="777240" cy="777240"/>
          </a:xfrm>
          <a:prstGeom prst="ellipse">
            <a:avLst/>
          </a:prstGeom>
          <a:solidFill>
            <a:schemeClr val="accent2">
              <a:alpha val="18000"/>
            </a:schemeClr>
          </a:solidFill>
          <a:ln/>
        </p:spPr>
        <p:txBody>
          <a:bodyPr/>
          <a:lstStyle/>
          <a:p>
            <a:endParaRPr lang="en-IN"/>
          </a:p>
        </p:txBody>
      </p:sp>
      <p:pic>
        <p:nvPicPr>
          <p:cNvPr id="13" name="Icon FaGlobe" descr="preencoded.png"/>
          <p:cNvPicPr>
            <a:picLocks noChangeAspect="1"/>
          </p:cNvPicPr>
          <p:nvPr/>
        </p:nvPicPr>
        <p:blipFill>
          <a:blip r:embed="rId4"/>
          <a:stretch>
            <a:fillRect/>
          </a:stretch>
        </p:blipFill>
        <p:spPr>
          <a:xfrm>
            <a:off x="3189884" y="1812798"/>
            <a:ext cx="388620" cy="388620"/>
          </a:xfrm>
          <a:prstGeom prst="rect">
            <a:avLst/>
          </a:prstGeom>
        </p:spPr>
      </p:pic>
      <p:sp>
        <p:nvSpPr>
          <p:cNvPr id="14" name="Text 9"/>
          <p:cNvSpPr txBox="1"/>
          <p:nvPr/>
        </p:nvSpPr>
        <p:spPr>
          <a:xfrm>
            <a:off x="2995574" y="2514600"/>
            <a:ext cx="1761134" cy="411480"/>
          </a:xfrm>
          <a:prstGeom prst="rect">
            <a:avLst/>
          </a:prstGeom>
          <a:noFill/>
          <a:ln/>
        </p:spPr>
        <p:txBody>
          <a:bodyPr wrap="square" lIns="0" tIns="0" rIns="0" bIns="0" rtlCol="0" anchor="ctr"/>
          <a:lstStyle/>
          <a:p>
            <a:pPr marL="0" indent="0">
              <a:buNone/>
            </a:pPr>
            <a:r>
              <a:rPr lang="en-US" sz="2100" b="1" dirty="0">
                <a:solidFill>
                  <a:schemeClr val="accent2"/>
                </a:solidFill>
              </a:rPr>
              <a:t>Environment</a:t>
            </a:r>
            <a:endParaRPr lang="en-US" sz="2100" dirty="0"/>
          </a:p>
        </p:txBody>
      </p:sp>
      <p:sp>
        <p:nvSpPr>
          <p:cNvPr id="15" name="Text 10"/>
          <p:cNvSpPr txBox="1"/>
          <p:nvPr/>
        </p:nvSpPr>
        <p:spPr>
          <a:xfrm>
            <a:off x="2995574" y="2971800"/>
            <a:ext cx="1715414" cy="685800"/>
          </a:xfrm>
          <a:prstGeom prst="rect">
            <a:avLst/>
          </a:prstGeom>
          <a:noFill/>
          <a:ln/>
        </p:spPr>
        <p:txBody>
          <a:bodyPr wrap="square" lIns="0" tIns="0" rIns="0" bIns="0" rtlCol="0" anchor="t"/>
          <a:lstStyle/>
          <a:p>
            <a:pPr marL="0" indent="0">
              <a:buNone/>
            </a:pPr>
            <a:r>
              <a:rPr lang="en-US" sz="1400" dirty="0">
                <a:solidFill>
                  <a:schemeClr val="bg1"/>
                </a:solidFill>
              </a:rPr>
              <a:t>The world the agent lives in</a:t>
            </a:r>
            <a:endParaRPr lang="en-US" sz="1400" dirty="0"/>
          </a:p>
        </p:txBody>
      </p:sp>
      <p:sp>
        <p:nvSpPr>
          <p:cNvPr id="16" name="Text 11"/>
          <p:cNvSpPr txBox="1"/>
          <p:nvPr/>
        </p:nvSpPr>
        <p:spPr>
          <a:xfrm>
            <a:off x="2995574" y="3749040"/>
            <a:ext cx="1715414" cy="731520"/>
          </a:xfrm>
          <a:prstGeom prst="rect">
            <a:avLst/>
          </a:prstGeom>
          <a:noFill/>
          <a:ln/>
        </p:spPr>
        <p:txBody>
          <a:bodyPr wrap="square" lIns="0" tIns="0" rIns="0" bIns="0" rtlCol="0" anchor="t"/>
          <a:lstStyle/>
          <a:p>
            <a:pPr marL="0" indent="0">
              <a:buNone/>
            </a:pPr>
            <a:r>
              <a:rPr lang="en-US" sz="1400" i="1" dirty="0">
                <a:solidFill>
                  <a:schemeClr val="bg2"/>
                </a:solidFill>
              </a:rPr>
              <a:t>Robot: the room and furniture</a:t>
            </a:r>
            <a:endParaRPr lang="en-US" sz="1400" dirty="0"/>
          </a:p>
        </p:txBody>
      </p:sp>
      <p:sp>
        <p:nvSpPr>
          <p:cNvPr id="17" name="Card"/>
          <p:cNvSpPr/>
          <p:nvPr/>
        </p:nvSpPr>
        <p:spPr>
          <a:xfrm>
            <a:off x="5076749" y="1417320"/>
            <a:ext cx="2035454" cy="3200400"/>
          </a:xfrm>
          <a:prstGeom prst="roundRect">
            <a:avLst>
              <a:gd name="adj" fmla="val 5391"/>
            </a:avLst>
          </a:prstGeom>
          <a:solidFill>
            <a:schemeClr val="tx2"/>
          </a:solidFill>
          <a:ln/>
        </p:spPr>
        <p:txBody>
          <a:bodyPr/>
          <a:lstStyle/>
          <a:p>
            <a:endParaRPr lang="en-IN"/>
          </a:p>
        </p:txBody>
      </p:sp>
      <p:sp>
        <p:nvSpPr>
          <p:cNvPr id="18" name="Circle"/>
          <p:cNvSpPr/>
          <p:nvPr/>
        </p:nvSpPr>
        <p:spPr>
          <a:xfrm>
            <a:off x="5259629" y="1618488"/>
            <a:ext cx="777240" cy="777240"/>
          </a:xfrm>
          <a:prstGeom prst="ellipse">
            <a:avLst/>
          </a:prstGeom>
          <a:solidFill>
            <a:schemeClr val="accent6">
              <a:alpha val="18000"/>
            </a:schemeClr>
          </a:solidFill>
          <a:ln/>
        </p:spPr>
        <p:txBody>
          <a:bodyPr/>
          <a:lstStyle/>
          <a:p>
            <a:endParaRPr lang="en-IN"/>
          </a:p>
        </p:txBody>
      </p:sp>
      <p:pic>
        <p:nvPicPr>
          <p:cNvPr id="19" name="Icon FaMapMarkerAlt" descr="preencoded.png"/>
          <p:cNvPicPr>
            <a:picLocks noChangeAspect="1"/>
          </p:cNvPicPr>
          <p:nvPr/>
        </p:nvPicPr>
        <p:blipFill>
          <a:blip r:embed="rId5"/>
          <a:stretch>
            <a:fillRect/>
          </a:stretch>
        </p:blipFill>
        <p:spPr>
          <a:xfrm>
            <a:off x="5453939" y="1812798"/>
            <a:ext cx="388620" cy="388620"/>
          </a:xfrm>
          <a:prstGeom prst="rect">
            <a:avLst/>
          </a:prstGeom>
        </p:spPr>
      </p:pic>
      <p:sp>
        <p:nvSpPr>
          <p:cNvPr id="20" name="Text 14"/>
          <p:cNvSpPr txBox="1"/>
          <p:nvPr/>
        </p:nvSpPr>
        <p:spPr>
          <a:xfrm>
            <a:off x="5259629" y="2514600"/>
            <a:ext cx="1761134" cy="411480"/>
          </a:xfrm>
          <a:prstGeom prst="rect">
            <a:avLst/>
          </a:prstGeom>
          <a:noFill/>
          <a:ln/>
        </p:spPr>
        <p:txBody>
          <a:bodyPr wrap="square" lIns="0" tIns="0" rIns="0" bIns="0" rtlCol="0" anchor="ctr"/>
          <a:lstStyle/>
          <a:p>
            <a:pPr marL="0" indent="0">
              <a:buNone/>
            </a:pPr>
            <a:r>
              <a:rPr lang="en-US" sz="2100" b="1" dirty="0">
                <a:solidFill>
                  <a:schemeClr val="accent6"/>
                </a:solidFill>
              </a:rPr>
              <a:t>State</a:t>
            </a:r>
            <a:endParaRPr lang="en-US" sz="2100" dirty="0"/>
          </a:p>
        </p:txBody>
      </p:sp>
      <p:sp>
        <p:nvSpPr>
          <p:cNvPr id="21" name="Text 15"/>
          <p:cNvSpPr txBox="1"/>
          <p:nvPr/>
        </p:nvSpPr>
        <p:spPr>
          <a:xfrm>
            <a:off x="5259629" y="2971800"/>
            <a:ext cx="1715414" cy="685800"/>
          </a:xfrm>
          <a:prstGeom prst="rect">
            <a:avLst/>
          </a:prstGeom>
          <a:noFill/>
          <a:ln/>
        </p:spPr>
        <p:txBody>
          <a:bodyPr wrap="square" lIns="0" tIns="0" rIns="0" bIns="0" rtlCol="0" anchor="t"/>
          <a:lstStyle/>
          <a:p>
            <a:pPr marL="0" indent="0">
              <a:buNone/>
            </a:pPr>
            <a:r>
              <a:rPr lang="en-US" sz="1400" dirty="0">
                <a:solidFill>
                  <a:schemeClr val="bg1"/>
                </a:solidFill>
              </a:rPr>
              <a:t>The situation right now</a:t>
            </a:r>
            <a:endParaRPr lang="en-US" sz="1400" dirty="0"/>
          </a:p>
        </p:txBody>
      </p:sp>
      <p:sp>
        <p:nvSpPr>
          <p:cNvPr id="22" name="Text 16"/>
          <p:cNvSpPr txBox="1"/>
          <p:nvPr/>
        </p:nvSpPr>
        <p:spPr>
          <a:xfrm>
            <a:off x="5259629" y="3749040"/>
            <a:ext cx="1715414" cy="731520"/>
          </a:xfrm>
          <a:prstGeom prst="rect">
            <a:avLst/>
          </a:prstGeom>
          <a:noFill/>
          <a:ln/>
        </p:spPr>
        <p:txBody>
          <a:bodyPr wrap="square" lIns="0" tIns="0" rIns="0" bIns="0" rtlCol="0" anchor="t"/>
          <a:lstStyle/>
          <a:p>
            <a:pPr marL="0" indent="0">
              <a:buNone/>
            </a:pPr>
            <a:r>
              <a:rPr lang="en-US" sz="1400" i="1" dirty="0">
                <a:solidFill>
                  <a:schemeClr val="bg2"/>
                </a:solidFill>
              </a:rPr>
              <a:t>Robot: is near the door</a:t>
            </a:r>
            <a:endParaRPr lang="en-US" sz="1400" dirty="0"/>
          </a:p>
        </p:txBody>
      </p:sp>
      <p:sp>
        <p:nvSpPr>
          <p:cNvPr id="23" name="Card"/>
          <p:cNvSpPr/>
          <p:nvPr/>
        </p:nvSpPr>
        <p:spPr>
          <a:xfrm>
            <a:off x="7340803" y="1417320"/>
            <a:ext cx="2035454" cy="3200400"/>
          </a:xfrm>
          <a:prstGeom prst="roundRect">
            <a:avLst>
              <a:gd name="adj" fmla="val 5391"/>
            </a:avLst>
          </a:prstGeom>
          <a:solidFill>
            <a:schemeClr val="tx2"/>
          </a:solidFill>
          <a:ln/>
        </p:spPr>
        <p:txBody>
          <a:bodyPr/>
          <a:lstStyle/>
          <a:p>
            <a:endParaRPr lang="en-IN"/>
          </a:p>
        </p:txBody>
      </p:sp>
      <p:sp>
        <p:nvSpPr>
          <p:cNvPr id="24" name="Circle"/>
          <p:cNvSpPr/>
          <p:nvPr/>
        </p:nvSpPr>
        <p:spPr>
          <a:xfrm>
            <a:off x="7523683" y="1618488"/>
            <a:ext cx="777240" cy="777240"/>
          </a:xfrm>
          <a:prstGeom prst="ellipse">
            <a:avLst/>
          </a:prstGeom>
          <a:solidFill>
            <a:schemeClr val="accent3">
              <a:alpha val="18000"/>
            </a:schemeClr>
          </a:solidFill>
          <a:ln/>
        </p:spPr>
        <p:txBody>
          <a:bodyPr/>
          <a:lstStyle/>
          <a:p>
            <a:endParaRPr lang="en-IN"/>
          </a:p>
        </p:txBody>
      </p:sp>
      <p:pic>
        <p:nvPicPr>
          <p:cNvPr id="25" name="Icon FaBolt" descr="preencoded.png"/>
          <p:cNvPicPr>
            <a:picLocks noChangeAspect="1"/>
          </p:cNvPicPr>
          <p:nvPr/>
        </p:nvPicPr>
        <p:blipFill>
          <a:blip r:embed="rId6"/>
          <a:stretch>
            <a:fillRect/>
          </a:stretch>
        </p:blipFill>
        <p:spPr>
          <a:xfrm>
            <a:off x="7717993" y="1812798"/>
            <a:ext cx="388620" cy="388620"/>
          </a:xfrm>
          <a:prstGeom prst="rect">
            <a:avLst/>
          </a:prstGeom>
        </p:spPr>
      </p:pic>
      <p:sp>
        <p:nvSpPr>
          <p:cNvPr id="26" name="Text 19"/>
          <p:cNvSpPr txBox="1"/>
          <p:nvPr/>
        </p:nvSpPr>
        <p:spPr>
          <a:xfrm>
            <a:off x="7523683" y="2514600"/>
            <a:ext cx="1761134" cy="411480"/>
          </a:xfrm>
          <a:prstGeom prst="rect">
            <a:avLst/>
          </a:prstGeom>
          <a:noFill/>
          <a:ln/>
        </p:spPr>
        <p:txBody>
          <a:bodyPr wrap="square" lIns="0" tIns="0" rIns="0" bIns="0" rtlCol="0" anchor="ctr"/>
          <a:lstStyle/>
          <a:p>
            <a:pPr marL="0" indent="0">
              <a:buNone/>
            </a:pPr>
            <a:r>
              <a:rPr lang="en-US" sz="2100" b="1" dirty="0">
                <a:solidFill>
                  <a:schemeClr val="accent3"/>
                </a:solidFill>
              </a:rPr>
              <a:t>Action</a:t>
            </a:r>
            <a:endParaRPr lang="en-US" sz="2100" dirty="0"/>
          </a:p>
        </p:txBody>
      </p:sp>
      <p:sp>
        <p:nvSpPr>
          <p:cNvPr id="27" name="Text 20"/>
          <p:cNvSpPr txBox="1"/>
          <p:nvPr/>
        </p:nvSpPr>
        <p:spPr>
          <a:xfrm>
            <a:off x="7523683" y="2971800"/>
            <a:ext cx="1715414" cy="685800"/>
          </a:xfrm>
          <a:prstGeom prst="rect">
            <a:avLst/>
          </a:prstGeom>
          <a:noFill/>
          <a:ln/>
        </p:spPr>
        <p:txBody>
          <a:bodyPr wrap="square" lIns="0" tIns="0" rIns="0" bIns="0" rtlCol="0" anchor="t"/>
          <a:lstStyle/>
          <a:p>
            <a:pPr marL="0" indent="0">
              <a:buNone/>
            </a:pPr>
            <a:r>
              <a:rPr lang="en-US" sz="1400" dirty="0">
                <a:solidFill>
                  <a:schemeClr val="bg1"/>
                </a:solidFill>
              </a:rPr>
              <a:t>A move the agent can make</a:t>
            </a:r>
            <a:endParaRPr lang="en-US" sz="1400" dirty="0"/>
          </a:p>
        </p:txBody>
      </p:sp>
      <p:sp>
        <p:nvSpPr>
          <p:cNvPr id="28" name="Text 21"/>
          <p:cNvSpPr txBox="1"/>
          <p:nvPr/>
        </p:nvSpPr>
        <p:spPr>
          <a:xfrm>
            <a:off x="7523683" y="3749040"/>
            <a:ext cx="1715414" cy="731520"/>
          </a:xfrm>
          <a:prstGeom prst="rect">
            <a:avLst/>
          </a:prstGeom>
          <a:noFill/>
          <a:ln/>
        </p:spPr>
        <p:txBody>
          <a:bodyPr wrap="square" lIns="0" tIns="0" rIns="0" bIns="0" rtlCol="0" anchor="t"/>
          <a:lstStyle/>
          <a:p>
            <a:pPr marL="0" indent="0">
              <a:buNone/>
            </a:pPr>
            <a:r>
              <a:rPr lang="en-US" sz="1400" i="1" dirty="0">
                <a:solidFill>
                  <a:schemeClr val="bg2"/>
                </a:solidFill>
              </a:rPr>
              <a:t>Robot: moves forward</a:t>
            </a:r>
            <a:endParaRPr lang="en-US" sz="1400" dirty="0"/>
          </a:p>
        </p:txBody>
      </p:sp>
      <p:sp>
        <p:nvSpPr>
          <p:cNvPr id="29" name="Card"/>
          <p:cNvSpPr/>
          <p:nvPr/>
        </p:nvSpPr>
        <p:spPr>
          <a:xfrm>
            <a:off x="9604858" y="1417320"/>
            <a:ext cx="2035454" cy="3200400"/>
          </a:xfrm>
          <a:prstGeom prst="roundRect">
            <a:avLst>
              <a:gd name="adj" fmla="val 5391"/>
            </a:avLst>
          </a:prstGeom>
          <a:solidFill>
            <a:schemeClr val="tx2"/>
          </a:solidFill>
          <a:ln/>
        </p:spPr>
        <p:txBody>
          <a:bodyPr/>
          <a:lstStyle/>
          <a:p>
            <a:endParaRPr lang="en-IN"/>
          </a:p>
        </p:txBody>
      </p:sp>
      <p:sp>
        <p:nvSpPr>
          <p:cNvPr id="30" name="Circle"/>
          <p:cNvSpPr/>
          <p:nvPr/>
        </p:nvSpPr>
        <p:spPr>
          <a:xfrm>
            <a:off x="9787738" y="1618488"/>
            <a:ext cx="777240" cy="777240"/>
          </a:xfrm>
          <a:prstGeom prst="ellipse">
            <a:avLst/>
          </a:prstGeom>
          <a:solidFill>
            <a:schemeClr val="accent4">
              <a:alpha val="18000"/>
            </a:schemeClr>
          </a:solidFill>
          <a:ln/>
        </p:spPr>
        <p:txBody>
          <a:bodyPr/>
          <a:lstStyle/>
          <a:p>
            <a:endParaRPr lang="en-IN"/>
          </a:p>
        </p:txBody>
      </p:sp>
      <p:pic>
        <p:nvPicPr>
          <p:cNvPr id="31" name="Icon FaStar" descr="preencoded.png"/>
          <p:cNvPicPr>
            <a:picLocks noChangeAspect="1"/>
          </p:cNvPicPr>
          <p:nvPr/>
        </p:nvPicPr>
        <p:blipFill>
          <a:blip r:embed="rId7"/>
          <a:stretch>
            <a:fillRect/>
          </a:stretch>
        </p:blipFill>
        <p:spPr>
          <a:xfrm>
            <a:off x="9982048" y="1812798"/>
            <a:ext cx="388620" cy="388620"/>
          </a:xfrm>
          <a:prstGeom prst="rect">
            <a:avLst/>
          </a:prstGeom>
        </p:spPr>
      </p:pic>
      <p:sp>
        <p:nvSpPr>
          <p:cNvPr id="32" name="Text 24"/>
          <p:cNvSpPr txBox="1"/>
          <p:nvPr/>
        </p:nvSpPr>
        <p:spPr>
          <a:xfrm>
            <a:off x="9787738" y="2514600"/>
            <a:ext cx="1761134" cy="411480"/>
          </a:xfrm>
          <a:prstGeom prst="rect">
            <a:avLst/>
          </a:prstGeom>
          <a:noFill/>
          <a:ln/>
        </p:spPr>
        <p:txBody>
          <a:bodyPr wrap="square" lIns="0" tIns="0" rIns="0" bIns="0" rtlCol="0" anchor="ctr"/>
          <a:lstStyle/>
          <a:p>
            <a:pPr marL="0" indent="0">
              <a:buNone/>
            </a:pPr>
            <a:r>
              <a:rPr lang="en-US" sz="2100" b="1" dirty="0">
                <a:solidFill>
                  <a:schemeClr val="accent4"/>
                </a:solidFill>
              </a:rPr>
              <a:t>Reward</a:t>
            </a:r>
            <a:endParaRPr lang="en-US" sz="2100" dirty="0"/>
          </a:p>
        </p:txBody>
      </p:sp>
      <p:sp>
        <p:nvSpPr>
          <p:cNvPr id="33" name="Text 25"/>
          <p:cNvSpPr txBox="1"/>
          <p:nvPr/>
        </p:nvSpPr>
        <p:spPr>
          <a:xfrm>
            <a:off x="9787738" y="2971800"/>
            <a:ext cx="1715414" cy="685800"/>
          </a:xfrm>
          <a:prstGeom prst="rect">
            <a:avLst/>
          </a:prstGeom>
          <a:noFill/>
          <a:ln/>
        </p:spPr>
        <p:txBody>
          <a:bodyPr wrap="square" lIns="0" tIns="0" rIns="0" bIns="0" rtlCol="0" anchor="t"/>
          <a:lstStyle/>
          <a:p>
            <a:pPr marL="0" indent="0">
              <a:buNone/>
            </a:pPr>
            <a:r>
              <a:rPr lang="en-US" sz="1400" dirty="0">
                <a:solidFill>
                  <a:schemeClr val="bg1"/>
                </a:solidFill>
              </a:rPr>
              <a:t>Feedback for the action</a:t>
            </a:r>
            <a:endParaRPr lang="en-US" sz="1400" dirty="0"/>
          </a:p>
        </p:txBody>
      </p:sp>
      <p:sp>
        <p:nvSpPr>
          <p:cNvPr id="34" name="Text 26"/>
          <p:cNvSpPr txBox="1"/>
          <p:nvPr/>
        </p:nvSpPr>
        <p:spPr>
          <a:xfrm>
            <a:off x="9787738" y="3749040"/>
            <a:ext cx="1715414" cy="731520"/>
          </a:xfrm>
          <a:prstGeom prst="rect">
            <a:avLst/>
          </a:prstGeom>
          <a:noFill/>
          <a:ln/>
        </p:spPr>
        <p:txBody>
          <a:bodyPr wrap="square" lIns="0" tIns="0" rIns="0" bIns="0" rtlCol="0" anchor="t"/>
          <a:lstStyle/>
          <a:p>
            <a:pPr marL="0" indent="0">
              <a:buNone/>
            </a:pPr>
            <a:r>
              <a:rPr lang="en-US" sz="1400" i="1" dirty="0">
                <a:solidFill>
                  <a:schemeClr val="bg2"/>
                </a:solidFill>
              </a:rPr>
              <a:t>Robot: +10 for reaching the goal</a:t>
            </a:r>
            <a:endParaRPr lang="en-US" sz="1400" dirty="0"/>
          </a:p>
        </p:txBody>
      </p:sp>
      <p:sp>
        <p:nvSpPr>
          <p:cNvPr id="35" name="Text 27"/>
          <p:cNvSpPr txBox="1"/>
          <p:nvPr/>
        </p:nvSpPr>
        <p:spPr>
          <a:xfrm>
            <a:off x="548640" y="4846320"/>
            <a:ext cx="5486400" cy="365760"/>
          </a:xfrm>
          <a:prstGeom prst="rect">
            <a:avLst/>
          </a:prstGeom>
          <a:noFill/>
          <a:ln/>
        </p:spPr>
        <p:txBody>
          <a:bodyPr wrap="square" lIns="0" tIns="0" rIns="0" bIns="0" rtlCol="0" anchor="ctr"/>
          <a:lstStyle/>
          <a:p>
            <a:pPr marL="0" indent="0">
              <a:buNone/>
            </a:pPr>
            <a:r>
              <a:rPr lang="en-US" sz="1800" b="1" dirty="0">
                <a:solidFill>
                  <a:schemeClr val="bg2"/>
                </a:solidFill>
              </a:rPr>
              <a:t>How they connect</a:t>
            </a:r>
            <a:endParaRPr lang="en-US" sz="1800" dirty="0"/>
          </a:p>
        </p:txBody>
      </p:sp>
      <p:sp>
        <p:nvSpPr>
          <p:cNvPr id="36" name="Chip"/>
          <p:cNvSpPr/>
          <p:nvPr/>
        </p:nvSpPr>
        <p:spPr>
          <a:xfrm>
            <a:off x="548640" y="5303520"/>
            <a:ext cx="1737360" cy="685800"/>
          </a:xfrm>
          <a:prstGeom prst="roundRect">
            <a:avLst>
              <a:gd name="adj" fmla="val 13333"/>
            </a:avLst>
          </a:prstGeom>
          <a:solidFill>
            <a:schemeClr val="accent1">
              <a:alpha val="20000"/>
            </a:schemeClr>
          </a:solidFill>
          <a:ln w="15875">
            <a:solidFill>
              <a:schemeClr val="accent1"/>
            </a:solidFill>
            <a:prstDash val="solid"/>
          </a:ln>
        </p:spPr>
        <p:txBody>
          <a:bodyPr/>
          <a:lstStyle/>
          <a:p>
            <a:endParaRPr lang="en-IN"/>
          </a:p>
        </p:txBody>
      </p:sp>
      <p:sp>
        <p:nvSpPr>
          <p:cNvPr id="37" name="Text 29"/>
          <p:cNvSpPr txBox="1"/>
          <p:nvPr/>
        </p:nvSpPr>
        <p:spPr>
          <a:xfrm>
            <a:off x="548640" y="5303520"/>
            <a:ext cx="1737360" cy="685800"/>
          </a:xfrm>
          <a:prstGeom prst="rect">
            <a:avLst/>
          </a:prstGeom>
          <a:noFill/>
          <a:ln/>
        </p:spPr>
        <p:txBody>
          <a:bodyPr wrap="square" lIns="0" tIns="0" rIns="0" bIns="0" rtlCol="0" anchor="ctr"/>
          <a:lstStyle/>
          <a:p>
            <a:pPr marL="0" indent="0" algn="ctr">
              <a:buNone/>
            </a:pPr>
            <a:r>
              <a:rPr lang="en-US" sz="1900" b="1" dirty="0">
                <a:solidFill>
                  <a:schemeClr val="bg1"/>
                </a:solidFill>
              </a:rPr>
              <a:t>Agent</a:t>
            </a:r>
            <a:endParaRPr lang="en-US" sz="1900" dirty="0"/>
          </a:p>
        </p:txBody>
      </p:sp>
      <p:sp>
        <p:nvSpPr>
          <p:cNvPr id="38" name="Arrow"/>
          <p:cNvSpPr/>
          <p:nvPr/>
        </p:nvSpPr>
        <p:spPr>
          <a:xfrm>
            <a:off x="2350008" y="5646420"/>
            <a:ext cx="475488" cy="0"/>
          </a:xfrm>
          <a:prstGeom prst="line">
            <a:avLst/>
          </a:prstGeom>
          <a:noFill/>
          <a:ln w="28575">
            <a:solidFill>
              <a:schemeClr val="bg2"/>
            </a:solidFill>
            <a:prstDash val="solid"/>
            <a:tailEnd type="triangle"/>
          </a:ln>
        </p:spPr>
        <p:txBody>
          <a:bodyPr/>
          <a:lstStyle/>
          <a:p>
            <a:endParaRPr lang="en-IN"/>
          </a:p>
        </p:txBody>
      </p:sp>
      <p:sp>
        <p:nvSpPr>
          <p:cNvPr id="39" name="Chip"/>
          <p:cNvSpPr/>
          <p:nvPr/>
        </p:nvSpPr>
        <p:spPr>
          <a:xfrm>
            <a:off x="2889504" y="5303520"/>
            <a:ext cx="1737360" cy="685800"/>
          </a:xfrm>
          <a:prstGeom prst="roundRect">
            <a:avLst>
              <a:gd name="adj" fmla="val 13333"/>
            </a:avLst>
          </a:prstGeom>
          <a:solidFill>
            <a:schemeClr val="accent3">
              <a:alpha val="20000"/>
            </a:schemeClr>
          </a:solidFill>
          <a:ln w="15875">
            <a:solidFill>
              <a:schemeClr val="accent3"/>
            </a:solidFill>
            <a:prstDash val="solid"/>
          </a:ln>
        </p:spPr>
        <p:txBody>
          <a:bodyPr/>
          <a:lstStyle/>
          <a:p>
            <a:endParaRPr lang="en-IN"/>
          </a:p>
        </p:txBody>
      </p:sp>
      <p:sp>
        <p:nvSpPr>
          <p:cNvPr id="40" name="Text 32"/>
          <p:cNvSpPr txBox="1"/>
          <p:nvPr/>
        </p:nvSpPr>
        <p:spPr>
          <a:xfrm>
            <a:off x="2889504" y="5303520"/>
            <a:ext cx="1737360" cy="685800"/>
          </a:xfrm>
          <a:prstGeom prst="rect">
            <a:avLst/>
          </a:prstGeom>
          <a:noFill/>
          <a:ln/>
        </p:spPr>
        <p:txBody>
          <a:bodyPr wrap="square" lIns="0" tIns="0" rIns="0" bIns="0" rtlCol="0" anchor="ctr"/>
          <a:lstStyle/>
          <a:p>
            <a:pPr marL="0" indent="0" algn="ctr">
              <a:buNone/>
            </a:pPr>
            <a:r>
              <a:rPr lang="en-US" sz="1900" b="1" dirty="0">
                <a:solidFill>
                  <a:schemeClr val="bg1"/>
                </a:solidFill>
              </a:rPr>
              <a:t>Action</a:t>
            </a:r>
            <a:endParaRPr lang="en-US" sz="1900" dirty="0"/>
          </a:p>
        </p:txBody>
      </p:sp>
      <p:sp>
        <p:nvSpPr>
          <p:cNvPr id="41" name="Arrow"/>
          <p:cNvSpPr/>
          <p:nvPr/>
        </p:nvSpPr>
        <p:spPr>
          <a:xfrm>
            <a:off x="4690872" y="5646420"/>
            <a:ext cx="475488" cy="0"/>
          </a:xfrm>
          <a:prstGeom prst="line">
            <a:avLst/>
          </a:prstGeom>
          <a:noFill/>
          <a:ln w="28575">
            <a:solidFill>
              <a:schemeClr val="bg2"/>
            </a:solidFill>
            <a:prstDash val="solid"/>
            <a:tailEnd type="triangle"/>
          </a:ln>
        </p:spPr>
        <p:txBody>
          <a:bodyPr/>
          <a:lstStyle/>
          <a:p>
            <a:endParaRPr lang="en-IN"/>
          </a:p>
        </p:txBody>
      </p:sp>
      <p:sp>
        <p:nvSpPr>
          <p:cNvPr id="42" name="Chip"/>
          <p:cNvSpPr/>
          <p:nvPr/>
        </p:nvSpPr>
        <p:spPr>
          <a:xfrm>
            <a:off x="5230368" y="5303520"/>
            <a:ext cx="1737360" cy="685800"/>
          </a:xfrm>
          <a:prstGeom prst="roundRect">
            <a:avLst>
              <a:gd name="adj" fmla="val 13333"/>
            </a:avLst>
          </a:prstGeom>
          <a:solidFill>
            <a:schemeClr val="accent2">
              <a:alpha val="20000"/>
            </a:schemeClr>
          </a:solidFill>
          <a:ln w="15875">
            <a:solidFill>
              <a:schemeClr val="accent2"/>
            </a:solidFill>
            <a:prstDash val="solid"/>
          </a:ln>
        </p:spPr>
        <p:txBody>
          <a:bodyPr/>
          <a:lstStyle/>
          <a:p>
            <a:endParaRPr lang="en-IN"/>
          </a:p>
        </p:txBody>
      </p:sp>
      <p:sp>
        <p:nvSpPr>
          <p:cNvPr id="43" name="Text 35"/>
          <p:cNvSpPr txBox="1"/>
          <p:nvPr/>
        </p:nvSpPr>
        <p:spPr>
          <a:xfrm>
            <a:off x="5230368" y="5303520"/>
            <a:ext cx="1737360" cy="685800"/>
          </a:xfrm>
          <a:prstGeom prst="rect">
            <a:avLst/>
          </a:prstGeom>
          <a:noFill/>
          <a:ln/>
        </p:spPr>
        <p:txBody>
          <a:bodyPr wrap="square" lIns="0" tIns="0" rIns="0" bIns="0" rtlCol="0" anchor="ctr"/>
          <a:lstStyle/>
          <a:p>
            <a:pPr marL="0" indent="0" algn="ctr">
              <a:buNone/>
            </a:pPr>
            <a:r>
              <a:rPr lang="en-US" sz="1900" b="1" dirty="0">
                <a:solidFill>
                  <a:schemeClr val="bg1"/>
                </a:solidFill>
              </a:rPr>
              <a:t>Environment</a:t>
            </a:r>
            <a:endParaRPr lang="en-US" sz="1900" dirty="0"/>
          </a:p>
        </p:txBody>
      </p:sp>
      <p:sp>
        <p:nvSpPr>
          <p:cNvPr id="44" name="Arrow"/>
          <p:cNvSpPr/>
          <p:nvPr/>
        </p:nvSpPr>
        <p:spPr>
          <a:xfrm>
            <a:off x="7031736" y="5646420"/>
            <a:ext cx="475488" cy="0"/>
          </a:xfrm>
          <a:prstGeom prst="line">
            <a:avLst/>
          </a:prstGeom>
          <a:noFill/>
          <a:ln w="28575">
            <a:solidFill>
              <a:schemeClr val="bg2"/>
            </a:solidFill>
            <a:prstDash val="solid"/>
            <a:tailEnd type="triangle"/>
          </a:ln>
        </p:spPr>
        <p:txBody>
          <a:bodyPr/>
          <a:lstStyle/>
          <a:p>
            <a:endParaRPr lang="en-IN"/>
          </a:p>
        </p:txBody>
      </p:sp>
      <p:sp>
        <p:nvSpPr>
          <p:cNvPr id="45" name="Chip"/>
          <p:cNvSpPr/>
          <p:nvPr/>
        </p:nvSpPr>
        <p:spPr>
          <a:xfrm>
            <a:off x="7571232" y="5303520"/>
            <a:ext cx="1737360" cy="685800"/>
          </a:xfrm>
          <a:prstGeom prst="roundRect">
            <a:avLst>
              <a:gd name="adj" fmla="val 13333"/>
            </a:avLst>
          </a:prstGeom>
          <a:solidFill>
            <a:schemeClr val="accent4">
              <a:alpha val="20000"/>
            </a:schemeClr>
          </a:solidFill>
          <a:ln w="15875">
            <a:solidFill>
              <a:schemeClr val="accent4"/>
            </a:solidFill>
            <a:prstDash val="solid"/>
          </a:ln>
        </p:spPr>
        <p:txBody>
          <a:bodyPr/>
          <a:lstStyle/>
          <a:p>
            <a:endParaRPr lang="en-IN"/>
          </a:p>
        </p:txBody>
      </p:sp>
      <p:sp>
        <p:nvSpPr>
          <p:cNvPr id="46" name="Text 38"/>
          <p:cNvSpPr txBox="1"/>
          <p:nvPr/>
        </p:nvSpPr>
        <p:spPr>
          <a:xfrm>
            <a:off x="7571232" y="5303520"/>
            <a:ext cx="1737360" cy="685800"/>
          </a:xfrm>
          <a:prstGeom prst="rect">
            <a:avLst/>
          </a:prstGeom>
          <a:noFill/>
          <a:ln/>
        </p:spPr>
        <p:txBody>
          <a:bodyPr wrap="square" lIns="0" tIns="0" rIns="0" bIns="0" rtlCol="0" anchor="ctr"/>
          <a:lstStyle/>
          <a:p>
            <a:pPr marL="0" indent="0" algn="ctr">
              <a:buNone/>
            </a:pPr>
            <a:r>
              <a:rPr lang="en-US" sz="1900" b="1" dirty="0">
                <a:solidFill>
                  <a:schemeClr val="bg1"/>
                </a:solidFill>
              </a:rPr>
              <a:t>Reward</a:t>
            </a:r>
            <a:endParaRPr lang="en-US" sz="1900" dirty="0"/>
          </a:p>
        </p:txBody>
      </p:sp>
      <p:sp>
        <p:nvSpPr>
          <p:cNvPr id="47" name="Arrow"/>
          <p:cNvSpPr/>
          <p:nvPr/>
        </p:nvSpPr>
        <p:spPr>
          <a:xfrm>
            <a:off x="9372600" y="5646420"/>
            <a:ext cx="475488" cy="0"/>
          </a:xfrm>
          <a:prstGeom prst="line">
            <a:avLst/>
          </a:prstGeom>
          <a:noFill/>
          <a:ln w="28575">
            <a:solidFill>
              <a:schemeClr val="bg2"/>
            </a:solidFill>
            <a:prstDash val="solid"/>
            <a:tailEnd type="triangle"/>
          </a:ln>
        </p:spPr>
        <p:txBody>
          <a:bodyPr/>
          <a:lstStyle/>
          <a:p>
            <a:endParaRPr lang="en-IN"/>
          </a:p>
        </p:txBody>
      </p:sp>
      <p:sp>
        <p:nvSpPr>
          <p:cNvPr id="48" name="Chip"/>
          <p:cNvSpPr/>
          <p:nvPr/>
        </p:nvSpPr>
        <p:spPr>
          <a:xfrm>
            <a:off x="9912096" y="5303520"/>
            <a:ext cx="1737360" cy="685800"/>
          </a:xfrm>
          <a:prstGeom prst="roundRect">
            <a:avLst>
              <a:gd name="adj" fmla="val 13333"/>
            </a:avLst>
          </a:prstGeom>
          <a:solidFill>
            <a:schemeClr val="accent1">
              <a:alpha val="20000"/>
            </a:schemeClr>
          </a:solidFill>
          <a:ln w="15875">
            <a:solidFill>
              <a:schemeClr val="accent1"/>
            </a:solidFill>
            <a:prstDash val="solid"/>
          </a:ln>
        </p:spPr>
        <p:txBody>
          <a:bodyPr/>
          <a:lstStyle/>
          <a:p>
            <a:endParaRPr lang="en-IN"/>
          </a:p>
        </p:txBody>
      </p:sp>
      <p:sp>
        <p:nvSpPr>
          <p:cNvPr id="49" name="Text 41"/>
          <p:cNvSpPr txBox="1"/>
          <p:nvPr/>
        </p:nvSpPr>
        <p:spPr>
          <a:xfrm>
            <a:off x="9912096" y="5303520"/>
            <a:ext cx="1737360" cy="685800"/>
          </a:xfrm>
          <a:prstGeom prst="rect">
            <a:avLst/>
          </a:prstGeom>
          <a:noFill/>
          <a:ln/>
        </p:spPr>
        <p:txBody>
          <a:bodyPr wrap="square" lIns="0" tIns="0" rIns="0" bIns="0" rtlCol="0" anchor="ctr"/>
          <a:lstStyle/>
          <a:p>
            <a:pPr marL="0" indent="0" algn="ctr">
              <a:buNone/>
            </a:pPr>
            <a:r>
              <a:rPr lang="en-US" sz="1900" b="1" dirty="0">
                <a:solidFill>
                  <a:schemeClr val="bg1"/>
                </a:solidFill>
              </a:rPr>
              <a:t>Agent</a:t>
            </a:r>
            <a:endParaRPr lang="en-US" sz="19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How Reinforcement Learning Works</a:t>
            </a:r>
            <a:endParaRPr lang="en-US" sz="3800" dirty="0"/>
          </a:p>
        </p:txBody>
      </p:sp>
      <p:sp>
        <p:nvSpPr>
          <p:cNvPr id="5" name="Circle"/>
          <p:cNvSpPr/>
          <p:nvPr/>
        </p:nvSpPr>
        <p:spPr>
          <a:xfrm>
            <a:off x="548640" y="1554480"/>
            <a:ext cx="502920" cy="502920"/>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6" name="Text 3"/>
          <p:cNvSpPr txBox="1"/>
          <p:nvPr/>
        </p:nvSpPr>
        <p:spPr>
          <a:xfrm>
            <a:off x="548640" y="15544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280160" y="1554480"/>
            <a:ext cx="4754880" cy="502920"/>
          </a:xfrm>
          <a:prstGeom prst="rect">
            <a:avLst/>
          </a:prstGeom>
          <a:noFill/>
          <a:ln/>
        </p:spPr>
        <p:txBody>
          <a:bodyPr wrap="square" lIns="0" tIns="0" rIns="0" bIns="0" rtlCol="0" anchor="ctr"/>
          <a:lstStyle/>
          <a:p>
            <a:pPr marL="0" indent="0">
              <a:buNone/>
            </a:pPr>
            <a:r>
              <a:rPr lang="en-US" sz="1900" dirty="0">
                <a:solidFill>
                  <a:schemeClr val="bg1"/>
                </a:solidFill>
              </a:rPr>
              <a:t>Agent </a:t>
            </a:r>
            <a:r>
              <a:rPr lang="en-US" sz="1900" b="1" dirty="0">
                <a:solidFill>
                  <a:schemeClr val="accent1"/>
                </a:solidFill>
              </a:rPr>
              <a:t>observes</a:t>
            </a:r>
            <a:r>
              <a:rPr lang="en-US" sz="1900" dirty="0">
                <a:solidFill>
                  <a:schemeClr val="bg1"/>
                </a:solidFill>
              </a:rPr>
              <a:t> the environment</a:t>
            </a:r>
            <a:endParaRPr lang="en-US" sz="1900" dirty="0"/>
          </a:p>
        </p:txBody>
      </p:sp>
      <p:sp>
        <p:nvSpPr>
          <p:cNvPr id="8" name="Circle"/>
          <p:cNvSpPr/>
          <p:nvPr/>
        </p:nvSpPr>
        <p:spPr>
          <a:xfrm>
            <a:off x="548640" y="2313432"/>
            <a:ext cx="502920" cy="502920"/>
          </a:xfrm>
          <a:prstGeom prst="ellipse">
            <a:avLst/>
          </a:prstGeom>
          <a:solidFill>
            <a:schemeClr val="accent6">
              <a:alpha val="22000"/>
            </a:schemeClr>
          </a:solidFill>
          <a:ln w="19050">
            <a:solidFill>
              <a:schemeClr val="accent6"/>
            </a:solidFill>
            <a:prstDash val="solid"/>
          </a:ln>
        </p:spPr>
        <p:txBody>
          <a:bodyPr/>
          <a:lstStyle/>
          <a:p>
            <a:endParaRPr lang="en-IN"/>
          </a:p>
        </p:txBody>
      </p:sp>
      <p:sp>
        <p:nvSpPr>
          <p:cNvPr id="9" name="Text 6"/>
          <p:cNvSpPr txBox="1"/>
          <p:nvPr/>
        </p:nvSpPr>
        <p:spPr>
          <a:xfrm>
            <a:off x="548640" y="231343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7"/>
          <p:cNvSpPr txBox="1"/>
          <p:nvPr/>
        </p:nvSpPr>
        <p:spPr>
          <a:xfrm>
            <a:off x="1280160" y="2313432"/>
            <a:ext cx="4754880" cy="502920"/>
          </a:xfrm>
          <a:prstGeom prst="rect">
            <a:avLst/>
          </a:prstGeom>
          <a:noFill/>
          <a:ln/>
        </p:spPr>
        <p:txBody>
          <a:bodyPr wrap="square" lIns="0" tIns="0" rIns="0" bIns="0" rtlCol="0" anchor="ctr"/>
          <a:lstStyle/>
          <a:p>
            <a:pPr marL="0" indent="0">
              <a:buNone/>
            </a:pPr>
            <a:r>
              <a:rPr lang="en-US" sz="1900" dirty="0">
                <a:solidFill>
                  <a:schemeClr val="bg1"/>
                </a:solidFill>
              </a:rPr>
              <a:t>Agent identifies the current </a:t>
            </a:r>
            <a:r>
              <a:rPr lang="en-US" sz="1900" b="1" dirty="0">
                <a:solidFill>
                  <a:schemeClr val="accent1"/>
                </a:solidFill>
              </a:rPr>
              <a:t>state</a:t>
            </a:r>
            <a:endParaRPr lang="en-US" sz="1900" dirty="0"/>
          </a:p>
        </p:txBody>
      </p:sp>
      <p:sp>
        <p:nvSpPr>
          <p:cNvPr id="11" name="Circle"/>
          <p:cNvSpPr/>
          <p:nvPr/>
        </p:nvSpPr>
        <p:spPr>
          <a:xfrm>
            <a:off x="548640" y="3072384"/>
            <a:ext cx="502920" cy="502920"/>
          </a:xfrm>
          <a:prstGeom prst="ellipse">
            <a:avLst/>
          </a:prstGeom>
          <a:solidFill>
            <a:schemeClr val="accent3">
              <a:alpha val="22000"/>
            </a:schemeClr>
          </a:solidFill>
          <a:ln w="19050">
            <a:solidFill>
              <a:schemeClr val="accent3"/>
            </a:solidFill>
            <a:prstDash val="solid"/>
          </a:ln>
        </p:spPr>
        <p:txBody>
          <a:bodyPr/>
          <a:lstStyle/>
          <a:p>
            <a:endParaRPr lang="en-IN"/>
          </a:p>
        </p:txBody>
      </p:sp>
      <p:sp>
        <p:nvSpPr>
          <p:cNvPr id="12" name="Text 9"/>
          <p:cNvSpPr txBox="1"/>
          <p:nvPr/>
        </p:nvSpPr>
        <p:spPr>
          <a:xfrm>
            <a:off x="548640" y="307238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0"/>
          <p:cNvSpPr txBox="1"/>
          <p:nvPr/>
        </p:nvSpPr>
        <p:spPr>
          <a:xfrm>
            <a:off x="1280160" y="3072384"/>
            <a:ext cx="4754880" cy="502920"/>
          </a:xfrm>
          <a:prstGeom prst="rect">
            <a:avLst/>
          </a:prstGeom>
          <a:noFill/>
          <a:ln/>
        </p:spPr>
        <p:txBody>
          <a:bodyPr wrap="square" lIns="0" tIns="0" rIns="0" bIns="0" rtlCol="0" anchor="ctr"/>
          <a:lstStyle/>
          <a:p>
            <a:pPr marL="0" indent="0">
              <a:buNone/>
            </a:pPr>
            <a:r>
              <a:rPr lang="en-US" sz="1900" dirty="0">
                <a:solidFill>
                  <a:schemeClr val="bg1"/>
                </a:solidFill>
              </a:rPr>
              <a:t>Agent chooses an </a:t>
            </a:r>
            <a:r>
              <a:rPr lang="en-US" sz="1900" b="1" dirty="0">
                <a:solidFill>
                  <a:schemeClr val="accent1"/>
                </a:solidFill>
              </a:rPr>
              <a:t>action</a:t>
            </a:r>
            <a:endParaRPr lang="en-US" sz="1900" dirty="0"/>
          </a:p>
        </p:txBody>
      </p:sp>
      <p:sp>
        <p:nvSpPr>
          <p:cNvPr id="14" name="Circle"/>
          <p:cNvSpPr/>
          <p:nvPr/>
        </p:nvSpPr>
        <p:spPr>
          <a:xfrm>
            <a:off x="548640" y="3831336"/>
            <a:ext cx="502920" cy="502920"/>
          </a:xfrm>
          <a:prstGeom prst="ellipse">
            <a:avLst/>
          </a:prstGeom>
          <a:solidFill>
            <a:schemeClr val="accent2">
              <a:alpha val="22000"/>
            </a:schemeClr>
          </a:solidFill>
          <a:ln w="19050">
            <a:solidFill>
              <a:schemeClr val="accent2"/>
            </a:solidFill>
            <a:prstDash val="solid"/>
          </a:ln>
        </p:spPr>
        <p:txBody>
          <a:bodyPr/>
          <a:lstStyle/>
          <a:p>
            <a:endParaRPr lang="en-IN"/>
          </a:p>
        </p:txBody>
      </p:sp>
      <p:sp>
        <p:nvSpPr>
          <p:cNvPr id="15" name="Text 12"/>
          <p:cNvSpPr txBox="1"/>
          <p:nvPr/>
        </p:nvSpPr>
        <p:spPr>
          <a:xfrm>
            <a:off x="548640" y="383133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6" name="Text 13"/>
          <p:cNvSpPr txBox="1"/>
          <p:nvPr/>
        </p:nvSpPr>
        <p:spPr>
          <a:xfrm>
            <a:off x="1280160" y="3831336"/>
            <a:ext cx="4754880" cy="502920"/>
          </a:xfrm>
          <a:prstGeom prst="rect">
            <a:avLst/>
          </a:prstGeom>
          <a:noFill/>
          <a:ln/>
        </p:spPr>
        <p:txBody>
          <a:bodyPr wrap="square" lIns="0" tIns="0" rIns="0" bIns="0" rtlCol="0" anchor="ctr"/>
          <a:lstStyle/>
          <a:p>
            <a:pPr marL="0" indent="0">
              <a:buNone/>
            </a:pPr>
            <a:r>
              <a:rPr lang="en-US" sz="1900" b="1" dirty="0">
                <a:solidFill>
                  <a:schemeClr val="accent1"/>
                </a:solidFill>
              </a:rPr>
              <a:t>Environment</a:t>
            </a:r>
            <a:r>
              <a:rPr lang="en-US" sz="1900" dirty="0">
                <a:solidFill>
                  <a:schemeClr val="bg1"/>
                </a:solidFill>
              </a:rPr>
              <a:t> responds</a:t>
            </a:r>
            <a:endParaRPr lang="en-US" sz="1900" dirty="0"/>
          </a:p>
        </p:txBody>
      </p:sp>
      <p:sp>
        <p:nvSpPr>
          <p:cNvPr id="17" name="Circle"/>
          <p:cNvSpPr/>
          <p:nvPr/>
        </p:nvSpPr>
        <p:spPr>
          <a:xfrm>
            <a:off x="548640" y="4590288"/>
            <a:ext cx="502920" cy="502920"/>
          </a:xfrm>
          <a:prstGeom prst="ellipse">
            <a:avLst/>
          </a:prstGeom>
          <a:solidFill>
            <a:schemeClr val="accent4">
              <a:alpha val="22000"/>
            </a:schemeClr>
          </a:solidFill>
          <a:ln w="19050">
            <a:solidFill>
              <a:schemeClr val="accent4"/>
            </a:solidFill>
            <a:prstDash val="solid"/>
          </a:ln>
        </p:spPr>
        <p:txBody>
          <a:bodyPr/>
          <a:lstStyle/>
          <a:p>
            <a:endParaRPr lang="en-IN"/>
          </a:p>
        </p:txBody>
      </p:sp>
      <p:sp>
        <p:nvSpPr>
          <p:cNvPr id="18" name="Text 15"/>
          <p:cNvSpPr txBox="1"/>
          <p:nvPr/>
        </p:nvSpPr>
        <p:spPr>
          <a:xfrm>
            <a:off x="548640" y="459028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9" name="Text 16"/>
          <p:cNvSpPr txBox="1"/>
          <p:nvPr/>
        </p:nvSpPr>
        <p:spPr>
          <a:xfrm>
            <a:off x="1280160" y="4590288"/>
            <a:ext cx="4754880" cy="502920"/>
          </a:xfrm>
          <a:prstGeom prst="rect">
            <a:avLst/>
          </a:prstGeom>
          <a:noFill/>
          <a:ln/>
        </p:spPr>
        <p:txBody>
          <a:bodyPr wrap="square" lIns="0" tIns="0" rIns="0" bIns="0" rtlCol="0" anchor="ctr"/>
          <a:lstStyle/>
          <a:p>
            <a:pPr marL="0" indent="0">
              <a:buNone/>
            </a:pPr>
            <a:r>
              <a:rPr lang="en-US" sz="1900" dirty="0">
                <a:solidFill>
                  <a:schemeClr val="bg1"/>
                </a:solidFill>
              </a:rPr>
              <a:t>Agent gets a </a:t>
            </a:r>
            <a:r>
              <a:rPr lang="en-US" sz="1900" b="1" dirty="0">
                <a:solidFill>
                  <a:schemeClr val="accent1"/>
                </a:solidFill>
              </a:rPr>
              <a:t>reward</a:t>
            </a:r>
            <a:r>
              <a:rPr lang="en-US" sz="1900" dirty="0">
                <a:solidFill>
                  <a:schemeClr val="bg1"/>
                </a:solidFill>
              </a:rPr>
              <a:t> or penalty</a:t>
            </a:r>
            <a:endParaRPr lang="en-US" sz="1900" dirty="0"/>
          </a:p>
        </p:txBody>
      </p:sp>
      <p:sp>
        <p:nvSpPr>
          <p:cNvPr id="20" name="Circle"/>
          <p:cNvSpPr/>
          <p:nvPr/>
        </p:nvSpPr>
        <p:spPr>
          <a:xfrm>
            <a:off x="548640" y="5349240"/>
            <a:ext cx="502920" cy="502920"/>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21" name="Text 18"/>
          <p:cNvSpPr txBox="1"/>
          <p:nvPr/>
        </p:nvSpPr>
        <p:spPr>
          <a:xfrm>
            <a:off x="548640" y="53492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2" name="Text 19"/>
          <p:cNvSpPr txBox="1"/>
          <p:nvPr/>
        </p:nvSpPr>
        <p:spPr>
          <a:xfrm>
            <a:off x="1280160" y="5349240"/>
            <a:ext cx="4754880" cy="502920"/>
          </a:xfrm>
          <a:prstGeom prst="rect">
            <a:avLst/>
          </a:prstGeom>
          <a:noFill/>
          <a:ln/>
        </p:spPr>
        <p:txBody>
          <a:bodyPr wrap="square" lIns="0" tIns="0" rIns="0" bIns="0" rtlCol="0" anchor="ctr"/>
          <a:lstStyle/>
          <a:p>
            <a:pPr marL="0" indent="0">
              <a:buNone/>
            </a:pPr>
            <a:r>
              <a:rPr lang="en-US" sz="1900" dirty="0">
                <a:solidFill>
                  <a:schemeClr val="bg1"/>
                </a:solidFill>
              </a:rPr>
              <a:t>Agent </a:t>
            </a:r>
            <a:r>
              <a:rPr lang="en-US" sz="1900" b="1" dirty="0">
                <a:solidFill>
                  <a:schemeClr val="accent1"/>
                </a:solidFill>
              </a:rPr>
              <a:t>learns</a:t>
            </a:r>
            <a:r>
              <a:rPr lang="en-US" sz="1900" dirty="0">
                <a:solidFill>
                  <a:schemeClr val="bg1"/>
                </a:solidFill>
              </a:rPr>
              <a:t> from the result</a:t>
            </a:r>
            <a:endParaRPr lang="en-US" sz="1900" dirty="0"/>
          </a:p>
        </p:txBody>
      </p:sp>
      <p:sp>
        <p:nvSpPr>
          <p:cNvPr id="23" name="Arrow"/>
          <p:cNvSpPr/>
          <p:nvPr/>
        </p:nvSpPr>
        <p:spPr>
          <a:xfrm>
            <a:off x="9582131" y="2489454"/>
            <a:ext cx="341765" cy="187452"/>
          </a:xfrm>
          <a:prstGeom prst="line">
            <a:avLst/>
          </a:prstGeom>
          <a:noFill/>
          <a:ln w="31750">
            <a:solidFill>
              <a:schemeClr val="bg2"/>
            </a:solidFill>
            <a:prstDash val="solid"/>
            <a:tailEnd type="triangle"/>
          </a:ln>
        </p:spPr>
        <p:txBody>
          <a:bodyPr/>
          <a:lstStyle/>
          <a:p>
            <a:endParaRPr lang="en-IN"/>
          </a:p>
        </p:txBody>
      </p:sp>
      <p:sp>
        <p:nvSpPr>
          <p:cNvPr id="24" name="Arrow"/>
          <p:cNvSpPr/>
          <p:nvPr/>
        </p:nvSpPr>
        <p:spPr>
          <a:xfrm>
            <a:off x="10544907" y="3401568"/>
            <a:ext cx="0" cy="969264"/>
          </a:xfrm>
          <a:prstGeom prst="line">
            <a:avLst/>
          </a:prstGeom>
          <a:noFill/>
          <a:ln w="31750">
            <a:solidFill>
              <a:schemeClr val="bg2"/>
            </a:solidFill>
            <a:prstDash val="solid"/>
            <a:tailEnd type="triangle"/>
          </a:ln>
        </p:spPr>
        <p:txBody>
          <a:bodyPr/>
          <a:lstStyle/>
          <a:p>
            <a:endParaRPr lang="en-IN"/>
          </a:p>
        </p:txBody>
      </p:sp>
      <p:sp>
        <p:nvSpPr>
          <p:cNvPr id="25" name="Arrow"/>
          <p:cNvSpPr/>
          <p:nvPr/>
        </p:nvSpPr>
        <p:spPr>
          <a:xfrm flipH="1">
            <a:off x="9582131" y="5095494"/>
            <a:ext cx="341765" cy="187452"/>
          </a:xfrm>
          <a:prstGeom prst="line">
            <a:avLst/>
          </a:prstGeom>
          <a:noFill/>
          <a:ln w="31750">
            <a:solidFill>
              <a:schemeClr val="bg2"/>
            </a:solidFill>
            <a:prstDash val="solid"/>
            <a:tailEnd type="triangle"/>
          </a:ln>
        </p:spPr>
        <p:txBody>
          <a:bodyPr/>
          <a:lstStyle/>
          <a:p>
            <a:endParaRPr lang="en-IN"/>
          </a:p>
        </p:txBody>
      </p:sp>
      <p:sp>
        <p:nvSpPr>
          <p:cNvPr id="26" name="Arrow"/>
          <p:cNvSpPr/>
          <p:nvPr/>
        </p:nvSpPr>
        <p:spPr>
          <a:xfrm flipH="1" flipV="1">
            <a:off x="7998344" y="5095494"/>
            <a:ext cx="341765" cy="187452"/>
          </a:xfrm>
          <a:prstGeom prst="line">
            <a:avLst/>
          </a:prstGeom>
          <a:noFill/>
          <a:ln w="31750">
            <a:solidFill>
              <a:schemeClr val="bg2"/>
            </a:solidFill>
            <a:prstDash val="solid"/>
            <a:tailEnd type="triangle"/>
          </a:ln>
        </p:spPr>
        <p:txBody>
          <a:bodyPr/>
          <a:lstStyle/>
          <a:p>
            <a:endParaRPr lang="en-IN"/>
          </a:p>
        </p:txBody>
      </p:sp>
      <p:sp>
        <p:nvSpPr>
          <p:cNvPr id="27" name="Arrow"/>
          <p:cNvSpPr/>
          <p:nvPr/>
        </p:nvSpPr>
        <p:spPr>
          <a:xfrm flipV="1">
            <a:off x="7377333" y="3401568"/>
            <a:ext cx="0" cy="969264"/>
          </a:xfrm>
          <a:prstGeom prst="line">
            <a:avLst/>
          </a:prstGeom>
          <a:noFill/>
          <a:ln w="31750">
            <a:solidFill>
              <a:schemeClr val="bg2"/>
            </a:solidFill>
            <a:prstDash val="solid"/>
            <a:tailEnd type="triangle"/>
          </a:ln>
        </p:spPr>
        <p:txBody>
          <a:bodyPr/>
          <a:lstStyle/>
          <a:p>
            <a:endParaRPr lang="en-IN"/>
          </a:p>
        </p:txBody>
      </p:sp>
      <p:sp>
        <p:nvSpPr>
          <p:cNvPr id="28" name="Arrow"/>
          <p:cNvSpPr/>
          <p:nvPr/>
        </p:nvSpPr>
        <p:spPr>
          <a:xfrm flipV="1">
            <a:off x="7998344" y="2489454"/>
            <a:ext cx="341765" cy="187452"/>
          </a:xfrm>
          <a:prstGeom prst="line">
            <a:avLst/>
          </a:prstGeom>
          <a:noFill/>
          <a:ln w="31750">
            <a:solidFill>
              <a:schemeClr val="bg2"/>
            </a:solidFill>
            <a:prstDash val="solid"/>
            <a:tailEnd type="triangle"/>
          </a:ln>
        </p:spPr>
        <p:txBody>
          <a:bodyPr/>
          <a:lstStyle/>
          <a:p>
            <a:endParaRPr lang="en-IN"/>
          </a:p>
        </p:txBody>
      </p:sp>
      <p:pic>
        <p:nvPicPr>
          <p:cNvPr id="29" name="Icon FaSyncAlt" descr="preencoded.png"/>
          <p:cNvPicPr>
            <a:picLocks noChangeAspect="1"/>
          </p:cNvPicPr>
          <p:nvPr/>
        </p:nvPicPr>
        <p:blipFill>
          <a:blip r:embed="rId3"/>
          <a:stretch>
            <a:fillRect/>
          </a:stretch>
        </p:blipFill>
        <p:spPr>
          <a:xfrm>
            <a:off x="8641080" y="3383280"/>
            <a:ext cx="640080" cy="640080"/>
          </a:xfrm>
          <a:prstGeom prst="rect">
            <a:avLst/>
          </a:prstGeom>
        </p:spPr>
      </p:pic>
      <p:sp>
        <p:nvSpPr>
          <p:cNvPr id="30" name="Text 26"/>
          <p:cNvSpPr txBox="1"/>
          <p:nvPr/>
        </p:nvSpPr>
        <p:spPr>
          <a:xfrm>
            <a:off x="8229600" y="4069080"/>
            <a:ext cx="1463040" cy="365760"/>
          </a:xfrm>
          <a:prstGeom prst="rect">
            <a:avLst/>
          </a:prstGeom>
          <a:noFill/>
          <a:ln/>
        </p:spPr>
        <p:txBody>
          <a:bodyPr wrap="square" lIns="0" tIns="0" rIns="0" bIns="0" rtlCol="0" anchor="ctr"/>
          <a:lstStyle/>
          <a:p>
            <a:pPr marL="0" indent="0" algn="ctr">
              <a:buNone/>
            </a:pPr>
            <a:r>
              <a:rPr lang="en-US" sz="1800" b="1" dirty="0">
                <a:solidFill>
                  <a:schemeClr val="accent1"/>
                </a:solidFill>
              </a:rPr>
              <a:t>Repeat!</a:t>
            </a:r>
            <a:endParaRPr lang="en-US" sz="1800" dirty="0"/>
          </a:p>
        </p:txBody>
      </p:sp>
      <p:sp>
        <p:nvSpPr>
          <p:cNvPr id="31" name="Chip"/>
          <p:cNvSpPr/>
          <p:nvPr/>
        </p:nvSpPr>
        <p:spPr>
          <a:xfrm>
            <a:off x="8161020" y="1851660"/>
            <a:ext cx="1600200" cy="594360"/>
          </a:xfrm>
          <a:prstGeom prst="roundRect">
            <a:avLst>
              <a:gd name="adj" fmla="val 15385"/>
            </a:avLst>
          </a:prstGeom>
          <a:solidFill>
            <a:schemeClr val="accent1">
              <a:alpha val="20000"/>
            </a:schemeClr>
          </a:solidFill>
          <a:ln w="15875">
            <a:solidFill>
              <a:schemeClr val="accent1"/>
            </a:solidFill>
            <a:prstDash val="solid"/>
          </a:ln>
        </p:spPr>
        <p:txBody>
          <a:bodyPr/>
          <a:lstStyle/>
          <a:p>
            <a:endParaRPr lang="en-IN"/>
          </a:p>
        </p:txBody>
      </p:sp>
      <p:sp>
        <p:nvSpPr>
          <p:cNvPr id="32" name="Text 28"/>
          <p:cNvSpPr txBox="1"/>
          <p:nvPr/>
        </p:nvSpPr>
        <p:spPr>
          <a:xfrm>
            <a:off x="8161020" y="1851660"/>
            <a:ext cx="1600200" cy="594360"/>
          </a:xfrm>
          <a:prstGeom prst="rect">
            <a:avLst/>
          </a:prstGeom>
          <a:noFill/>
          <a:ln/>
        </p:spPr>
        <p:txBody>
          <a:bodyPr wrap="square" lIns="0" tIns="0" rIns="0" bIns="0" rtlCol="0" anchor="ctr"/>
          <a:lstStyle/>
          <a:p>
            <a:pPr marL="0" indent="0" algn="ctr">
              <a:buNone/>
            </a:pPr>
            <a:r>
              <a:rPr lang="en-US" sz="1700" b="1" dirty="0">
                <a:solidFill>
                  <a:schemeClr val="bg1"/>
                </a:solidFill>
              </a:rPr>
              <a:t>1  Observe</a:t>
            </a:r>
            <a:endParaRPr lang="en-US" sz="1700" dirty="0"/>
          </a:p>
        </p:txBody>
      </p:sp>
      <p:sp>
        <p:nvSpPr>
          <p:cNvPr id="33" name="Chip"/>
          <p:cNvSpPr/>
          <p:nvPr/>
        </p:nvSpPr>
        <p:spPr>
          <a:xfrm>
            <a:off x="9744807" y="2720340"/>
            <a:ext cx="1600200" cy="594360"/>
          </a:xfrm>
          <a:prstGeom prst="roundRect">
            <a:avLst>
              <a:gd name="adj" fmla="val 15385"/>
            </a:avLst>
          </a:prstGeom>
          <a:solidFill>
            <a:schemeClr val="accent6">
              <a:alpha val="20000"/>
            </a:schemeClr>
          </a:solidFill>
          <a:ln w="15875">
            <a:solidFill>
              <a:schemeClr val="accent6"/>
            </a:solidFill>
            <a:prstDash val="solid"/>
          </a:ln>
        </p:spPr>
        <p:txBody>
          <a:bodyPr/>
          <a:lstStyle/>
          <a:p>
            <a:endParaRPr lang="en-IN"/>
          </a:p>
        </p:txBody>
      </p:sp>
      <p:sp>
        <p:nvSpPr>
          <p:cNvPr id="34" name="Text 30"/>
          <p:cNvSpPr txBox="1"/>
          <p:nvPr/>
        </p:nvSpPr>
        <p:spPr>
          <a:xfrm>
            <a:off x="9744807" y="2720340"/>
            <a:ext cx="1600200" cy="594360"/>
          </a:xfrm>
          <a:prstGeom prst="rect">
            <a:avLst/>
          </a:prstGeom>
          <a:noFill/>
          <a:ln/>
        </p:spPr>
        <p:txBody>
          <a:bodyPr wrap="square" lIns="0" tIns="0" rIns="0" bIns="0" rtlCol="0" anchor="ctr"/>
          <a:lstStyle/>
          <a:p>
            <a:pPr marL="0" indent="0" algn="ctr">
              <a:buNone/>
            </a:pPr>
            <a:r>
              <a:rPr lang="en-US" sz="1700" b="1" dirty="0">
                <a:solidFill>
                  <a:schemeClr val="bg1"/>
                </a:solidFill>
              </a:rPr>
              <a:t>2  State</a:t>
            </a:r>
            <a:endParaRPr lang="en-US" sz="1700" dirty="0"/>
          </a:p>
        </p:txBody>
      </p:sp>
      <p:sp>
        <p:nvSpPr>
          <p:cNvPr id="35" name="Chip"/>
          <p:cNvSpPr/>
          <p:nvPr/>
        </p:nvSpPr>
        <p:spPr>
          <a:xfrm>
            <a:off x="9744807" y="4457700"/>
            <a:ext cx="1600200" cy="594360"/>
          </a:xfrm>
          <a:prstGeom prst="roundRect">
            <a:avLst>
              <a:gd name="adj" fmla="val 15385"/>
            </a:avLst>
          </a:prstGeom>
          <a:solidFill>
            <a:schemeClr val="accent3">
              <a:alpha val="20000"/>
            </a:schemeClr>
          </a:solidFill>
          <a:ln w="15875">
            <a:solidFill>
              <a:schemeClr val="accent3"/>
            </a:solidFill>
            <a:prstDash val="solid"/>
          </a:ln>
        </p:spPr>
        <p:txBody>
          <a:bodyPr/>
          <a:lstStyle/>
          <a:p>
            <a:endParaRPr lang="en-IN"/>
          </a:p>
        </p:txBody>
      </p:sp>
      <p:sp>
        <p:nvSpPr>
          <p:cNvPr id="36" name="Text 32"/>
          <p:cNvSpPr txBox="1"/>
          <p:nvPr/>
        </p:nvSpPr>
        <p:spPr>
          <a:xfrm>
            <a:off x="9744807" y="4457700"/>
            <a:ext cx="1600200" cy="594360"/>
          </a:xfrm>
          <a:prstGeom prst="rect">
            <a:avLst/>
          </a:prstGeom>
          <a:noFill/>
          <a:ln/>
        </p:spPr>
        <p:txBody>
          <a:bodyPr wrap="square" lIns="0" tIns="0" rIns="0" bIns="0" rtlCol="0" anchor="ctr"/>
          <a:lstStyle/>
          <a:p>
            <a:pPr marL="0" indent="0" algn="ctr">
              <a:buNone/>
            </a:pPr>
            <a:r>
              <a:rPr lang="en-US" sz="1700" b="1" dirty="0">
                <a:solidFill>
                  <a:schemeClr val="bg1"/>
                </a:solidFill>
              </a:rPr>
              <a:t>3  Action</a:t>
            </a:r>
            <a:endParaRPr lang="en-US" sz="1700" dirty="0"/>
          </a:p>
        </p:txBody>
      </p:sp>
      <p:sp>
        <p:nvSpPr>
          <p:cNvPr id="37" name="Chip"/>
          <p:cNvSpPr/>
          <p:nvPr/>
        </p:nvSpPr>
        <p:spPr>
          <a:xfrm>
            <a:off x="8161020" y="5326380"/>
            <a:ext cx="1600200" cy="594360"/>
          </a:xfrm>
          <a:prstGeom prst="roundRect">
            <a:avLst>
              <a:gd name="adj" fmla="val 15385"/>
            </a:avLst>
          </a:prstGeom>
          <a:solidFill>
            <a:schemeClr val="accent2">
              <a:alpha val="20000"/>
            </a:schemeClr>
          </a:solidFill>
          <a:ln w="15875">
            <a:solidFill>
              <a:schemeClr val="accent2"/>
            </a:solidFill>
            <a:prstDash val="solid"/>
          </a:ln>
        </p:spPr>
        <p:txBody>
          <a:bodyPr/>
          <a:lstStyle/>
          <a:p>
            <a:endParaRPr lang="en-IN"/>
          </a:p>
        </p:txBody>
      </p:sp>
      <p:sp>
        <p:nvSpPr>
          <p:cNvPr id="38" name="Text 34"/>
          <p:cNvSpPr txBox="1"/>
          <p:nvPr/>
        </p:nvSpPr>
        <p:spPr>
          <a:xfrm>
            <a:off x="8161020" y="5326380"/>
            <a:ext cx="1600200" cy="594360"/>
          </a:xfrm>
          <a:prstGeom prst="rect">
            <a:avLst/>
          </a:prstGeom>
          <a:noFill/>
          <a:ln/>
        </p:spPr>
        <p:txBody>
          <a:bodyPr wrap="square" lIns="0" tIns="0" rIns="0" bIns="0" rtlCol="0" anchor="ctr"/>
          <a:lstStyle/>
          <a:p>
            <a:pPr marL="0" indent="0" algn="ctr">
              <a:buNone/>
            </a:pPr>
            <a:r>
              <a:rPr lang="en-US" sz="1700" b="1" dirty="0">
                <a:solidFill>
                  <a:schemeClr val="bg1"/>
                </a:solidFill>
              </a:rPr>
              <a:t>4  Respond</a:t>
            </a:r>
            <a:endParaRPr lang="en-US" sz="1700" dirty="0"/>
          </a:p>
        </p:txBody>
      </p:sp>
      <p:sp>
        <p:nvSpPr>
          <p:cNvPr id="39" name="Chip"/>
          <p:cNvSpPr/>
          <p:nvPr/>
        </p:nvSpPr>
        <p:spPr>
          <a:xfrm>
            <a:off x="6577233" y="4457700"/>
            <a:ext cx="1600200" cy="594360"/>
          </a:xfrm>
          <a:prstGeom prst="roundRect">
            <a:avLst>
              <a:gd name="adj" fmla="val 15385"/>
            </a:avLst>
          </a:prstGeom>
          <a:solidFill>
            <a:schemeClr val="accent4">
              <a:alpha val="20000"/>
            </a:schemeClr>
          </a:solidFill>
          <a:ln w="15875">
            <a:solidFill>
              <a:schemeClr val="accent4"/>
            </a:solidFill>
            <a:prstDash val="solid"/>
          </a:ln>
        </p:spPr>
        <p:txBody>
          <a:bodyPr/>
          <a:lstStyle/>
          <a:p>
            <a:endParaRPr lang="en-IN"/>
          </a:p>
        </p:txBody>
      </p:sp>
      <p:sp>
        <p:nvSpPr>
          <p:cNvPr id="40" name="Text 36"/>
          <p:cNvSpPr txBox="1"/>
          <p:nvPr/>
        </p:nvSpPr>
        <p:spPr>
          <a:xfrm>
            <a:off x="6577233" y="4457700"/>
            <a:ext cx="1600200" cy="594360"/>
          </a:xfrm>
          <a:prstGeom prst="rect">
            <a:avLst/>
          </a:prstGeom>
          <a:noFill/>
          <a:ln/>
        </p:spPr>
        <p:txBody>
          <a:bodyPr wrap="square" lIns="0" tIns="0" rIns="0" bIns="0" rtlCol="0" anchor="ctr"/>
          <a:lstStyle/>
          <a:p>
            <a:pPr marL="0" indent="0" algn="ctr">
              <a:buNone/>
            </a:pPr>
            <a:r>
              <a:rPr lang="en-US" sz="1700" b="1" dirty="0">
                <a:solidFill>
                  <a:schemeClr val="bg1"/>
                </a:solidFill>
              </a:rPr>
              <a:t>5  Reward</a:t>
            </a:r>
            <a:endParaRPr lang="en-US" sz="1700" dirty="0"/>
          </a:p>
        </p:txBody>
      </p:sp>
      <p:sp>
        <p:nvSpPr>
          <p:cNvPr id="41" name="Chip"/>
          <p:cNvSpPr/>
          <p:nvPr/>
        </p:nvSpPr>
        <p:spPr>
          <a:xfrm>
            <a:off x="6577233" y="2720340"/>
            <a:ext cx="1600200" cy="594360"/>
          </a:xfrm>
          <a:prstGeom prst="roundRect">
            <a:avLst>
              <a:gd name="adj" fmla="val 15385"/>
            </a:avLst>
          </a:prstGeom>
          <a:solidFill>
            <a:schemeClr val="accent1">
              <a:alpha val="20000"/>
            </a:schemeClr>
          </a:solidFill>
          <a:ln w="15875">
            <a:solidFill>
              <a:schemeClr val="accent1"/>
            </a:solidFill>
            <a:prstDash val="solid"/>
          </a:ln>
        </p:spPr>
        <p:txBody>
          <a:bodyPr/>
          <a:lstStyle/>
          <a:p>
            <a:endParaRPr lang="en-IN"/>
          </a:p>
        </p:txBody>
      </p:sp>
      <p:sp>
        <p:nvSpPr>
          <p:cNvPr id="42" name="Text 38"/>
          <p:cNvSpPr txBox="1"/>
          <p:nvPr/>
        </p:nvSpPr>
        <p:spPr>
          <a:xfrm>
            <a:off x="6577233" y="2720340"/>
            <a:ext cx="1600200" cy="594360"/>
          </a:xfrm>
          <a:prstGeom prst="rect">
            <a:avLst/>
          </a:prstGeom>
          <a:noFill/>
          <a:ln/>
        </p:spPr>
        <p:txBody>
          <a:bodyPr wrap="square" lIns="0" tIns="0" rIns="0" bIns="0" rtlCol="0" anchor="ctr"/>
          <a:lstStyle/>
          <a:p>
            <a:pPr marL="0" indent="0" algn="ctr">
              <a:buNone/>
            </a:pPr>
            <a:r>
              <a:rPr lang="en-US" sz="1700" b="1" dirty="0">
                <a:solidFill>
                  <a:schemeClr val="bg1"/>
                </a:solidFill>
              </a:rPr>
              <a:t>6  Learn</a:t>
            </a:r>
            <a:endParaRPr lang="en-US" sz="17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Reward and Penalty</a:t>
            </a:r>
            <a:endParaRPr lang="en-US" sz="3800" dirty="0"/>
          </a:p>
        </p:txBody>
      </p:sp>
      <p:sp>
        <p:nvSpPr>
          <p:cNvPr id="5" name="Card"/>
          <p:cNvSpPr/>
          <p:nvPr/>
        </p:nvSpPr>
        <p:spPr>
          <a:xfrm>
            <a:off x="548640" y="1508760"/>
            <a:ext cx="5486400" cy="1371600"/>
          </a:xfrm>
          <a:prstGeom prst="roundRect">
            <a:avLst>
              <a:gd name="adj" fmla="val 8000"/>
            </a:avLst>
          </a:prstGeom>
          <a:solidFill>
            <a:schemeClr val="accent3">
              <a:alpha val="14000"/>
            </a:schemeClr>
          </a:solidFill>
          <a:ln w="15875">
            <a:solidFill>
              <a:schemeClr val="accent3"/>
            </a:solidFill>
            <a:prstDash val="solid"/>
          </a:ln>
        </p:spPr>
        <p:txBody>
          <a:bodyPr/>
          <a:lstStyle/>
          <a:p>
            <a:endParaRPr lang="en-IN"/>
          </a:p>
        </p:txBody>
      </p:sp>
      <p:sp>
        <p:nvSpPr>
          <p:cNvPr id="6" name="Circle"/>
          <p:cNvSpPr/>
          <p:nvPr/>
        </p:nvSpPr>
        <p:spPr>
          <a:xfrm>
            <a:off x="777240" y="1828800"/>
            <a:ext cx="731520" cy="731520"/>
          </a:xfrm>
          <a:prstGeom prst="ellipse">
            <a:avLst/>
          </a:prstGeom>
          <a:solidFill>
            <a:schemeClr val="accent3">
              <a:alpha val="18000"/>
            </a:schemeClr>
          </a:solidFill>
          <a:ln/>
        </p:spPr>
        <p:txBody>
          <a:bodyPr/>
          <a:lstStyle/>
          <a:p>
            <a:endParaRPr lang="en-IN"/>
          </a:p>
        </p:txBody>
      </p:sp>
      <p:pic>
        <p:nvPicPr>
          <p:cNvPr id="7" name="Icon FaSmile" descr="preencoded.png"/>
          <p:cNvPicPr>
            <a:picLocks noChangeAspect="1"/>
          </p:cNvPicPr>
          <p:nvPr/>
        </p:nvPicPr>
        <p:blipFill>
          <a:blip r:embed="rId3"/>
          <a:stretch>
            <a:fillRect/>
          </a:stretch>
        </p:blipFill>
        <p:spPr>
          <a:xfrm>
            <a:off x="960120" y="2011680"/>
            <a:ext cx="365760" cy="365760"/>
          </a:xfrm>
          <a:prstGeom prst="rect">
            <a:avLst/>
          </a:prstGeom>
        </p:spPr>
      </p:pic>
      <p:sp>
        <p:nvSpPr>
          <p:cNvPr id="8" name="Text 4"/>
          <p:cNvSpPr txBox="1"/>
          <p:nvPr/>
        </p:nvSpPr>
        <p:spPr>
          <a:xfrm>
            <a:off x="1691640" y="1600200"/>
            <a:ext cx="4206240" cy="1188720"/>
          </a:xfrm>
          <a:prstGeom prst="rect">
            <a:avLst/>
          </a:prstGeom>
          <a:noFill/>
          <a:ln/>
        </p:spPr>
        <p:txBody>
          <a:bodyPr wrap="square" lIns="0" tIns="0" rIns="0" bIns="0" rtlCol="0" anchor="ctr"/>
          <a:lstStyle/>
          <a:p>
            <a:pPr marL="0" indent="0">
              <a:buNone/>
            </a:pPr>
            <a:r>
              <a:rPr lang="en-US" sz="2200" b="1" dirty="0">
                <a:solidFill>
                  <a:schemeClr val="accent3"/>
                </a:solidFill>
              </a:rPr>
              <a:t>Reward</a:t>
            </a:r>
            <a:endParaRPr lang="en-US" sz="1600" dirty="0"/>
          </a:p>
          <a:p>
            <a:pPr marL="0" indent="0">
              <a:buNone/>
            </a:pPr>
            <a:r>
              <a:rPr lang="en-US" sz="1600" dirty="0">
                <a:solidFill>
                  <a:schemeClr val="bg1"/>
                </a:solidFill>
              </a:rPr>
              <a:t>Positive feedback that encourages good actions</a:t>
            </a:r>
            <a:endParaRPr lang="en-US" sz="1600" dirty="0"/>
          </a:p>
        </p:txBody>
      </p:sp>
      <p:sp>
        <p:nvSpPr>
          <p:cNvPr id="9" name="Card"/>
          <p:cNvSpPr/>
          <p:nvPr/>
        </p:nvSpPr>
        <p:spPr>
          <a:xfrm>
            <a:off x="548640" y="3108960"/>
            <a:ext cx="5486400" cy="1371600"/>
          </a:xfrm>
          <a:prstGeom prst="roundRect">
            <a:avLst>
              <a:gd name="adj" fmla="val 8000"/>
            </a:avLst>
          </a:prstGeom>
          <a:solidFill>
            <a:schemeClr val="accent5">
              <a:alpha val="14000"/>
            </a:schemeClr>
          </a:solidFill>
          <a:ln w="15875">
            <a:solidFill>
              <a:schemeClr val="accent5"/>
            </a:solidFill>
            <a:prstDash val="solid"/>
          </a:ln>
        </p:spPr>
        <p:txBody>
          <a:bodyPr/>
          <a:lstStyle/>
          <a:p>
            <a:endParaRPr lang="en-IN"/>
          </a:p>
        </p:txBody>
      </p:sp>
      <p:sp>
        <p:nvSpPr>
          <p:cNvPr id="10" name="Circle"/>
          <p:cNvSpPr/>
          <p:nvPr/>
        </p:nvSpPr>
        <p:spPr>
          <a:xfrm>
            <a:off x="777240" y="3429000"/>
            <a:ext cx="731520" cy="731520"/>
          </a:xfrm>
          <a:prstGeom prst="ellipse">
            <a:avLst/>
          </a:prstGeom>
          <a:solidFill>
            <a:schemeClr val="accent5">
              <a:alpha val="18000"/>
            </a:schemeClr>
          </a:solidFill>
          <a:ln/>
        </p:spPr>
        <p:txBody>
          <a:bodyPr/>
          <a:lstStyle/>
          <a:p>
            <a:endParaRPr lang="en-IN"/>
          </a:p>
        </p:txBody>
      </p:sp>
      <p:pic>
        <p:nvPicPr>
          <p:cNvPr id="11" name="Icon FaFrown" descr="preencoded.png"/>
          <p:cNvPicPr>
            <a:picLocks noChangeAspect="1"/>
          </p:cNvPicPr>
          <p:nvPr/>
        </p:nvPicPr>
        <p:blipFill>
          <a:blip r:embed="rId4"/>
          <a:stretch>
            <a:fillRect/>
          </a:stretch>
        </p:blipFill>
        <p:spPr>
          <a:xfrm>
            <a:off x="960120" y="3611880"/>
            <a:ext cx="365760" cy="365760"/>
          </a:xfrm>
          <a:prstGeom prst="rect">
            <a:avLst/>
          </a:prstGeom>
        </p:spPr>
      </p:pic>
      <p:sp>
        <p:nvSpPr>
          <p:cNvPr id="12" name="Text 7"/>
          <p:cNvSpPr txBox="1"/>
          <p:nvPr/>
        </p:nvSpPr>
        <p:spPr>
          <a:xfrm>
            <a:off x="1691640" y="3200400"/>
            <a:ext cx="4206240" cy="1188720"/>
          </a:xfrm>
          <a:prstGeom prst="rect">
            <a:avLst/>
          </a:prstGeom>
          <a:noFill/>
          <a:ln/>
        </p:spPr>
        <p:txBody>
          <a:bodyPr wrap="square" lIns="0" tIns="0" rIns="0" bIns="0" rtlCol="0" anchor="ctr"/>
          <a:lstStyle/>
          <a:p>
            <a:pPr marL="0" indent="0">
              <a:buNone/>
            </a:pPr>
            <a:r>
              <a:rPr lang="en-US" sz="2200" b="1" dirty="0">
                <a:solidFill>
                  <a:schemeClr val="accent5"/>
                </a:solidFill>
              </a:rPr>
              <a:t>Penalty</a:t>
            </a:r>
            <a:endParaRPr lang="en-US" sz="1600" dirty="0"/>
          </a:p>
          <a:p>
            <a:pPr marL="0" indent="0">
              <a:buNone/>
            </a:pPr>
            <a:r>
              <a:rPr lang="en-US" sz="1600" dirty="0">
                <a:solidFill>
                  <a:schemeClr val="bg1"/>
                </a:solidFill>
              </a:rPr>
              <a:t>Negative feedback that discourages bad actions</a:t>
            </a:r>
            <a:endParaRPr lang="en-US" sz="1600" dirty="0"/>
          </a:p>
        </p:txBody>
      </p:sp>
      <p:sp>
        <p:nvSpPr>
          <p:cNvPr id="13" name="Card"/>
          <p:cNvSpPr/>
          <p:nvPr/>
        </p:nvSpPr>
        <p:spPr>
          <a:xfrm>
            <a:off x="548640" y="4709160"/>
            <a:ext cx="5486400" cy="1371600"/>
          </a:xfrm>
          <a:prstGeom prst="roundRect">
            <a:avLst>
              <a:gd name="adj" fmla="val 8000"/>
            </a:avLst>
          </a:prstGeom>
          <a:solidFill>
            <a:schemeClr val="tx2"/>
          </a:solidFill>
          <a:ln/>
        </p:spPr>
        <p:txBody>
          <a:bodyPr/>
          <a:lstStyle/>
          <a:p>
            <a:endParaRPr lang="en-IN"/>
          </a:p>
        </p:txBody>
      </p:sp>
      <p:sp>
        <p:nvSpPr>
          <p:cNvPr id="14" name="Circle"/>
          <p:cNvSpPr/>
          <p:nvPr/>
        </p:nvSpPr>
        <p:spPr>
          <a:xfrm>
            <a:off x="777240" y="5029200"/>
            <a:ext cx="731520" cy="731520"/>
          </a:xfrm>
          <a:prstGeom prst="ellipse">
            <a:avLst/>
          </a:prstGeom>
          <a:solidFill>
            <a:schemeClr val="accent4">
              <a:alpha val="18000"/>
            </a:schemeClr>
          </a:solidFill>
          <a:ln/>
        </p:spPr>
        <p:txBody>
          <a:bodyPr/>
          <a:lstStyle/>
          <a:p>
            <a:endParaRPr lang="en-IN"/>
          </a:p>
        </p:txBody>
      </p:sp>
      <p:pic>
        <p:nvPicPr>
          <p:cNvPr id="15" name="Icon FaLightbulb" descr="preencoded.png"/>
          <p:cNvPicPr>
            <a:picLocks noChangeAspect="1"/>
          </p:cNvPicPr>
          <p:nvPr/>
        </p:nvPicPr>
        <p:blipFill>
          <a:blip r:embed="rId5"/>
          <a:stretch>
            <a:fillRect/>
          </a:stretch>
        </p:blipFill>
        <p:spPr>
          <a:xfrm>
            <a:off x="960120" y="5212080"/>
            <a:ext cx="365760" cy="365760"/>
          </a:xfrm>
          <a:prstGeom prst="rect">
            <a:avLst/>
          </a:prstGeom>
        </p:spPr>
      </p:pic>
      <p:sp>
        <p:nvSpPr>
          <p:cNvPr id="16" name="Text 10"/>
          <p:cNvSpPr txBox="1"/>
          <p:nvPr/>
        </p:nvSpPr>
        <p:spPr>
          <a:xfrm>
            <a:off x="1691640" y="4800600"/>
            <a:ext cx="4206240" cy="1188720"/>
          </a:xfrm>
          <a:prstGeom prst="rect">
            <a:avLst/>
          </a:prstGeom>
          <a:noFill/>
          <a:ln/>
        </p:spPr>
        <p:txBody>
          <a:bodyPr wrap="square" lIns="0" tIns="0" rIns="0" bIns="0" rtlCol="0" anchor="ctr"/>
          <a:lstStyle/>
          <a:p>
            <a:pPr marL="0" indent="0">
              <a:buNone/>
            </a:pPr>
            <a:r>
              <a:rPr lang="en-US" sz="2000" b="1" dirty="0">
                <a:solidFill>
                  <a:schemeClr val="accent4"/>
                </a:solidFill>
              </a:rPr>
              <a:t>Why rewards matter</a:t>
            </a:r>
            <a:endParaRPr lang="en-US" sz="1600" dirty="0"/>
          </a:p>
          <a:p>
            <a:pPr marL="0" indent="0">
              <a:buNone/>
            </a:pPr>
            <a:r>
              <a:rPr lang="en-US" sz="1600" dirty="0">
                <a:solidFill>
                  <a:schemeClr val="bg1"/>
                </a:solidFill>
              </a:rPr>
              <a:t>They tell the agent what is good or bad</a:t>
            </a:r>
            <a:endParaRPr lang="en-US" sz="1600" dirty="0"/>
          </a:p>
        </p:txBody>
      </p:sp>
      <p:sp>
        <p:nvSpPr>
          <p:cNvPr id="17" name="Card"/>
          <p:cNvSpPr/>
          <p:nvPr/>
        </p:nvSpPr>
        <p:spPr>
          <a:xfrm>
            <a:off x="6492240" y="1508760"/>
            <a:ext cx="5148072" cy="4572000"/>
          </a:xfrm>
          <a:prstGeom prst="roundRect">
            <a:avLst>
              <a:gd name="adj" fmla="val 2400"/>
            </a:avLst>
          </a:prstGeom>
          <a:solidFill>
            <a:schemeClr val="tx2"/>
          </a:solidFill>
          <a:ln w="19050">
            <a:solidFill>
              <a:schemeClr val="accent2"/>
            </a:solidFill>
            <a:prstDash val="solid"/>
          </a:ln>
        </p:spPr>
        <p:txBody>
          <a:bodyPr/>
          <a:lstStyle/>
          <a:p>
            <a:endParaRPr lang="en-IN"/>
          </a:p>
        </p:txBody>
      </p:sp>
      <p:pic>
        <p:nvPicPr>
          <p:cNvPr id="18" name="Icon FaGamepad" descr="preencoded.png"/>
          <p:cNvPicPr>
            <a:picLocks noChangeAspect="1"/>
          </p:cNvPicPr>
          <p:nvPr/>
        </p:nvPicPr>
        <p:blipFill>
          <a:blip r:embed="rId6"/>
          <a:stretch>
            <a:fillRect/>
          </a:stretch>
        </p:blipFill>
        <p:spPr>
          <a:xfrm>
            <a:off x="6766560" y="1737360"/>
            <a:ext cx="457200" cy="457200"/>
          </a:xfrm>
          <a:prstGeom prst="rect">
            <a:avLst/>
          </a:prstGeom>
        </p:spPr>
      </p:pic>
      <p:sp>
        <p:nvSpPr>
          <p:cNvPr id="19" name="Text 12"/>
          <p:cNvSpPr txBox="1"/>
          <p:nvPr/>
        </p:nvSpPr>
        <p:spPr>
          <a:xfrm>
            <a:off x="7406640" y="1737360"/>
            <a:ext cx="4023360" cy="457200"/>
          </a:xfrm>
          <a:prstGeom prst="rect">
            <a:avLst/>
          </a:prstGeom>
          <a:noFill/>
          <a:ln/>
        </p:spPr>
        <p:txBody>
          <a:bodyPr wrap="square" lIns="0" tIns="0" rIns="0" bIns="0" rtlCol="0" anchor="ctr"/>
          <a:lstStyle/>
          <a:p>
            <a:pPr marL="0" indent="0">
              <a:buNone/>
            </a:pPr>
            <a:r>
              <a:rPr lang="en-US" sz="2000" b="1" dirty="0">
                <a:solidFill>
                  <a:schemeClr val="bg1"/>
                </a:solidFill>
              </a:rPr>
              <a:t>Example: a simple game</a:t>
            </a:r>
            <a:endParaRPr lang="en-US" sz="2000" dirty="0"/>
          </a:p>
        </p:txBody>
      </p:sp>
      <p:sp>
        <p:nvSpPr>
          <p:cNvPr id="20" name="Card"/>
          <p:cNvSpPr/>
          <p:nvPr/>
        </p:nvSpPr>
        <p:spPr>
          <a:xfrm>
            <a:off x="6766560" y="2514600"/>
            <a:ext cx="4599432" cy="1097280"/>
          </a:xfrm>
          <a:prstGeom prst="roundRect">
            <a:avLst>
              <a:gd name="adj" fmla="val 10000"/>
            </a:avLst>
          </a:prstGeom>
          <a:solidFill>
            <a:schemeClr val="accent3">
              <a:alpha val="12000"/>
            </a:schemeClr>
          </a:solidFill>
          <a:ln/>
        </p:spPr>
        <p:txBody>
          <a:bodyPr/>
          <a:lstStyle/>
          <a:p>
            <a:endParaRPr lang="en-IN"/>
          </a:p>
        </p:txBody>
      </p:sp>
      <p:pic>
        <p:nvPicPr>
          <p:cNvPr id="21" name="Icon FaCoins" descr="preencoded.png"/>
          <p:cNvPicPr>
            <a:picLocks noChangeAspect="1"/>
          </p:cNvPicPr>
          <p:nvPr/>
        </p:nvPicPr>
        <p:blipFill>
          <a:blip r:embed="rId7"/>
          <a:stretch>
            <a:fillRect/>
          </a:stretch>
        </p:blipFill>
        <p:spPr>
          <a:xfrm>
            <a:off x="6995160" y="2743200"/>
            <a:ext cx="640080" cy="640080"/>
          </a:xfrm>
          <a:prstGeom prst="rect">
            <a:avLst/>
          </a:prstGeom>
        </p:spPr>
      </p:pic>
      <p:sp>
        <p:nvSpPr>
          <p:cNvPr id="22" name="Text 14"/>
          <p:cNvSpPr txBox="1"/>
          <p:nvPr/>
        </p:nvSpPr>
        <p:spPr>
          <a:xfrm>
            <a:off x="7818120" y="2514600"/>
            <a:ext cx="2194560" cy="1097280"/>
          </a:xfrm>
          <a:prstGeom prst="rect">
            <a:avLst/>
          </a:prstGeom>
          <a:noFill/>
          <a:ln/>
        </p:spPr>
        <p:txBody>
          <a:bodyPr wrap="square" lIns="0" tIns="0" rIns="0" bIns="0" rtlCol="0" anchor="ctr"/>
          <a:lstStyle/>
          <a:p>
            <a:pPr marL="0" indent="0">
              <a:buNone/>
            </a:pPr>
            <a:r>
              <a:rPr lang="en-US" sz="2000" b="1" dirty="0">
                <a:solidFill>
                  <a:schemeClr val="bg1"/>
                </a:solidFill>
              </a:rPr>
              <a:t>Collect coin</a:t>
            </a:r>
            <a:endParaRPr lang="en-US" sz="2000" dirty="0"/>
          </a:p>
        </p:txBody>
      </p:sp>
      <p:sp>
        <p:nvSpPr>
          <p:cNvPr id="23" name="Text 15"/>
          <p:cNvSpPr txBox="1"/>
          <p:nvPr/>
        </p:nvSpPr>
        <p:spPr>
          <a:xfrm>
            <a:off x="9966960" y="2514600"/>
            <a:ext cx="1280160" cy="1097280"/>
          </a:xfrm>
          <a:prstGeom prst="rect">
            <a:avLst/>
          </a:prstGeom>
          <a:noFill/>
          <a:ln/>
        </p:spPr>
        <p:txBody>
          <a:bodyPr wrap="square" lIns="0" tIns="0" rIns="0" bIns="0" rtlCol="0" anchor="ctr"/>
          <a:lstStyle/>
          <a:p>
            <a:pPr marL="0" indent="0" algn="r">
              <a:buNone/>
            </a:pPr>
            <a:r>
              <a:rPr lang="en-US" sz="4000" b="1" dirty="0">
                <a:solidFill>
                  <a:schemeClr val="accent3"/>
                </a:solidFill>
              </a:rPr>
              <a:t>+10</a:t>
            </a:r>
            <a:endParaRPr lang="en-US" sz="4000" dirty="0"/>
          </a:p>
        </p:txBody>
      </p:sp>
      <p:sp>
        <p:nvSpPr>
          <p:cNvPr id="24" name="Card"/>
          <p:cNvSpPr/>
          <p:nvPr/>
        </p:nvSpPr>
        <p:spPr>
          <a:xfrm>
            <a:off x="6766560" y="3840480"/>
            <a:ext cx="4599432" cy="1097280"/>
          </a:xfrm>
          <a:prstGeom prst="roundRect">
            <a:avLst>
              <a:gd name="adj" fmla="val 10000"/>
            </a:avLst>
          </a:prstGeom>
          <a:solidFill>
            <a:schemeClr val="accent5">
              <a:alpha val="12000"/>
            </a:schemeClr>
          </a:solidFill>
          <a:ln/>
        </p:spPr>
        <p:txBody>
          <a:bodyPr/>
          <a:lstStyle/>
          <a:p>
            <a:endParaRPr lang="en-IN"/>
          </a:p>
        </p:txBody>
      </p:sp>
      <p:sp>
        <p:nvSpPr>
          <p:cNvPr id="25" name="Obstacle"/>
          <p:cNvSpPr/>
          <p:nvPr/>
        </p:nvSpPr>
        <p:spPr>
          <a:xfrm>
            <a:off x="7040880" y="4114800"/>
            <a:ext cx="594360" cy="548640"/>
          </a:xfrm>
          <a:prstGeom prst="triangle">
            <a:avLst/>
          </a:prstGeom>
          <a:solidFill>
            <a:schemeClr val="accent5"/>
          </a:solidFill>
          <a:ln/>
        </p:spPr>
        <p:txBody>
          <a:bodyPr/>
          <a:lstStyle/>
          <a:p>
            <a:endParaRPr lang="en-IN"/>
          </a:p>
        </p:txBody>
      </p:sp>
      <p:sp>
        <p:nvSpPr>
          <p:cNvPr id="26" name="Text 18"/>
          <p:cNvSpPr txBox="1"/>
          <p:nvPr/>
        </p:nvSpPr>
        <p:spPr>
          <a:xfrm>
            <a:off x="7818120" y="3840480"/>
            <a:ext cx="2194560" cy="1097280"/>
          </a:xfrm>
          <a:prstGeom prst="rect">
            <a:avLst/>
          </a:prstGeom>
          <a:noFill/>
          <a:ln/>
        </p:spPr>
        <p:txBody>
          <a:bodyPr wrap="square" lIns="0" tIns="0" rIns="0" bIns="0" rtlCol="0" anchor="ctr"/>
          <a:lstStyle/>
          <a:p>
            <a:pPr marL="0" indent="0">
              <a:buNone/>
            </a:pPr>
            <a:r>
              <a:rPr lang="en-US" sz="2000" b="1" dirty="0">
                <a:solidFill>
                  <a:schemeClr val="bg1"/>
                </a:solidFill>
              </a:rPr>
              <a:t>Hit obstacle</a:t>
            </a:r>
            <a:endParaRPr lang="en-US" sz="2000" dirty="0"/>
          </a:p>
        </p:txBody>
      </p:sp>
      <p:sp>
        <p:nvSpPr>
          <p:cNvPr id="27" name="Text 19"/>
          <p:cNvSpPr txBox="1"/>
          <p:nvPr/>
        </p:nvSpPr>
        <p:spPr>
          <a:xfrm>
            <a:off x="9966960" y="3840480"/>
            <a:ext cx="1280160" cy="1097280"/>
          </a:xfrm>
          <a:prstGeom prst="rect">
            <a:avLst/>
          </a:prstGeom>
          <a:noFill/>
          <a:ln/>
        </p:spPr>
        <p:txBody>
          <a:bodyPr wrap="square" lIns="0" tIns="0" rIns="0" bIns="0" rtlCol="0" anchor="ctr"/>
          <a:lstStyle/>
          <a:p>
            <a:pPr marL="0" indent="0" algn="r">
              <a:buNone/>
            </a:pPr>
            <a:r>
              <a:rPr lang="en-US" sz="4000" b="1" dirty="0">
                <a:solidFill>
                  <a:schemeClr val="accent5"/>
                </a:solidFill>
              </a:rPr>
              <a:t>−10</a:t>
            </a:r>
            <a:endParaRPr lang="en-US" sz="4000" dirty="0"/>
          </a:p>
        </p:txBody>
      </p:sp>
      <p:sp>
        <p:nvSpPr>
          <p:cNvPr id="28" name="Text 20"/>
          <p:cNvSpPr txBox="1"/>
          <p:nvPr/>
        </p:nvSpPr>
        <p:spPr>
          <a:xfrm>
            <a:off x="6766560" y="5212080"/>
            <a:ext cx="4599432" cy="640080"/>
          </a:xfrm>
          <a:prstGeom prst="rect">
            <a:avLst/>
          </a:prstGeom>
          <a:noFill/>
          <a:ln/>
        </p:spPr>
        <p:txBody>
          <a:bodyPr wrap="square" lIns="0" tIns="0" rIns="0" bIns="0" rtlCol="0" anchor="ctr"/>
          <a:lstStyle/>
          <a:p>
            <a:pPr marL="0" indent="0" algn="ctr">
              <a:buNone/>
            </a:pPr>
            <a:r>
              <a:rPr lang="en-US" sz="1600" i="1" dirty="0">
                <a:solidFill>
                  <a:schemeClr val="bg2"/>
                </a:solidFill>
              </a:rPr>
              <a:t>The agent learns: go for coins, avoid obstacles</a:t>
            </a:r>
            <a:endParaRPr lang="en-US" sz="16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Exploration vs Exploitation</a:t>
            </a:r>
            <a:endParaRPr lang="en-US" sz="3800" dirty="0"/>
          </a:p>
        </p:txBody>
      </p:sp>
      <p:sp>
        <p:nvSpPr>
          <p:cNvPr id="5" name="Card"/>
          <p:cNvSpPr/>
          <p:nvPr/>
        </p:nvSpPr>
        <p:spPr>
          <a:xfrm>
            <a:off x="548640" y="1463040"/>
            <a:ext cx="5148072" cy="3749040"/>
          </a:xfrm>
          <a:prstGeom prst="roundRect">
            <a:avLst>
              <a:gd name="adj" fmla="val 2927"/>
            </a:avLst>
          </a:prstGeom>
          <a:solidFill>
            <a:schemeClr val="tx2"/>
          </a:solidFill>
          <a:ln w="19050">
            <a:solidFill>
              <a:schemeClr val="accent1"/>
            </a:solidFill>
            <a:prstDash val="solid"/>
          </a:ln>
        </p:spPr>
        <p:txBody>
          <a:bodyPr/>
          <a:lstStyle/>
          <a:p>
            <a:endParaRPr lang="en-IN"/>
          </a:p>
        </p:txBody>
      </p:sp>
      <p:sp>
        <p:nvSpPr>
          <p:cNvPr id="6" name="Circle"/>
          <p:cNvSpPr/>
          <p:nvPr/>
        </p:nvSpPr>
        <p:spPr>
          <a:xfrm>
            <a:off x="822960" y="1691640"/>
            <a:ext cx="868680" cy="868680"/>
          </a:xfrm>
          <a:prstGeom prst="ellipse">
            <a:avLst/>
          </a:prstGeom>
          <a:solidFill>
            <a:schemeClr val="accent1">
              <a:alpha val="18000"/>
            </a:schemeClr>
          </a:solidFill>
          <a:ln/>
        </p:spPr>
        <p:txBody>
          <a:bodyPr/>
          <a:lstStyle/>
          <a:p>
            <a:endParaRPr lang="en-IN"/>
          </a:p>
        </p:txBody>
      </p:sp>
      <p:pic>
        <p:nvPicPr>
          <p:cNvPr id="7" name="Icon FaSearch" descr="preencoded.png"/>
          <p:cNvPicPr>
            <a:picLocks noChangeAspect="1"/>
          </p:cNvPicPr>
          <p:nvPr/>
        </p:nvPicPr>
        <p:blipFill>
          <a:blip r:embed="rId3"/>
          <a:stretch>
            <a:fillRect/>
          </a:stretch>
        </p:blipFill>
        <p:spPr>
          <a:xfrm>
            <a:off x="1040130" y="1908810"/>
            <a:ext cx="434340" cy="434340"/>
          </a:xfrm>
          <a:prstGeom prst="rect">
            <a:avLst/>
          </a:prstGeom>
        </p:spPr>
      </p:pic>
      <p:sp>
        <p:nvSpPr>
          <p:cNvPr id="8" name="Text 4"/>
          <p:cNvSpPr txBox="1"/>
          <p:nvPr/>
        </p:nvSpPr>
        <p:spPr>
          <a:xfrm>
            <a:off x="1920240" y="1691640"/>
            <a:ext cx="3566160" cy="457200"/>
          </a:xfrm>
          <a:prstGeom prst="rect">
            <a:avLst/>
          </a:prstGeom>
          <a:noFill/>
          <a:ln/>
        </p:spPr>
        <p:txBody>
          <a:bodyPr wrap="square" lIns="0" tIns="0" rIns="0" bIns="0" rtlCol="0" anchor="ctr"/>
          <a:lstStyle/>
          <a:p>
            <a:pPr marL="0" indent="0">
              <a:buNone/>
            </a:pPr>
            <a:r>
              <a:rPr lang="en-US" sz="2800" b="1" dirty="0">
                <a:solidFill>
                  <a:schemeClr val="accent1"/>
                </a:solidFill>
              </a:rPr>
              <a:t>Exploration</a:t>
            </a:r>
            <a:endParaRPr lang="en-US" sz="2800" dirty="0"/>
          </a:p>
        </p:txBody>
      </p:sp>
      <p:sp>
        <p:nvSpPr>
          <p:cNvPr id="9" name="Text 5"/>
          <p:cNvSpPr txBox="1"/>
          <p:nvPr/>
        </p:nvSpPr>
        <p:spPr>
          <a:xfrm>
            <a:off x="1920240" y="2148840"/>
            <a:ext cx="3566160" cy="411480"/>
          </a:xfrm>
          <a:prstGeom prst="rect">
            <a:avLst/>
          </a:prstGeom>
          <a:noFill/>
          <a:ln/>
        </p:spPr>
        <p:txBody>
          <a:bodyPr wrap="square" lIns="0" tIns="0" rIns="0" bIns="0" rtlCol="0" anchor="ctr"/>
          <a:lstStyle/>
          <a:p>
            <a:pPr marL="0" indent="0">
              <a:buNone/>
            </a:pPr>
            <a:r>
              <a:rPr lang="en-US" sz="1800" dirty="0">
                <a:solidFill>
                  <a:schemeClr val="bg2"/>
                </a:solidFill>
              </a:rPr>
              <a:t>Trying new actions</a:t>
            </a:r>
            <a:endParaRPr lang="en-US" sz="1800" dirty="0"/>
          </a:p>
        </p:txBody>
      </p:sp>
      <p:sp>
        <p:nvSpPr>
          <p:cNvPr id="10" name="Bullets"/>
          <p:cNvSpPr txBox="1"/>
          <p:nvPr/>
        </p:nvSpPr>
        <p:spPr>
          <a:xfrm>
            <a:off x="868680" y="2880360"/>
            <a:ext cx="4480560" cy="10972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bg1"/>
                </a:solidFill>
              </a:rPr>
              <a:t>May discover better rewards</a:t>
            </a:r>
            <a:endParaRPr lang="en-US" sz="1800" dirty="0"/>
          </a:p>
          <a:p>
            <a:pPr marL="228600" indent="-228600">
              <a:spcAft>
                <a:spcPts val="800"/>
              </a:spcAft>
              <a:buSzPct val="100000"/>
              <a:buChar char="•"/>
            </a:pPr>
            <a:r>
              <a:rPr lang="en-US" sz="1800" dirty="0">
                <a:solidFill>
                  <a:schemeClr val="bg1"/>
                </a:solidFill>
              </a:rPr>
              <a:t>Risk: could get a bad result</a:t>
            </a:r>
            <a:endParaRPr lang="en-US" sz="1800" dirty="0"/>
          </a:p>
        </p:txBody>
      </p:sp>
      <p:sp>
        <p:nvSpPr>
          <p:cNvPr id="11" name="Chip"/>
          <p:cNvSpPr/>
          <p:nvPr/>
        </p:nvSpPr>
        <p:spPr>
          <a:xfrm>
            <a:off x="822960" y="4160520"/>
            <a:ext cx="4599432" cy="731520"/>
          </a:xfrm>
          <a:prstGeom prst="roundRect">
            <a:avLst>
              <a:gd name="adj" fmla="val 12500"/>
            </a:avLst>
          </a:prstGeom>
          <a:solidFill>
            <a:schemeClr val="accent1">
              <a:alpha val="20000"/>
            </a:schemeClr>
          </a:solidFill>
          <a:ln w="15875">
            <a:solidFill>
              <a:schemeClr val="accent1"/>
            </a:solidFill>
            <a:prstDash val="solid"/>
          </a:ln>
        </p:spPr>
        <p:txBody>
          <a:bodyPr/>
          <a:lstStyle/>
          <a:p>
            <a:endParaRPr lang="en-IN"/>
          </a:p>
        </p:txBody>
      </p:sp>
      <p:sp>
        <p:nvSpPr>
          <p:cNvPr id="12" name="Text 8"/>
          <p:cNvSpPr txBox="1"/>
          <p:nvPr/>
        </p:nvSpPr>
        <p:spPr>
          <a:xfrm>
            <a:off x="822960" y="4160520"/>
            <a:ext cx="4599432" cy="731520"/>
          </a:xfrm>
          <a:prstGeom prst="rect">
            <a:avLst/>
          </a:prstGeom>
          <a:noFill/>
          <a:ln/>
        </p:spPr>
        <p:txBody>
          <a:bodyPr wrap="square" lIns="0" tIns="0" rIns="0" bIns="0" rtlCol="0" anchor="ctr"/>
          <a:lstStyle/>
          <a:p>
            <a:pPr marL="0" indent="0" algn="ctr">
              <a:buNone/>
            </a:pPr>
            <a:r>
              <a:rPr lang="en-US" sz="1600" dirty="0">
                <a:solidFill>
                  <a:schemeClr val="bg1"/>
                </a:solidFill>
              </a:rPr>
              <a:t>Restaurant: try a new dish on the menu</a:t>
            </a:r>
            <a:endParaRPr lang="en-US" sz="1600" dirty="0"/>
          </a:p>
        </p:txBody>
      </p:sp>
      <p:sp>
        <p:nvSpPr>
          <p:cNvPr id="13" name="Card"/>
          <p:cNvSpPr/>
          <p:nvPr/>
        </p:nvSpPr>
        <p:spPr>
          <a:xfrm>
            <a:off x="6492240" y="1463040"/>
            <a:ext cx="5148072" cy="3749040"/>
          </a:xfrm>
          <a:prstGeom prst="roundRect">
            <a:avLst>
              <a:gd name="adj" fmla="val 2927"/>
            </a:avLst>
          </a:prstGeom>
          <a:solidFill>
            <a:schemeClr val="tx2"/>
          </a:solidFill>
          <a:ln w="19050">
            <a:solidFill>
              <a:schemeClr val="accent4"/>
            </a:solidFill>
            <a:prstDash val="solid"/>
          </a:ln>
        </p:spPr>
        <p:txBody>
          <a:bodyPr/>
          <a:lstStyle/>
          <a:p>
            <a:endParaRPr lang="en-IN"/>
          </a:p>
        </p:txBody>
      </p:sp>
      <p:sp>
        <p:nvSpPr>
          <p:cNvPr id="14" name="Circle"/>
          <p:cNvSpPr/>
          <p:nvPr/>
        </p:nvSpPr>
        <p:spPr>
          <a:xfrm>
            <a:off x="6766560" y="1691640"/>
            <a:ext cx="868680" cy="868680"/>
          </a:xfrm>
          <a:prstGeom prst="ellipse">
            <a:avLst/>
          </a:prstGeom>
          <a:solidFill>
            <a:schemeClr val="accent4">
              <a:alpha val="18000"/>
            </a:schemeClr>
          </a:solidFill>
          <a:ln/>
        </p:spPr>
        <p:txBody>
          <a:bodyPr/>
          <a:lstStyle/>
          <a:p>
            <a:endParaRPr lang="en-IN"/>
          </a:p>
        </p:txBody>
      </p:sp>
      <p:pic>
        <p:nvPicPr>
          <p:cNvPr id="15" name="Icon FaStar" descr="preencoded.png"/>
          <p:cNvPicPr>
            <a:picLocks noChangeAspect="1"/>
          </p:cNvPicPr>
          <p:nvPr/>
        </p:nvPicPr>
        <p:blipFill>
          <a:blip r:embed="rId4"/>
          <a:stretch>
            <a:fillRect/>
          </a:stretch>
        </p:blipFill>
        <p:spPr>
          <a:xfrm>
            <a:off x="6983730" y="1908810"/>
            <a:ext cx="434340" cy="434340"/>
          </a:xfrm>
          <a:prstGeom prst="rect">
            <a:avLst/>
          </a:prstGeom>
        </p:spPr>
      </p:pic>
      <p:sp>
        <p:nvSpPr>
          <p:cNvPr id="16" name="Text 11"/>
          <p:cNvSpPr txBox="1"/>
          <p:nvPr/>
        </p:nvSpPr>
        <p:spPr>
          <a:xfrm>
            <a:off x="7863840" y="1691640"/>
            <a:ext cx="3566160" cy="457200"/>
          </a:xfrm>
          <a:prstGeom prst="rect">
            <a:avLst/>
          </a:prstGeom>
          <a:noFill/>
          <a:ln/>
        </p:spPr>
        <p:txBody>
          <a:bodyPr wrap="square" lIns="0" tIns="0" rIns="0" bIns="0" rtlCol="0" anchor="ctr"/>
          <a:lstStyle/>
          <a:p>
            <a:pPr marL="0" indent="0">
              <a:buNone/>
            </a:pPr>
            <a:r>
              <a:rPr lang="en-US" sz="2800" b="1" dirty="0">
                <a:solidFill>
                  <a:schemeClr val="accent4"/>
                </a:solidFill>
              </a:rPr>
              <a:t>Exploitation</a:t>
            </a:r>
            <a:endParaRPr lang="en-US" sz="2800" dirty="0"/>
          </a:p>
        </p:txBody>
      </p:sp>
      <p:sp>
        <p:nvSpPr>
          <p:cNvPr id="17" name="Text 12"/>
          <p:cNvSpPr txBox="1"/>
          <p:nvPr/>
        </p:nvSpPr>
        <p:spPr>
          <a:xfrm>
            <a:off x="7863840" y="2148840"/>
            <a:ext cx="3566160" cy="411480"/>
          </a:xfrm>
          <a:prstGeom prst="rect">
            <a:avLst/>
          </a:prstGeom>
          <a:noFill/>
          <a:ln/>
        </p:spPr>
        <p:txBody>
          <a:bodyPr wrap="square" lIns="0" tIns="0" rIns="0" bIns="0" rtlCol="0" anchor="ctr"/>
          <a:lstStyle/>
          <a:p>
            <a:pPr marL="0" indent="0">
              <a:buNone/>
            </a:pPr>
            <a:r>
              <a:rPr lang="en-US" sz="1800" dirty="0">
                <a:solidFill>
                  <a:schemeClr val="bg2"/>
                </a:solidFill>
              </a:rPr>
              <a:t>Using what already works</a:t>
            </a:r>
            <a:endParaRPr lang="en-US" sz="1800" dirty="0"/>
          </a:p>
        </p:txBody>
      </p:sp>
      <p:sp>
        <p:nvSpPr>
          <p:cNvPr id="18" name="Bullets"/>
          <p:cNvSpPr txBox="1"/>
          <p:nvPr/>
        </p:nvSpPr>
        <p:spPr>
          <a:xfrm>
            <a:off x="6812280" y="2880360"/>
            <a:ext cx="4480560" cy="10972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bg1"/>
                </a:solidFill>
              </a:rPr>
              <a:t>Safe and reliable reward</a:t>
            </a:r>
            <a:endParaRPr lang="en-US" sz="1800" dirty="0"/>
          </a:p>
          <a:p>
            <a:pPr marL="228600" indent="-228600">
              <a:spcAft>
                <a:spcPts val="800"/>
              </a:spcAft>
              <a:buSzPct val="100000"/>
              <a:buChar char="•"/>
            </a:pPr>
            <a:r>
              <a:rPr lang="en-US" sz="1800" dirty="0">
                <a:solidFill>
                  <a:schemeClr val="bg1"/>
                </a:solidFill>
              </a:rPr>
              <a:t>Risk: may miss better options</a:t>
            </a:r>
            <a:endParaRPr lang="en-US" sz="1800" dirty="0"/>
          </a:p>
        </p:txBody>
      </p:sp>
      <p:sp>
        <p:nvSpPr>
          <p:cNvPr id="19" name="Chip"/>
          <p:cNvSpPr/>
          <p:nvPr/>
        </p:nvSpPr>
        <p:spPr>
          <a:xfrm>
            <a:off x="6766560" y="4160520"/>
            <a:ext cx="4599432" cy="731520"/>
          </a:xfrm>
          <a:prstGeom prst="roundRect">
            <a:avLst>
              <a:gd name="adj" fmla="val 12500"/>
            </a:avLst>
          </a:prstGeom>
          <a:solidFill>
            <a:schemeClr val="accent4">
              <a:alpha val="20000"/>
            </a:schemeClr>
          </a:solidFill>
          <a:ln w="15875">
            <a:solidFill>
              <a:schemeClr val="accent4"/>
            </a:solidFill>
            <a:prstDash val="solid"/>
          </a:ln>
        </p:spPr>
        <p:txBody>
          <a:bodyPr/>
          <a:lstStyle/>
          <a:p>
            <a:endParaRPr lang="en-IN"/>
          </a:p>
        </p:txBody>
      </p:sp>
      <p:sp>
        <p:nvSpPr>
          <p:cNvPr id="20" name="Text 15"/>
          <p:cNvSpPr txBox="1"/>
          <p:nvPr/>
        </p:nvSpPr>
        <p:spPr>
          <a:xfrm>
            <a:off x="6766560" y="4160520"/>
            <a:ext cx="4599432" cy="731520"/>
          </a:xfrm>
          <a:prstGeom prst="rect">
            <a:avLst/>
          </a:prstGeom>
          <a:noFill/>
          <a:ln/>
        </p:spPr>
        <p:txBody>
          <a:bodyPr wrap="square" lIns="0" tIns="0" rIns="0" bIns="0" rtlCol="0" anchor="ctr"/>
          <a:lstStyle/>
          <a:p>
            <a:pPr marL="0" indent="0" algn="ctr">
              <a:buNone/>
            </a:pPr>
            <a:r>
              <a:rPr lang="en-US" sz="1600" dirty="0">
                <a:solidFill>
                  <a:schemeClr val="bg1"/>
                </a:solidFill>
              </a:rPr>
              <a:t>Restaurant: order your favourite dish</a:t>
            </a:r>
            <a:endParaRPr lang="en-US" sz="1600" dirty="0"/>
          </a:p>
        </p:txBody>
      </p:sp>
      <p:sp>
        <p:nvSpPr>
          <p:cNvPr id="21" name="Circle"/>
          <p:cNvSpPr/>
          <p:nvPr/>
        </p:nvSpPr>
        <p:spPr>
          <a:xfrm>
            <a:off x="5669280" y="3063240"/>
            <a:ext cx="822960" cy="822960"/>
          </a:xfrm>
          <a:prstGeom prst="ellipse">
            <a:avLst/>
          </a:prstGeom>
          <a:solidFill>
            <a:schemeClr val="accent2">
              <a:alpha val="80000"/>
            </a:schemeClr>
          </a:solidFill>
          <a:ln/>
        </p:spPr>
        <p:txBody>
          <a:bodyPr/>
          <a:lstStyle/>
          <a:p>
            <a:endParaRPr lang="en-IN"/>
          </a:p>
        </p:txBody>
      </p:sp>
      <p:sp>
        <p:nvSpPr>
          <p:cNvPr id="22" name="Text 17"/>
          <p:cNvSpPr txBox="1"/>
          <p:nvPr/>
        </p:nvSpPr>
        <p:spPr>
          <a:xfrm>
            <a:off x="5669280" y="306324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VS</a:t>
            </a:r>
            <a:endParaRPr lang="en-US" sz="2200" dirty="0"/>
          </a:p>
        </p:txBody>
      </p:sp>
      <p:sp>
        <p:nvSpPr>
          <p:cNvPr id="23" name="Card"/>
          <p:cNvSpPr/>
          <p:nvPr/>
        </p:nvSpPr>
        <p:spPr>
          <a:xfrm>
            <a:off x="548640" y="5440680"/>
            <a:ext cx="11091672" cy="777240"/>
          </a:xfrm>
          <a:prstGeom prst="roundRect">
            <a:avLst>
              <a:gd name="adj" fmla="val 14118"/>
            </a:avLst>
          </a:prstGeom>
          <a:solidFill>
            <a:schemeClr val="accent2">
              <a:alpha val="15000"/>
            </a:schemeClr>
          </a:solidFill>
          <a:ln w="15875">
            <a:solidFill>
              <a:schemeClr val="accent2"/>
            </a:solidFill>
            <a:prstDash val="solid"/>
          </a:ln>
        </p:spPr>
        <p:txBody>
          <a:bodyPr/>
          <a:lstStyle/>
          <a:p>
            <a:endParaRPr lang="en-IN"/>
          </a:p>
        </p:txBody>
      </p:sp>
      <p:pic>
        <p:nvPicPr>
          <p:cNvPr id="24" name="Icon FaBalanceScale" descr="preencoded.png"/>
          <p:cNvPicPr>
            <a:picLocks noChangeAspect="1"/>
          </p:cNvPicPr>
          <p:nvPr/>
        </p:nvPicPr>
        <p:blipFill>
          <a:blip r:embed="rId5"/>
          <a:stretch>
            <a:fillRect/>
          </a:stretch>
        </p:blipFill>
        <p:spPr>
          <a:xfrm>
            <a:off x="868680" y="5577840"/>
            <a:ext cx="502920" cy="502920"/>
          </a:xfrm>
          <a:prstGeom prst="rect">
            <a:avLst/>
          </a:prstGeom>
        </p:spPr>
      </p:pic>
      <p:sp>
        <p:nvSpPr>
          <p:cNvPr id="25" name="Text 19"/>
          <p:cNvSpPr txBox="1"/>
          <p:nvPr/>
        </p:nvSpPr>
        <p:spPr>
          <a:xfrm>
            <a:off x="1600200" y="5440680"/>
            <a:ext cx="9784080" cy="777240"/>
          </a:xfrm>
          <a:prstGeom prst="rect">
            <a:avLst/>
          </a:prstGeom>
          <a:noFill/>
          <a:ln/>
        </p:spPr>
        <p:txBody>
          <a:bodyPr wrap="square" lIns="0" tIns="0" rIns="0" bIns="0" rtlCol="0" anchor="ctr"/>
          <a:lstStyle/>
          <a:p>
            <a:pPr marL="0" indent="0">
              <a:buNone/>
            </a:pPr>
            <a:r>
              <a:rPr lang="en-US" sz="2000" dirty="0">
                <a:solidFill>
                  <a:schemeClr val="bg1"/>
                </a:solidFill>
              </a:rPr>
              <a:t>RL needs a </a:t>
            </a:r>
            <a:r>
              <a:rPr lang="en-US" sz="2000" b="1" dirty="0">
                <a:solidFill>
                  <a:schemeClr val="accent2"/>
                </a:solidFill>
              </a:rPr>
              <a:t>balance</a:t>
            </a:r>
            <a:r>
              <a:rPr lang="en-US" sz="2000" dirty="0">
                <a:solidFill>
                  <a:schemeClr val="bg1"/>
                </a:solidFill>
              </a:rPr>
              <a:t> of both: explore early, then use what works</a:t>
            </a:r>
            <a:endParaRPr lang="en-US" sz="20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Policy and Learning</a:t>
            </a:r>
            <a:endParaRPr lang="en-US" sz="3800" dirty="0"/>
          </a:p>
        </p:txBody>
      </p:sp>
      <p:sp>
        <p:nvSpPr>
          <p:cNvPr id="5" name="Bullets"/>
          <p:cNvSpPr txBox="1"/>
          <p:nvPr/>
        </p:nvSpPr>
        <p:spPr>
          <a:xfrm>
            <a:off x="548639" y="1645920"/>
            <a:ext cx="5989321" cy="3182111"/>
          </a:xfrm>
          <a:prstGeom prst="rect">
            <a:avLst/>
          </a:prstGeom>
          <a:noFill/>
          <a:ln/>
        </p:spPr>
        <p:txBody>
          <a:bodyPr wrap="square" lIns="0" tIns="0" rIns="0" bIns="0" rtlCol="0" anchor="t"/>
          <a:lstStyle/>
          <a:p>
            <a:pPr marL="228600" indent="-228600">
              <a:spcAft>
                <a:spcPts val="1600"/>
              </a:spcAft>
              <a:buSzPct val="100000"/>
              <a:buChar char="•"/>
            </a:pPr>
            <a:r>
              <a:rPr lang="en-US" sz="2100" b="1" dirty="0">
                <a:solidFill>
                  <a:schemeClr val="accent1"/>
                </a:solidFill>
              </a:rPr>
              <a:t>Policy</a:t>
            </a:r>
            <a:r>
              <a:rPr lang="en-US" sz="2100" dirty="0">
                <a:solidFill>
                  <a:schemeClr val="bg1"/>
                </a:solidFill>
              </a:rPr>
              <a:t> = the agent's strategy</a:t>
            </a:r>
            <a:endParaRPr lang="en-US" sz="2100" dirty="0"/>
          </a:p>
          <a:p>
            <a:pPr marL="228600" indent="-228600">
              <a:spcAft>
                <a:spcPts val="1600"/>
              </a:spcAft>
              <a:buSzPct val="100000"/>
              <a:buChar char="•"/>
            </a:pPr>
            <a:r>
              <a:rPr lang="en-US" sz="2100" dirty="0">
                <a:solidFill>
                  <a:schemeClr val="bg1"/>
                </a:solidFill>
              </a:rPr>
              <a:t>It tells the agent which </a:t>
            </a:r>
            <a:r>
              <a:rPr lang="en-US" sz="2100" b="1" dirty="0">
                <a:solidFill>
                  <a:schemeClr val="accent1"/>
                </a:solidFill>
              </a:rPr>
              <a:t>action</a:t>
            </a:r>
            <a:r>
              <a:rPr lang="en-US" sz="2100" b="1" dirty="0"/>
              <a:t> </a:t>
            </a:r>
            <a:r>
              <a:rPr lang="en-US" sz="2100" dirty="0">
                <a:solidFill>
                  <a:schemeClr val="bg1"/>
                </a:solidFill>
              </a:rPr>
              <a:t>to take in each </a:t>
            </a:r>
            <a:r>
              <a:rPr lang="en-US" sz="2100" b="1" dirty="0">
                <a:solidFill>
                  <a:schemeClr val="accent1"/>
                </a:solidFill>
              </a:rPr>
              <a:t>state</a:t>
            </a:r>
            <a:endParaRPr lang="en-US" sz="2100" dirty="0"/>
          </a:p>
          <a:p>
            <a:pPr marL="228600" indent="-228600">
              <a:spcAft>
                <a:spcPts val="1600"/>
              </a:spcAft>
              <a:buSzPct val="100000"/>
              <a:buChar char="•"/>
            </a:pPr>
            <a:r>
              <a:rPr lang="en-US" sz="2100" dirty="0">
                <a:solidFill>
                  <a:schemeClr val="bg1"/>
                </a:solidFill>
              </a:rPr>
              <a:t>Example: wall ahead → turn right</a:t>
            </a:r>
            <a:endParaRPr lang="en-US" sz="2100" dirty="0"/>
          </a:p>
          <a:p>
            <a:pPr marL="228600" indent="-228600">
              <a:spcAft>
                <a:spcPts val="1600"/>
              </a:spcAft>
              <a:buSzPct val="100000"/>
              <a:buChar char="•"/>
            </a:pPr>
            <a:r>
              <a:rPr lang="en-US" sz="2100" dirty="0">
                <a:solidFill>
                  <a:schemeClr val="bg1"/>
                </a:solidFill>
              </a:rPr>
              <a:t>Learning = making the policy better</a:t>
            </a:r>
            <a:endParaRPr lang="en-US" sz="2100" dirty="0"/>
          </a:p>
        </p:txBody>
      </p:sp>
      <p:sp>
        <p:nvSpPr>
          <p:cNvPr id="6" name="Circle"/>
          <p:cNvSpPr/>
          <p:nvPr/>
        </p:nvSpPr>
        <p:spPr>
          <a:xfrm>
            <a:off x="8275320" y="2743200"/>
            <a:ext cx="1371600" cy="1371600"/>
          </a:xfrm>
          <a:prstGeom prst="ellipse">
            <a:avLst/>
          </a:prstGeom>
          <a:solidFill>
            <a:schemeClr val="accent1">
              <a:alpha val="18000"/>
            </a:schemeClr>
          </a:solidFill>
          <a:ln w="19050">
            <a:solidFill>
              <a:schemeClr val="accent1"/>
            </a:solidFill>
            <a:prstDash val="solid"/>
          </a:ln>
        </p:spPr>
        <p:txBody>
          <a:bodyPr/>
          <a:lstStyle/>
          <a:p>
            <a:endParaRPr lang="en-IN"/>
          </a:p>
        </p:txBody>
      </p:sp>
      <p:pic>
        <p:nvPicPr>
          <p:cNvPr id="7" name="Icon FaRobot" descr="preencoded.png"/>
          <p:cNvPicPr>
            <a:picLocks noChangeAspect="1"/>
          </p:cNvPicPr>
          <p:nvPr/>
        </p:nvPicPr>
        <p:blipFill>
          <a:blip r:embed="rId3"/>
          <a:stretch>
            <a:fillRect/>
          </a:stretch>
        </p:blipFill>
        <p:spPr>
          <a:xfrm>
            <a:off x="8595360" y="3063240"/>
            <a:ext cx="731520" cy="731520"/>
          </a:xfrm>
          <a:prstGeom prst="rect">
            <a:avLst/>
          </a:prstGeom>
        </p:spPr>
      </p:pic>
      <p:sp>
        <p:nvSpPr>
          <p:cNvPr id="8" name="Chip"/>
          <p:cNvSpPr/>
          <p:nvPr/>
        </p:nvSpPr>
        <p:spPr>
          <a:xfrm>
            <a:off x="8138160" y="1874520"/>
            <a:ext cx="1645920" cy="548640"/>
          </a:xfrm>
          <a:prstGeom prst="roundRect">
            <a:avLst>
              <a:gd name="adj" fmla="val 16667"/>
            </a:avLst>
          </a:prstGeom>
          <a:solidFill>
            <a:schemeClr val="accent2">
              <a:alpha val="20000"/>
            </a:schemeClr>
          </a:solidFill>
          <a:ln w="15875">
            <a:solidFill>
              <a:schemeClr val="accent2"/>
            </a:solidFill>
            <a:prstDash val="solid"/>
          </a:ln>
        </p:spPr>
        <p:txBody>
          <a:bodyPr/>
          <a:lstStyle/>
          <a:p>
            <a:endParaRPr lang="en-IN"/>
          </a:p>
        </p:txBody>
      </p:sp>
      <p:sp>
        <p:nvSpPr>
          <p:cNvPr id="9" name="Text 5"/>
          <p:cNvSpPr txBox="1"/>
          <p:nvPr/>
        </p:nvSpPr>
        <p:spPr>
          <a:xfrm>
            <a:off x="8138160" y="1874520"/>
            <a:ext cx="1645920" cy="548640"/>
          </a:xfrm>
          <a:prstGeom prst="rect">
            <a:avLst/>
          </a:prstGeom>
          <a:noFill/>
          <a:ln/>
        </p:spPr>
        <p:txBody>
          <a:bodyPr wrap="square" lIns="0" tIns="0" rIns="0" bIns="0" rtlCol="0" anchor="ctr"/>
          <a:lstStyle/>
          <a:p>
            <a:pPr marL="0" indent="0" algn="ctr">
              <a:buNone/>
            </a:pPr>
            <a:r>
              <a:rPr lang="en-US" sz="1700" b="1" dirty="0">
                <a:solidFill>
                  <a:schemeClr val="bg1"/>
                </a:solidFill>
              </a:rPr>
              <a:t>Forward</a:t>
            </a:r>
            <a:endParaRPr lang="en-US" sz="1700" dirty="0"/>
          </a:p>
        </p:txBody>
      </p:sp>
      <p:sp>
        <p:nvSpPr>
          <p:cNvPr id="10" name="Chip"/>
          <p:cNvSpPr/>
          <p:nvPr/>
        </p:nvSpPr>
        <p:spPr>
          <a:xfrm>
            <a:off x="8138160" y="4434840"/>
            <a:ext cx="1645920" cy="548640"/>
          </a:xfrm>
          <a:prstGeom prst="roundRect">
            <a:avLst>
              <a:gd name="adj" fmla="val 16667"/>
            </a:avLst>
          </a:prstGeom>
          <a:solidFill>
            <a:schemeClr val="accent2">
              <a:alpha val="20000"/>
            </a:schemeClr>
          </a:solidFill>
          <a:ln w="15875">
            <a:solidFill>
              <a:schemeClr val="accent2"/>
            </a:solidFill>
            <a:prstDash val="solid"/>
          </a:ln>
        </p:spPr>
        <p:txBody>
          <a:bodyPr/>
          <a:lstStyle/>
          <a:p>
            <a:endParaRPr lang="en-IN"/>
          </a:p>
        </p:txBody>
      </p:sp>
      <p:sp>
        <p:nvSpPr>
          <p:cNvPr id="11" name="Text 7"/>
          <p:cNvSpPr txBox="1"/>
          <p:nvPr/>
        </p:nvSpPr>
        <p:spPr>
          <a:xfrm>
            <a:off x="8138160" y="4434840"/>
            <a:ext cx="1645920" cy="548640"/>
          </a:xfrm>
          <a:prstGeom prst="rect">
            <a:avLst/>
          </a:prstGeom>
          <a:noFill/>
          <a:ln/>
        </p:spPr>
        <p:txBody>
          <a:bodyPr wrap="square" lIns="0" tIns="0" rIns="0" bIns="0" rtlCol="0" anchor="ctr"/>
          <a:lstStyle/>
          <a:p>
            <a:pPr marL="0" indent="0" algn="ctr">
              <a:buNone/>
            </a:pPr>
            <a:r>
              <a:rPr lang="en-US" sz="1700" b="1" dirty="0">
                <a:solidFill>
                  <a:schemeClr val="bg1"/>
                </a:solidFill>
              </a:rPr>
              <a:t>Backward</a:t>
            </a:r>
            <a:endParaRPr lang="en-US" sz="1700" dirty="0"/>
          </a:p>
        </p:txBody>
      </p:sp>
      <p:sp>
        <p:nvSpPr>
          <p:cNvPr id="12" name="Chip"/>
          <p:cNvSpPr/>
          <p:nvPr/>
        </p:nvSpPr>
        <p:spPr>
          <a:xfrm>
            <a:off x="6537960" y="3154680"/>
            <a:ext cx="1371600" cy="548640"/>
          </a:xfrm>
          <a:prstGeom prst="roundRect">
            <a:avLst>
              <a:gd name="adj" fmla="val 16667"/>
            </a:avLst>
          </a:prstGeom>
          <a:solidFill>
            <a:schemeClr val="accent2">
              <a:alpha val="20000"/>
            </a:schemeClr>
          </a:solidFill>
          <a:ln w="15875">
            <a:solidFill>
              <a:schemeClr val="accent2"/>
            </a:solidFill>
            <a:prstDash val="solid"/>
          </a:ln>
        </p:spPr>
        <p:txBody>
          <a:bodyPr/>
          <a:lstStyle/>
          <a:p>
            <a:endParaRPr lang="en-IN"/>
          </a:p>
        </p:txBody>
      </p:sp>
      <p:sp>
        <p:nvSpPr>
          <p:cNvPr id="13" name="Text 9"/>
          <p:cNvSpPr txBox="1"/>
          <p:nvPr/>
        </p:nvSpPr>
        <p:spPr>
          <a:xfrm>
            <a:off x="6537960" y="3154680"/>
            <a:ext cx="1371600" cy="548640"/>
          </a:xfrm>
          <a:prstGeom prst="rect">
            <a:avLst/>
          </a:prstGeom>
          <a:noFill/>
          <a:ln/>
        </p:spPr>
        <p:txBody>
          <a:bodyPr wrap="square" lIns="0" tIns="0" rIns="0" bIns="0" rtlCol="0" anchor="ctr"/>
          <a:lstStyle/>
          <a:p>
            <a:pPr marL="0" indent="0" algn="ctr">
              <a:buNone/>
            </a:pPr>
            <a:r>
              <a:rPr lang="en-US" sz="1700" b="1" dirty="0">
                <a:solidFill>
                  <a:schemeClr val="bg1"/>
                </a:solidFill>
              </a:rPr>
              <a:t>Left</a:t>
            </a:r>
            <a:endParaRPr lang="en-US" sz="1700" dirty="0"/>
          </a:p>
        </p:txBody>
      </p:sp>
      <p:sp>
        <p:nvSpPr>
          <p:cNvPr id="14" name="Chip"/>
          <p:cNvSpPr/>
          <p:nvPr/>
        </p:nvSpPr>
        <p:spPr>
          <a:xfrm>
            <a:off x="10012680" y="3154680"/>
            <a:ext cx="1600200" cy="548640"/>
          </a:xfrm>
          <a:prstGeom prst="roundRect">
            <a:avLst>
              <a:gd name="adj" fmla="val 16667"/>
            </a:avLst>
          </a:prstGeom>
          <a:solidFill>
            <a:schemeClr val="accent3">
              <a:alpha val="45000"/>
            </a:schemeClr>
          </a:solidFill>
          <a:ln w="15875">
            <a:solidFill>
              <a:schemeClr val="accent3"/>
            </a:solidFill>
            <a:prstDash val="solid"/>
          </a:ln>
        </p:spPr>
        <p:txBody>
          <a:bodyPr/>
          <a:lstStyle/>
          <a:p>
            <a:endParaRPr lang="en-IN"/>
          </a:p>
        </p:txBody>
      </p:sp>
      <p:sp>
        <p:nvSpPr>
          <p:cNvPr id="15" name="Text 11"/>
          <p:cNvSpPr txBox="1"/>
          <p:nvPr/>
        </p:nvSpPr>
        <p:spPr>
          <a:xfrm>
            <a:off x="10012680" y="3154680"/>
            <a:ext cx="1600200" cy="548640"/>
          </a:xfrm>
          <a:prstGeom prst="rect">
            <a:avLst/>
          </a:prstGeom>
          <a:noFill/>
          <a:ln/>
        </p:spPr>
        <p:txBody>
          <a:bodyPr wrap="square" lIns="0" tIns="0" rIns="0" bIns="0" rtlCol="0" anchor="ctr"/>
          <a:lstStyle/>
          <a:p>
            <a:pPr marL="0" indent="0" algn="ctr">
              <a:buNone/>
            </a:pPr>
            <a:r>
              <a:rPr lang="en-US" sz="1700" b="1" dirty="0">
                <a:solidFill>
                  <a:schemeClr val="bg1"/>
                </a:solidFill>
              </a:rPr>
              <a:t>Right ✓</a:t>
            </a:r>
            <a:endParaRPr lang="en-US" sz="1700" dirty="0"/>
          </a:p>
        </p:txBody>
      </p:sp>
      <p:sp>
        <p:nvSpPr>
          <p:cNvPr id="16" name="Arrow"/>
          <p:cNvSpPr/>
          <p:nvPr/>
        </p:nvSpPr>
        <p:spPr>
          <a:xfrm flipV="1">
            <a:off x="8961120" y="2468880"/>
            <a:ext cx="0" cy="228600"/>
          </a:xfrm>
          <a:prstGeom prst="line">
            <a:avLst/>
          </a:prstGeom>
          <a:noFill/>
          <a:ln w="25400">
            <a:solidFill>
              <a:schemeClr val="bg2"/>
            </a:solidFill>
            <a:prstDash val="solid"/>
            <a:tailEnd type="triangle"/>
          </a:ln>
        </p:spPr>
        <p:txBody>
          <a:bodyPr/>
          <a:lstStyle/>
          <a:p>
            <a:endParaRPr lang="en-IN"/>
          </a:p>
        </p:txBody>
      </p:sp>
      <p:sp>
        <p:nvSpPr>
          <p:cNvPr id="17" name="Arrow"/>
          <p:cNvSpPr/>
          <p:nvPr/>
        </p:nvSpPr>
        <p:spPr>
          <a:xfrm>
            <a:off x="8961120" y="4160520"/>
            <a:ext cx="0" cy="228600"/>
          </a:xfrm>
          <a:prstGeom prst="line">
            <a:avLst/>
          </a:prstGeom>
          <a:noFill/>
          <a:ln w="25400">
            <a:solidFill>
              <a:schemeClr val="bg2"/>
            </a:solidFill>
            <a:prstDash val="solid"/>
            <a:tailEnd type="triangle"/>
          </a:ln>
        </p:spPr>
        <p:txBody>
          <a:bodyPr/>
          <a:lstStyle/>
          <a:p>
            <a:endParaRPr lang="en-IN"/>
          </a:p>
        </p:txBody>
      </p:sp>
      <p:sp>
        <p:nvSpPr>
          <p:cNvPr id="18" name="Arrow"/>
          <p:cNvSpPr/>
          <p:nvPr/>
        </p:nvSpPr>
        <p:spPr>
          <a:xfrm flipH="1">
            <a:off x="7955280" y="3429000"/>
            <a:ext cx="274320" cy="0"/>
          </a:xfrm>
          <a:prstGeom prst="line">
            <a:avLst/>
          </a:prstGeom>
          <a:noFill/>
          <a:ln w="25400">
            <a:solidFill>
              <a:schemeClr val="bg2"/>
            </a:solidFill>
            <a:prstDash val="solid"/>
            <a:tailEnd type="triangle"/>
          </a:ln>
        </p:spPr>
        <p:txBody>
          <a:bodyPr/>
          <a:lstStyle/>
          <a:p>
            <a:endParaRPr lang="en-IN"/>
          </a:p>
        </p:txBody>
      </p:sp>
      <p:sp>
        <p:nvSpPr>
          <p:cNvPr id="19" name="Arrow"/>
          <p:cNvSpPr/>
          <p:nvPr/>
        </p:nvSpPr>
        <p:spPr>
          <a:xfrm>
            <a:off x="9692640" y="3429000"/>
            <a:ext cx="274320" cy="0"/>
          </a:xfrm>
          <a:prstGeom prst="line">
            <a:avLst/>
          </a:prstGeom>
          <a:noFill/>
          <a:ln w="38100">
            <a:solidFill>
              <a:schemeClr val="accent3"/>
            </a:solidFill>
            <a:prstDash val="solid"/>
            <a:tailEnd type="triangle"/>
          </a:ln>
        </p:spPr>
        <p:txBody>
          <a:bodyPr/>
          <a:lstStyle/>
          <a:p>
            <a:endParaRPr lang="en-IN"/>
          </a:p>
        </p:txBody>
      </p:sp>
      <p:sp>
        <p:nvSpPr>
          <p:cNvPr id="20" name="Text 16"/>
          <p:cNvSpPr txBox="1"/>
          <p:nvPr/>
        </p:nvSpPr>
        <p:spPr>
          <a:xfrm>
            <a:off x="6400800" y="5074920"/>
            <a:ext cx="5394960" cy="365760"/>
          </a:xfrm>
          <a:prstGeom prst="rect">
            <a:avLst/>
          </a:prstGeom>
          <a:noFill/>
          <a:ln/>
        </p:spPr>
        <p:txBody>
          <a:bodyPr wrap="square" lIns="0" tIns="0" rIns="0" bIns="0" rtlCol="0" anchor="ctr"/>
          <a:lstStyle/>
          <a:p>
            <a:pPr marL="0" indent="0" algn="ctr">
              <a:buNone/>
            </a:pPr>
            <a:r>
              <a:rPr lang="en-US" sz="1500" i="1" dirty="0">
                <a:solidFill>
                  <a:schemeClr val="bg2"/>
                </a:solidFill>
              </a:rPr>
              <a:t>State: wall ahead  →  Policy picks: Right</a:t>
            </a:r>
            <a:endParaRPr lang="en-US" sz="1500" dirty="0"/>
          </a:p>
        </p:txBody>
      </p:sp>
      <p:sp>
        <p:nvSpPr>
          <p:cNvPr id="21" name="Chip"/>
          <p:cNvSpPr/>
          <p:nvPr/>
        </p:nvSpPr>
        <p:spPr>
          <a:xfrm>
            <a:off x="548640" y="5532120"/>
            <a:ext cx="2926080" cy="640080"/>
          </a:xfrm>
          <a:prstGeom prst="roundRect">
            <a:avLst>
              <a:gd name="adj" fmla="val 14286"/>
            </a:avLst>
          </a:prstGeom>
          <a:solidFill>
            <a:schemeClr val="accent1">
              <a:alpha val="20000"/>
            </a:schemeClr>
          </a:solidFill>
          <a:ln w="15875">
            <a:solidFill>
              <a:schemeClr val="accent1"/>
            </a:solidFill>
            <a:prstDash val="solid"/>
          </a:ln>
        </p:spPr>
        <p:txBody>
          <a:bodyPr/>
          <a:lstStyle/>
          <a:p>
            <a:endParaRPr lang="en-IN"/>
          </a:p>
        </p:txBody>
      </p:sp>
      <p:sp>
        <p:nvSpPr>
          <p:cNvPr id="22" name="Text 18"/>
          <p:cNvSpPr txBox="1"/>
          <p:nvPr/>
        </p:nvSpPr>
        <p:spPr>
          <a:xfrm>
            <a:off x="548640" y="5532120"/>
            <a:ext cx="2926080" cy="640080"/>
          </a:xfrm>
          <a:prstGeom prst="rect">
            <a:avLst/>
          </a:prstGeom>
          <a:noFill/>
          <a:ln/>
        </p:spPr>
        <p:txBody>
          <a:bodyPr wrap="square" lIns="0" tIns="0" rIns="0" bIns="0" rtlCol="0" anchor="ctr"/>
          <a:lstStyle/>
          <a:p>
            <a:pPr marL="0" indent="0" algn="ctr">
              <a:buNone/>
            </a:pPr>
            <a:r>
              <a:rPr lang="en-US" sz="1800" b="1" dirty="0">
                <a:solidFill>
                  <a:schemeClr val="bg1"/>
                </a:solidFill>
              </a:rPr>
              <a:t>Good policy</a:t>
            </a:r>
            <a:endParaRPr lang="en-US" sz="1800" dirty="0"/>
          </a:p>
        </p:txBody>
      </p:sp>
      <p:sp>
        <p:nvSpPr>
          <p:cNvPr id="23" name="Arrow"/>
          <p:cNvSpPr/>
          <p:nvPr/>
        </p:nvSpPr>
        <p:spPr>
          <a:xfrm>
            <a:off x="3566160" y="5852160"/>
            <a:ext cx="548640" cy="0"/>
          </a:xfrm>
          <a:prstGeom prst="line">
            <a:avLst/>
          </a:prstGeom>
          <a:noFill/>
          <a:ln w="28575">
            <a:solidFill>
              <a:schemeClr val="bg2"/>
            </a:solidFill>
            <a:prstDash val="solid"/>
            <a:tailEnd type="triangle"/>
          </a:ln>
        </p:spPr>
        <p:txBody>
          <a:bodyPr/>
          <a:lstStyle/>
          <a:p>
            <a:endParaRPr lang="en-IN"/>
          </a:p>
        </p:txBody>
      </p:sp>
      <p:sp>
        <p:nvSpPr>
          <p:cNvPr id="24" name="Chip"/>
          <p:cNvSpPr/>
          <p:nvPr/>
        </p:nvSpPr>
        <p:spPr>
          <a:xfrm>
            <a:off x="4206240" y="5532120"/>
            <a:ext cx="2926080" cy="640080"/>
          </a:xfrm>
          <a:prstGeom prst="roundRect">
            <a:avLst>
              <a:gd name="adj" fmla="val 14286"/>
            </a:avLst>
          </a:prstGeom>
          <a:solidFill>
            <a:schemeClr val="accent2">
              <a:alpha val="20000"/>
            </a:schemeClr>
          </a:solidFill>
          <a:ln w="15875">
            <a:solidFill>
              <a:schemeClr val="accent2"/>
            </a:solidFill>
            <a:prstDash val="solid"/>
          </a:ln>
        </p:spPr>
        <p:txBody>
          <a:bodyPr/>
          <a:lstStyle/>
          <a:p>
            <a:endParaRPr lang="en-IN"/>
          </a:p>
        </p:txBody>
      </p:sp>
      <p:sp>
        <p:nvSpPr>
          <p:cNvPr id="25" name="Text 21"/>
          <p:cNvSpPr txBox="1"/>
          <p:nvPr/>
        </p:nvSpPr>
        <p:spPr>
          <a:xfrm>
            <a:off x="4206240" y="5532120"/>
            <a:ext cx="2926080" cy="640080"/>
          </a:xfrm>
          <a:prstGeom prst="rect">
            <a:avLst/>
          </a:prstGeom>
          <a:noFill/>
          <a:ln/>
        </p:spPr>
        <p:txBody>
          <a:bodyPr wrap="square" lIns="0" tIns="0" rIns="0" bIns="0" rtlCol="0" anchor="ctr"/>
          <a:lstStyle/>
          <a:p>
            <a:pPr marL="0" indent="0" algn="ctr">
              <a:buNone/>
            </a:pPr>
            <a:r>
              <a:rPr lang="en-US" sz="1800" b="1" dirty="0">
                <a:solidFill>
                  <a:schemeClr val="bg1"/>
                </a:solidFill>
              </a:rPr>
              <a:t>Better decisions</a:t>
            </a:r>
            <a:endParaRPr lang="en-US" sz="1800" dirty="0"/>
          </a:p>
        </p:txBody>
      </p:sp>
      <p:sp>
        <p:nvSpPr>
          <p:cNvPr id="26" name="Arrow"/>
          <p:cNvSpPr/>
          <p:nvPr/>
        </p:nvSpPr>
        <p:spPr>
          <a:xfrm>
            <a:off x="7223760" y="5852160"/>
            <a:ext cx="548640" cy="0"/>
          </a:xfrm>
          <a:prstGeom prst="line">
            <a:avLst/>
          </a:prstGeom>
          <a:noFill/>
          <a:ln w="28575">
            <a:solidFill>
              <a:schemeClr val="bg2"/>
            </a:solidFill>
            <a:prstDash val="solid"/>
            <a:tailEnd type="triangle"/>
          </a:ln>
        </p:spPr>
        <p:txBody>
          <a:bodyPr/>
          <a:lstStyle/>
          <a:p>
            <a:endParaRPr lang="en-IN"/>
          </a:p>
        </p:txBody>
      </p:sp>
      <p:sp>
        <p:nvSpPr>
          <p:cNvPr id="27" name="Chip"/>
          <p:cNvSpPr/>
          <p:nvPr/>
        </p:nvSpPr>
        <p:spPr>
          <a:xfrm>
            <a:off x="7863840" y="5532120"/>
            <a:ext cx="2926080" cy="640080"/>
          </a:xfrm>
          <a:prstGeom prst="roundRect">
            <a:avLst>
              <a:gd name="adj" fmla="val 14286"/>
            </a:avLst>
          </a:prstGeom>
          <a:solidFill>
            <a:schemeClr val="accent4">
              <a:alpha val="20000"/>
            </a:schemeClr>
          </a:solidFill>
          <a:ln w="15875">
            <a:solidFill>
              <a:schemeClr val="accent4"/>
            </a:solidFill>
            <a:prstDash val="solid"/>
          </a:ln>
        </p:spPr>
        <p:txBody>
          <a:bodyPr/>
          <a:lstStyle/>
          <a:p>
            <a:endParaRPr lang="en-IN"/>
          </a:p>
        </p:txBody>
      </p:sp>
      <p:sp>
        <p:nvSpPr>
          <p:cNvPr id="28" name="Text 24"/>
          <p:cNvSpPr txBox="1"/>
          <p:nvPr/>
        </p:nvSpPr>
        <p:spPr>
          <a:xfrm>
            <a:off x="7863840" y="5532120"/>
            <a:ext cx="2926080" cy="640080"/>
          </a:xfrm>
          <a:prstGeom prst="rect">
            <a:avLst/>
          </a:prstGeom>
          <a:noFill/>
          <a:ln/>
        </p:spPr>
        <p:txBody>
          <a:bodyPr wrap="square" lIns="0" tIns="0" rIns="0" bIns="0" rtlCol="0" anchor="ctr"/>
          <a:lstStyle/>
          <a:p>
            <a:pPr marL="0" indent="0" algn="ctr">
              <a:buNone/>
            </a:pPr>
            <a:r>
              <a:rPr lang="en-US" sz="1800" b="1" dirty="0">
                <a:solidFill>
                  <a:schemeClr val="bg1"/>
                </a:solidFill>
              </a:rPr>
              <a:t>Higher rewards</a:t>
            </a:r>
            <a:endParaRPr lang="en-US" sz="18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Types of Reinforcement Learning</a:t>
            </a:r>
            <a:endParaRPr lang="en-US" sz="3800" dirty="0"/>
          </a:p>
        </p:txBody>
      </p:sp>
      <p:sp>
        <p:nvSpPr>
          <p:cNvPr id="5" name="Text 2"/>
          <p:cNvSpPr txBox="1"/>
          <p:nvPr/>
        </p:nvSpPr>
        <p:spPr>
          <a:xfrm>
            <a:off x="548640" y="1371600"/>
            <a:ext cx="5486400" cy="365760"/>
          </a:xfrm>
          <a:prstGeom prst="rect">
            <a:avLst/>
          </a:prstGeom>
          <a:noFill/>
          <a:ln/>
        </p:spPr>
        <p:txBody>
          <a:bodyPr wrap="square" lIns="0" tIns="0" rIns="0" bIns="0" rtlCol="0" anchor="ctr"/>
          <a:lstStyle/>
          <a:p>
            <a:pPr marL="0" indent="0">
              <a:buNone/>
            </a:pPr>
            <a:r>
              <a:rPr lang="en-US" sz="1900" b="1" dirty="0">
                <a:solidFill>
                  <a:schemeClr val="bg2"/>
                </a:solidFill>
              </a:rPr>
              <a:t>Two kinds of feedback</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457200">
                <a:tc>
                  <a:txBody>
                    <a:bodyPr/>
                    <a:lstStyle/>
                    <a:p>
                      <a:pPr marL="0" indent="0">
                        <a:buNone/>
                      </a:pPr>
                      <a:r>
                        <a:rPr lang="en-US" sz="1600" b="1" dirty="0">
                          <a:solidFill>
                            <a:schemeClr val="tx1"/>
                          </a:solidFill>
                        </a:rPr>
                        <a:t>Type</a:t>
                      </a:r>
                      <a:endParaRPr lang="en-US" sz="16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tx1"/>
                          </a:solidFill>
                        </a:rPr>
                        <a:t>What it means</a:t>
                      </a:r>
                      <a:endParaRPr lang="en-US" sz="16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tx1"/>
                          </a:solidFill>
                        </a:rPr>
                        <a:t>Example</a:t>
                      </a:r>
                      <a:endParaRPr lang="en-US" sz="16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500" b="1" dirty="0">
                          <a:solidFill>
                            <a:schemeClr val="accent1"/>
                          </a:solidFill>
                        </a:rPr>
                        <a:t>Positive Reinforcement</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Add a reward after a good action</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Coin for finishing a level</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731520">
                <a:tc>
                  <a:txBody>
                    <a:bodyPr/>
                    <a:lstStyle/>
                    <a:p>
                      <a:pPr marL="0" indent="0">
                        <a:buNone/>
                      </a:pPr>
                      <a:r>
                        <a:rPr lang="en-US" sz="1500" b="1" dirty="0">
                          <a:solidFill>
                            <a:schemeClr val="accent1"/>
                          </a:solidFill>
                        </a:rPr>
                        <a:t>Negative Reinforcement</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Remove something unpleasant after a good action</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Alarm stops when the robot reaches the safe zone</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2"/>
                  </a:ext>
                </a:extLst>
              </a:tr>
            </a:tbl>
          </a:graphicData>
        </a:graphic>
      </p:graphicFrame>
      <p:sp>
        <p:nvSpPr>
          <p:cNvPr id="7" name="Text 3"/>
          <p:cNvSpPr txBox="1"/>
          <p:nvPr/>
        </p:nvSpPr>
        <p:spPr>
          <a:xfrm>
            <a:off x="548640" y="3840480"/>
            <a:ext cx="5486400" cy="365760"/>
          </a:xfrm>
          <a:prstGeom prst="rect">
            <a:avLst/>
          </a:prstGeom>
          <a:noFill/>
          <a:ln/>
        </p:spPr>
        <p:txBody>
          <a:bodyPr wrap="square" lIns="0" tIns="0" rIns="0" bIns="0" rtlCol="0" anchor="ctr"/>
          <a:lstStyle/>
          <a:p>
            <a:pPr marL="0" indent="0">
              <a:buNone/>
            </a:pPr>
            <a:r>
              <a:rPr lang="en-US" sz="1900" b="1" dirty="0">
                <a:solidFill>
                  <a:schemeClr val="bg2"/>
                </a:solidFill>
              </a:rPr>
              <a:t>Two main approaches</a:t>
            </a:r>
            <a:endParaRPr lang="en-US" sz="19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 y="4251960"/>
          <a:ext cx="11091672"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457200">
                <a:tc>
                  <a:txBody>
                    <a:bodyPr/>
                    <a:lstStyle/>
                    <a:p>
                      <a:pPr marL="0" indent="0">
                        <a:buNone/>
                      </a:pPr>
                      <a:r>
                        <a:rPr lang="en-US" sz="1600" b="1" dirty="0">
                          <a:solidFill>
                            <a:schemeClr val="tx1"/>
                          </a:solidFill>
                        </a:rPr>
                        <a:t>Approach</a:t>
                      </a:r>
                      <a:endParaRPr lang="en-US" sz="16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tx1"/>
                          </a:solidFill>
                        </a:rPr>
                        <a:t>What it means</a:t>
                      </a:r>
                      <a:endParaRPr lang="en-US" sz="16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tx1"/>
                          </a:solidFill>
                        </a:rPr>
                        <a:t>Example</a:t>
                      </a:r>
                      <a:endParaRPr lang="en-US" sz="16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731520">
                <a:tc>
                  <a:txBody>
                    <a:bodyPr/>
                    <a:lstStyle/>
                    <a:p>
                      <a:pPr marL="0" indent="0">
                        <a:buNone/>
                      </a:pPr>
                      <a:r>
                        <a:rPr lang="en-US" sz="1500" b="1" dirty="0">
                          <a:solidFill>
                            <a:schemeClr val="accent2"/>
                          </a:solidFill>
                        </a:rPr>
                        <a:t>Model-Free Learning</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Learns only by trial and error</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Learning a game just by playing it</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731520">
                <a:tc>
                  <a:txBody>
                    <a:bodyPr/>
                    <a:lstStyle/>
                    <a:p>
                      <a:pPr marL="0" indent="0">
                        <a:buNone/>
                      </a:pPr>
                      <a:r>
                        <a:rPr lang="en-US" sz="1500" b="1" dirty="0">
                          <a:solidFill>
                            <a:schemeClr val="accent2"/>
                          </a:solidFill>
                        </a:rPr>
                        <a:t>Model-Based Learning</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Builds a small map of the world, then plans ahead</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tc>
                  <a:txBody>
                    <a:bodyPr/>
                    <a:lstStyle/>
                    <a:p>
                      <a:pPr marL="0" indent="0">
                        <a:buNone/>
                      </a:pPr>
                      <a:r>
                        <a:rPr lang="en-US" sz="1500" dirty="0">
                          <a:solidFill>
                            <a:schemeClr val="bg1"/>
                          </a:solidFill>
                        </a:rPr>
                        <a:t>Robot uses a room map to plan its route</a:t>
                      </a:r>
                      <a:endParaRPr lang="en-US" sz="1500" dirty="0"/>
                    </a:p>
                  </a:txBody>
                  <a:tcPr anchor="ctr">
                    <a:lnL w="25400" cap="flat" cmpd="sng" algn="ctr">
                      <a:solidFill>
                        <a:schemeClr val="tx1"/>
                      </a:solidFill>
                      <a:prstDash val="solid"/>
                      <a:round/>
                      <a:headEnd type="none" w="med" len="med"/>
                      <a:tailEnd type="none" w="med" len="med"/>
                    </a:lnL>
                    <a:lnR w="254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Common Reinforcement Learning Algorithms</a:t>
            </a:r>
            <a:endParaRPr lang="en-US" sz="3800" dirty="0"/>
          </a:p>
        </p:txBody>
      </p:sp>
      <p:sp>
        <p:nvSpPr>
          <p:cNvPr id="5" name="Card"/>
          <p:cNvSpPr/>
          <p:nvPr/>
        </p:nvSpPr>
        <p:spPr>
          <a:xfrm>
            <a:off x="548640" y="1508760"/>
            <a:ext cx="2601468" cy="3611880"/>
          </a:xfrm>
          <a:prstGeom prst="roundRect">
            <a:avLst>
              <a:gd name="adj" fmla="val 4218"/>
            </a:avLst>
          </a:prstGeom>
          <a:solidFill>
            <a:schemeClr val="tx2"/>
          </a:solidFill>
          <a:ln w="38100">
            <a:solidFill>
              <a:schemeClr val="accent1"/>
            </a:solidFill>
            <a:prstDash val="solid"/>
          </a:ln>
        </p:spPr>
        <p:txBody>
          <a:bodyPr/>
          <a:lstStyle/>
          <a:p>
            <a:endParaRPr lang="en-IN"/>
          </a:p>
        </p:txBody>
      </p:sp>
      <p:sp>
        <p:nvSpPr>
          <p:cNvPr id="6" name="Circle"/>
          <p:cNvSpPr/>
          <p:nvPr/>
        </p:nvSpPr>
        <p:spPr>
          <a:xfrm>
            <a:off x="777240" y="1783080"/>
            <a:ext cx="868680" cy="868680"/>
          </a:xfrm>
          <a:prstGeom prst="ellipse">
            <a:avLst/>
          </a:prstGeom>
          <a:solidFill>
            <a:schemeClr val="accent1">
              <a:alpha val="18000"/>
            </a:schemeClr>
          </a:solidFill>
          <a:ln/>
        </p:spPr>
        <p:txBody>
          <a:bodyPr/>
          <a:lstStyle/>
          <a:p>
            <a:endParaRPr lang="en-IN"/>
          </a:p>
        </p:txBody>
      </p:sp>
      <p:pic>
        <p:nvPicPr>
          <p:cNvPr id="7" name="Icon FaTable" descr="preencoded.png"/>
          <p:cNvPicPr>
            <a:picLocks noChangeAspect="1"/>
          </p:cNvPicPr>
          <p:nvPr/>
        </p:nvPicPr>
        <p:blipFill>
          <a:blip r:embed="rId3"/>
          <a:stretch>
            <a:fillRect/>
          </a:stretch>
        </p:blipFill>
        <p:spPr>
          <a:xfrm>
            <a:off x="994410" y="2000250"/>
            <a:ext cx="434340" cy="434340"/>
          </a:xfrm>
          <a:prstGeom prst="rect">
            <a:avLst/>
          </a:prstGeom>
        </p:spPr>
      </p:pic>
      <p:sp>
        <p:nvSpPr>
          <p:cNvPr id="8" name="Text 4"/>
          <p:cNvSpPr txBox="1"/>
          <p:nvPr/>
        </p:nvSpPr>
        <p:spPr>
          <a:xfrm>
            <a:off x="777240" y="2788920"/>
            <a:ext cx="2235708" cy="731520"/>
          </a:xfrm>
          <a:prstGeom prst="rect">
            <a:avLst/>
          </a:prstGeom>
          <a:noFill/>
          <a:ln/>
        </p:spPr>
        <p:txBody>
          <a:bodyPr wrap="square" lIns="0" tIns="0" rIns="0" bIns="0" rtlCol="0" anchor="t"/>
          <a:lstStyle/>
          <a:p>
            <a:pPr marL="0" indent="0">
              <a:buNone/>
            </a:pPr>
            <a:r>
              <a:rPr lang="en-US" sz="2000" b="1" dirty="0">
                <a:solidFill>
                  <a:schemeClr val="accent1"/>
                </a:solidFill>
              </a:rPr>
              <a:t>Q-Learning</a:t>
            </a:r>
            <a:endParaRPr lang="en-US" sz="2000" dirty="0"/>
          </a:p>
        </p:txBody>
      </p:sp>
      <p:sp>
        <p:nvSpPr>
          <p:cNvPr id="9" name="Text 5"/>
          <p:cNvSpPr txBox="1"/>
          <p:nvPr/>
        </p:nvSpPr>
        <p:spPr>
          <a:xfrm>
            <a:off x="777240" y="3520440"/>
            <a:ext cx="2189988" cy="1463040"/>
          </a:xfrm>
          <a:prstGeom prst="rect">
            <a:avLst/>
          </a:prstGeom>
          <a:noFill/>
          <a:ln/>
        </p:spPr>
        <p:txBody>
          <a:bodyPr wrap="square" lIns="0" tIns="0" rIns="0" bIns="0" rtlCol="0" anchor="t"/>
          <a:lstStyle/>
          <a:p>
            <a:pPr marL="0" indent="0">
              <a:buNone/>
            </a:pPr>
            <a:r>
              <a:rPr lang="en-US" sz="1600" dirty="0">
                <a:solidFill>
                  <a:schemeClr val="bg1"/>
                </a:solidFill>
              </a:rPr>
              <a:t>Keeps a score table to remember the best action in each situation.</a:t>
            </a:r>
            <a:endParaRPr lang="en-US" sz="1600" dirty="0"/>
          </a:p>
        </p:txBody>
      </p:sp>
      <p:sp>
        <p:nvSpPr>
          <p:cNvPr id="10" name="Card"/>
          <p:cNvSpPr/>
          <p:nvPr/>
        </p:nvSpPr>
        <p:spPr>
          <a:xfrm>
            <a:off x="3378708" y="1508760"/>
            <a:ext cx="2601468" cy="3611880"/>
          </a:xfrm>
          <a:prstGeom prst="roundRect">
            <a:avLst>
              <a:gd name="adj" fmla="val 4218"/>
            </a:avLst>
          </a:prstGeom>
          <a:solidFill>
            <a:schemeClr val="tx2"/>
          </a:solidFill>
          <a:ln/>
        </p:spPr>
        <p:txBody>
          <a:bodyPr/>
          <a:lstStyle/>
          <a:p>
            <a:endParaRPr lang="en-IN"/>
          </a:p>
        </p:txBody>
      </p:sp>
      <p:sp>
        <p:nvSpPr>
          <p:cNvPr id="11" name="Circle"/>
          <p:cNvSpPr/>
          <p:nvPr/>
        </p:nvSpPr>
        <p:spPr>
          <a:xfrm>
            <a:off x="3607308" y="1783080"/>
            <a:ext cx="868680" cy="868680"/>
          </a:xfrm>
          <a:prstGeom prst="ellipse">
            <a:avLst/>
          </a:prstGeom>
          <a:solidFill>
            <a:schemeClr val="accent2">
              <a:alpha val="18000"/>
            </a:schemeClr>
          </a:solidFill>
          <a:ln/>
        </p:spPr>
        <p:txBody>
          <a:bodyPr/>
          <a:lstStyle/>
          <a:p>
            <a:endParaRPr lang="en-IN"/>
          </a:p>
        </p:txBody>
      </p:sp>
      <p:pic>
        <p:nvPicPr>
          <p:cNvPr id="12" name="Icon FaRandom" descr="preencoded.png"/>
          <p:cNvPicPr>
            <a:picLocks noChangeAspect="1"/>
          </p:cNvPicPr>
          <p:nvPr/>
        </p:nvPicPr>
        <p:blipFill>
          <a:blip r:embed="rId4"/>
          <a:stretch>
            <a:fillRect/>
          </a:stretch>
        </p:blipFill>
        <p:spPr>
          <a:xfrm>
            <a:off x="3824478" y="2000250"/>
            <a:ext cx="434340" cy="434340"/>
          </a:xfrm>
          <a:prstGeom prst="rect">
            <a:avLst/>
          </a:prstGeom>
        </p:spPr>
      </p:pic>
      <p:sp>
        <p:nvSpPr>
          <p:cNvPr id="13" name="Text 8"/>
          <p:cNvSpPr txBox="1"/>
          <p:nvPr/>
        </p:nvSpPr>
        <p:spPr>
          <a:xfrm>
            <a:off x="3607308" y="2788920"/>
            <a:ext cx="2235708" cy="731520"/>
          </a:xfrm>
          <a:prstGeom prst="rect">
            <a:avLst/>
          </a:prstGeom>
          <a:noFill/>
          <a:ln/>
        </p:spPr>
        <p:txBody>
          <a:bodyPr wrap="square" lIns="0" tIns="0" rIns="0" bIns="0" rtlCol="0" anchor="t"/>
          <a:lstStyle/>
          <a:p>
            <a:pPr marL="0" indent="0">
              <a:buNone/>
            </a:pPr>
            <a:r>
              <a:rPr lang="en-US" sz="2000" b="1" dirty="0">
                <a:solidFill>
                  <a:schemeClr val="accent2"/>
                </a:solidFill>
              </a:rPr>
              <a:t>SARSA</a:t>
            </a:r>
            <a:endParaRPr lang="en-US" sz="2000" dirty="0"/>
          </a:p>
        </p:txBody>
      </p:sp>
      <p:sp>
        <p:nvSpPr>
          <p:cNvPr id="14" name="Text 9"/>
          <p:cNvSpPr txBox="1"/>
          <p:nvPr/>
        </p:nvSpPr>
        <p:spPr>
          <a:xfrm>
            <a:off x="3607308" y="3520440"/>
            <a:ext cx="2189988" cy="1463040"/>
          </a:xfrm>
          <a:prstGeom prst="rect">
            <a:avLst/>
          </a:prstGeom>
          <a:noFill/>
          <a:ln/>
        </p:spPr>
        <p:txBody>
          <a:bodyPr wrap="square" lIns="0" tIns="0" rIns="0" bIns="0" rtlCol="0" anchor="t"/>
          <a:lstStyle/>
          <a:p>
            <a:pPr marL="0" indent="0">
              <a:buNone/>
            </a:pPr>
            <a:r>
              <a:rPr lang="en-US" sz="1600" dirty="0">
                <a:solidFill>
                  <a:schemeClr val="bg1"/>
                </a:solidFill>
              </a:rPr>
              <a:t>Like Q-Learning, but it learns from the action it actually takes next.</a:t>
            </a:r>
            <a:endParaRPr lang="en-US" sz="1600" dirty="0"/>
          </a:p>
        </p:txBody>
      </p:sp>
      <p:sp>
        <p:nvSpPr>
          <p:cNvPr id="15" name="Card"/>
          <p:cNvSpPr/>
          <p:nvPr/>
        </p:nvSpPr>
        <p:spPr>
          <a:xfrm>
            <a:off x="6208776" y="1508760"/>
            <a:ext cx="2601468" cy="3611880"/>
          </a:xfrm>
          <a:prstGeom prst="roundRect">
            <a:avLst>
              <a:gd name="adj" fmla="val 4218"/>
            </a:avLst>
          </a:prstGeom>
          <a:solidFill>
            <a:schemeClr val="tx2"/>
          </a:solidFill>
          <a:ln/>
        </p:spPr>
        <p:txBody>
          <a:bodyPr/>
          <a:lstStyle/>
          <a:p>
            <a:endParaRPr lang="en-IN"/>
          </a:p>
        </p:txBody>
      </p:sp>
      <p:sp>
        <p:nvSpPr>
          <p:cNvPr id="16" name="Circle"/>
          <p:cNvSpPr/>
          <p:nvPr/>
        </p:nvSpPr>
        <p:spPr>
          <a:xfrm>
            <a:off x="6437376" y="1783080"/>
            <a:ext cx="868680" cy="868680"/>
          </a:xfrm>
          <a:prstGeom prst="ellipse">
            <a:avLst/>
          </a:prstGeom>
          <a:solidFill>
            <a:schemeClr val="accent6">
              <a:alpha val="18000"/>
            </a:schemeClr>
          </a:solidFill>
          <a:ln/>
        </p:spPr>
        <p:txBody>
          <a:bodyPr/>
          <a:lstStyle/>
          <a:p>
            <a:endParaRPr lang="en-IN"/>
          </a:p>
        </p:txBody>
      </p:sp>
      <p:pic>
        <p:nvPicPr>
          <p:cNvPr id="17" name="Icon FaProjectDiagram" descr="preencoded.png"/>
          <p:cNvPicPr>
            <a:picLocks noChangeAspect="1"/>
          </p:cNvPicPr>
          <p:nvPr/>
        </p:nvPicPr>
        <p:blipFill>
          <a:blip r:embed="rId5"/>
          <a:stretch>
            <a:fillRect/>
          </a:stretch>
        </p:blipFill>
        <p:spPr>
          <a:xfrm>
            <a:off x="6654546" y="2000250"/>
            <a:ext cx="434340" cy="434340"/>
          </a:xfrm>
          <a:prstGeom prst="rect">
            <a:avLst/>
          </a:prstGeom>
        </p:spPr>
      </p:pic>
      <p:sp>
        <p:nvSpPr>
          <p:cNvPr id="18" name="Text 12"/>
          <p:cNvSpPr txBox="1"/>
          <p:nvPr/>
        </p:nvSpPr>
        <p:spPr>
          <a:xfrm>
            <a:off x="6437376" y="2788920"/>
            <a:ext cx="2235708" cy="731520"/>
          </a:xfrm>
          <a:prstGeom prst="rect">
            <a:avLst/>
          </a:prstGeom>
          <a:noFill/>
          <a:ln/>
        </p:spPr>
        <p:txBody>
          <a:bodyPr wrap="square" lIns="0" tIns="0" rIns="0" bIns="0" rtlCol="0" anchor="t"/>
          <a:lstStyle/>
          <a:p>
            <a:pPr marL="0" indent="0">
              <a:buNone/>
            </a:pPr>
            <a:r>
              <a:rPr lang="en-US" sz="2000" b="1" dirty="0">
                <a:solidFill>
                  <a:schemeClr val="accent6"/>
                </a:solidFill>
              </a:rPr>
              <a:t>Deep Q-Network (DQN)</a:t>
            </a:r>
            <a:endParaRPr lang="en-US" sz="2000" dirty="0"/>
          </a:p>
        </p:txBody>
      </p:sp>
      <p:sp>
        <p:nvSpPr>
          <p:cNvPr id="19" name="Text 13"/>
          <p:cNvSpPr txBox="1"/>
          <p:nvPr/>
        </p:nvSpPr>
        <p:spPr>
          <a:xfrm>
            <a:off x="6437376" y="3520440"/>
            <a:ext cx="2189988" cy="1463040"/>
          </a:xfrm>
          <a:prstGeom prst="rect">
            <a:avLst/>
          </a:prstGeom>
          <a:noFill/>
          <a:ln/>
        </p:spPr>
        <p:txBody>
          <a:bodyPr wrap="square" lIns="0" tIns="0" rIns="0" bIns="0" rtlCol="0" anchor="t"/>
          <a:lstStyle/>
          <a:p>
            <a:pPr marL="0" indent="0">
              <a:buNone/>
            </a:pPr>
            <a:r>
              <a:rPr lang="en-US" sz="1600" dirty="0">
                <a:solidFill>
                  <a:schemeClr val="bg1"/>
                </a:solidFill>
              </a:rPr>
              <a:t>Uses a neural network instead of a table, so it can handle big problems.</a:t>
            </a:r>
            <a:endParaRPr lang="en-US" sz="1600" dirty="0"/>
          </a:p>
        </p:txBody>
      </p:sp>
      <p:sp>
        <p:nvSpPr>
          <p:cNvPr id="20" name="Card"/>
          <p:cNvSpPr/>
          <p:nvPr/>
        </p:nvSpPr>
        <p:spPr>
          <a:xfrm>
            <a:off x="9038844" y="1508760"/>
            <a:ext cx="2601468" cy="3611880"/>
          </a:xfrm>
          <a:prstGeom prst="roundRect">
            <a:avLst>
              <a:gd name="adj" fmla="val 4218"/>
            </a:avLst>
          </a:prstGeom>
          <a:solidFill>
            <a:schemeClr val="tx2"/>
          </a:solidFill>
          <a:ln/>
        </p:spPr>
        <p:txBody>
          <a:bodyPr/>
          <a:lstStyle/>
          <a:p>
            <a:endParaRPr lang="en-IN"/>
          </a:p>
        </p:txBody>
      </p:sp>
      <p:sp>
        <p:nvSpPr>
          <p:cNvPr id="21" name="Circle"/>
          <p:cNvSpPr/>
          <p:nvPr/>
        </p:nvSpPr>
        <p:spPr>
          <a:xfrm>
            <a:off x="9267444" y="1783080"/>
            <a:ext cx="868680" cy="868680"/>
          </a:xfrm>
          <a:prstGeom prst="ellipse">
            <a:avLst/>
          </a:prstGeom>
          <a:solidFill>
            <a:schemeClr val="accent3">
              <a:alpha val="18000"/>
            </a:schemeClr>
          </a:solidFill>
          <a:ln/>
        </p:spPr>
        <p:txBody>
          <a:bodyPr/>
          <a:lstStyle/>
          <a:p>
            <a:endParaRPr lang="en-IN"/>
          </a:p>
        </p:txBody>
      </p:sp>
      <p:pic>
        <p:nvPicPr>
          <p:cNvPr id="22" name="Icon FaBullseye" descr="preencoded.png"/>
          <p:cNvPicPr>
            <a:picLocks noChangeAspect="1"/>
          </p:cNvPicPr>
          <p:nvPr/>
        </p:nvPicPr>
        <p:blipFill>
          <a:blip r:embed="rId6"/>
          <a:stretch>
            <a:fillRect/>
          </a:stretch>
        </p:blipFill>
        <p:spPr>
          <a:xfrm>
            <a:off x="9484614" y="2000250"/>
            <a:ext cx="434340" cy="434340"/>
          </a:xfrm>
          <a:prstGeom prst="rect">
            <a:avLst/>
          </a:prstGeom>
        </p:spPr>
      </p:pic>
      <p:sp>
        <p:nvSpPr>
          <p:cNvPr id="23" name="Text 16"/>
          <p:cNvSpPr txBox="1"/>
          <p:nvPr/>
        </p:nvSpPr>
        <p:spPr>
          <a:xfrm>
            <a:off x="9267444" y="2788920"/>
            <a:ext cx="2235708" cy="731520"/>
          </a:xfrm>
          <a:prstGeom prst="rect">
            <a:avLst/>
          </a:prstGeom>
          <a:noFill/>
          <a:ln/>
        </p:spPr>
        <p:txBody>
          <a:bodyPr wrap="square" lIns="0" tIns="0" rIns="0" bIns="0" rtlCol="0" anchor="t"/>
          <a:lstStyle/>
          <a:p>
            <a:pPr marL="0" indent="0">
              <a:buNone/>
            </a:pPr>
            <a:r>
              <a:rPr lang="en-US" sz="2000" b="1" dirty="0">
                <a:solidFill>
                  <a:schemeClr val="accent3"/>
                </a:solidFill>
              </a:rPr>
              <a:t>Policy Gradient</a:t>
            </a:r>
            <a:endParaRPr lang="en-US" sz="2000" dirty="0"/>
          </a:p>
        </p:txBody>
      </p:sp>
      <p:sp>
        <p:nvSpPr>
          <p:cNvPr id="24" name="Text 17"/>
          <p:cNvSpPr txBox="1"/>
          <p:nvPr/>
        </p:nvSpPr>
        <p:spPr>
          <a:xfrm>
            <a:off x="9267444" y="3520440"/>
            <a:ext cx="2189988" cy="1463040"/>
          </a:xfrm>
          <a:prstGeom prst="rect">
            <a:avLst/>
          </a:prstGeom>
          <a:noFill/>
          <a:ln/>
        </p:spPr>
        <p:txBody>
          <a:bodyPr wrap="square" lIns="0" tIns="0" rIns="0" bIns="0" rtlCol="0" anchor="t"/>
          <a:lstStyle/>
          <a:p>
            <a:pPr marL="0" indent="0">
              <a:buNone/>
            </a:pPr>
            <a:r>
              <a:rPr lang="en-US" sz="1600" dirty="0">
                <a:solidFill>
                  <a:schemeClr val="bg1"/>
                </a:solidFill>
              </a:rPr>
              <a:t>Directly learns the strategy (policy) instead of scoring each action.</a:t>
            </a:r>
            <a:endParaRPr lang="en-US" sz="1600" dirty="0"/>
          </a:p>
        </p:txBody>
      </p:sp>
      <p:sp>
        <p:nvSpPr>
          <p:cNvPr id="25" name="Chip"/>
          <p:cNvSpPr/>
          <p:nvPr/>
        </p:nvSpPr>
        <p:spPr>
          <a:xfrm>
            <a:off x="1732788" y="1645920"/>
            <a:ext cx="1280160" cy="347472"/>
          </a:xfrm>
          <a:prstGeom prst="roundRect">
            <a:avLst>
              <a:gd name="adj" fmla="val 26316"/>
            </a:avLst>
          </a:prstGeom>
          <a:solidFill>
            <a:schemeClr val="accent1">
              <a:alpha val="80000"/>
            </a:schemeClr>
          </a:solidFill>
          <a:ln w="15875">
            <a:solidFill>
              <a:schemeClr val="accent1"/>
            </a:solidFill>
            <a:prstDash val="solid"/>
          </a:ln>
        </p:spPr>
        <p:txBody>
          <a:bodyPr/>
          <a:lstStyle/>
          <a:p>
            <a:endParaRPr lang="en-IN"/>
          </a:p>
        </p:txBody>
      </p:sp>
      <p:sp>
        <p:nvSpPr>
          <p:cNvPr id="26" name="Text 19"/>
          <p:cNvSpPr txBox="1"/>
          <p:nvPr/>
        </p:nvSpPr>
        <p:spPr>
          <a:xfrm>
            <a:off x="1732788" y="1645920"/>
            <a:ext cx="1280160" cy="347472"/>
          </a:xfrm>
          <a:prstGeom prst="rect">
            <a:avLst/>
          </a:prstGeom>
          <a:noFill/>
          <a:ln/>
        </p:spPr>
        <p:txBody>
          <a:bodyPr wrap="square" lIns="0" tIns="0" rIns="0" bIns="0" rtlCol="0" anchor="ctr"/>
          <a:lstStyle/>
          <a:p>
            <a:pPr marL="0" indent="0" algn="ctr">
              <a:buNone/>
            </a:pPr>
            <a:r>
              <a:rPr lang="en-US" sz="1200" b="1" dirty="0">
                <a:solidFill>
                  <a:schemeClr val="tx1"/>
                </a:solidFill>
              </a:rPr>
              <a:t>START HERE</a:t>
            </a:r>
            <a:endParaRPr lang="en-US" sz="1200" dirty="0"/>
          </a:p>
        </p:txBody>
      </p:sp>
      <p:sp>
        <p:nvSpPr>
          <p:cNvPr id="27" name="Card"/>
          <p:cNvSpPr/>
          <p:nvPr/>
        </p:nvSpPr>
        <p:spPr>
          <a:xfrm>
            <a:off x="548640" y="5440680"/>
            <a:ext cx="11091672" cy="777240"/>
          </a:xfrm>
          <a:prstGeom prst="roundRect">
            <a:avLst>
              <a:gd name="adj" fmla="val 14118"/>
            </a:avLst>
          </a:prstGeom>
          <a:solidFill>
            <a:schemeClr val="accent1">
              <a:alpha val="14000"/>
            </a:schemeClr>
          </a:solidFill>
          <a:ln w="15875">
            <a:solidFill>
              <a:schemeClr val="accent1"/>
            </a:solidFill>
            <a:prstDash val="solid"/>
          </a:ln>
        </p:spPr>
        <p:txBody>
          <a:bodyPr/>
          <a:lstStyle/>
          <a:p>
            <a:endParaRPr lang="en-IN"/>
          </a:p>
        </p:txBody>
      </p:sp>
      <p:pic>
        <p:nvPicPr>
          <p:cNvPr id="28" name="Icon FaLightbulb" descr="preencoded.png"/>
          <p:cNvPicPr>
            <a:picLocks noChangeAspect="1"/>
          </p:cNvPicPr>
          <p:nvPr/>
        </p:nvPicPr>
        <p:blipFill>
          <a:blip r:embed="rId7"/>
          <a:stretch>
            <a:fillRect/>
          </a:stretch>
        </p:blipFill>
        <p:spPr>
          <a:xfrm>
            <a:off x="868680" y="5577840"/>
            <a:ext cx="502920" cy="502920"/>
          </a:xfrm>
          <a:prstGeom prst="rect">
            <a:avLst/>
          </a:prstGeom>
        </p:spPr>
      </p:pic>
      <p:sp>
        <p:nvSpPr>
          <p:cNvPr id="29" name="Text 21"/>
          <p:cNvSpPr txBox="1"/>
          <p:nvPr/>
        </p:nvSpPr>
        <p:spPr>
          <a:xfrm>
            <a:off x="1600200" y="5440680"/>
            <a:ext cx="9784080" cy="777240"/>
          </a:xfrm>
          <a:prstGeom prst="rect">
            <a:avLst/>
          </a:prstGeom>
          <a:noFill/>
          <a:ln/>
        </p:spPr>
        <p:txBody>
          <a:bodyPr wrap="square" lIns="0" tIns="0" rIns="0" bIns="0" rtlCol="0" anchor="ctr"/>
          <a:lstStyle/>
          <a:p>
            <a:pPr marL="0" indent="0">
              <a:buNone/>
            </a:pPr>
            <a:r>
              <a:rPr lang="en-US" sz="2000" b="1" dirty="0">
                <a:solidFill>
                  <a:schemeClr val="accent1"/>
                </a:solidFill>
              </a:rPr>
              <a:t>Q-Learning</a:t>
            </a:r>
            <a:r>
              <a:rPr lang="en-US" sz="2000" dirty="0">
                <a:solidFill>
                  <a:schemeClr val="bg1"/>
                </a:solidFill>
              </a:rPr>
              <a:t> is the easiest algorithm to understand. We will see it next!</a:t>
            </a:r>
            <a:endParaRPr lang="en-US" sz="20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Q-Learning in Simple Terms</a:t>
            </a:r>
            <a:endParaRPr lang="en-US" sz="3800" dirty="0"/>
          </a:p>
        </p:txBody>
      </p:sp>
      <p:sp>
        <p:nvSpPr>
          <p:cNvPr id="5" name="Card"/>
          <p:cNvSpPr/>
          <p:nvPr/>
        </p:nvSpPr>
        <p:spPr>
          <a:xfrm>
            <a:off x="548640" y="1554480"/>
            <a:ext cx="5577840" cy="731520"/>
          </a:xfrm>
          <a:prstGeom prst="roundRect">
            <a:avLst>
              <a:gd name="adj" fmla="val 15000"/>
            </a:avLst>
          </a:prstGeom>
          <a:solidFill>
            <a:schemeClr val="tx2"/>
          </a:solidFill>
          <a:ln/>
        </p:spPr>
        <p:txBody>
          <a:bodyPr/>
          <a:lstStyle/>
          <a:p>
            <a:endParaRPr lang="en-IN"/>
          </a:p>
        </p:txBody>
      </p:sp>
      <p:sp>
        <p:nvSpPr>
          <p:cNvPr id="6" name="Circle"/>
          <p:cNvSpPr/>
          <p:nvPr/>
        </p:nvSpPr>
        <p:spPr>
          <a:xfrm>
            <a:off x="731520" y="1664208"/>
            <a:ext cx="512064" cy="512064"/>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7" name="Text 4"/>
          <p:cNvSpPr txBox="1"/>
          <p:nvPr/>
        </p:nvSpPr>
        <p:spPr>
          <a:xfrm>
            <a:off x="731520" y="166420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5"/>
          <p:cNvSpPr txBox="1"/>
          <p:nvPr/>
        </p:nvSpPr>
        <p:spPr>
          <a:xfrm>
            <a:off x="1463040" y="1554480"/>
            <a:ext cx="4480560" cy="731520"/>
          </a:xfrm>
          <a:prstGeom prst="rect">
            <a:avLst/>
          </a:prstGeom>
          <a:noFill/>
          <a:ln/>
        </p:spPr>
        <p:txBody>
          <a:bodyPr wrap="square" lIns="0" tIns="0" rIns="0" bIns="0" rtlCol="0" anchor="ctr"/>
          <a:lstStyle/>
          <a:p>
            <a:pPr marL="0" indent="0">
              <a:buNone/>
            </a:pPr>
            <a:r>
              <a:rPr lang="en-US" sz="1800" dirty="0">
                <a:solidFill>
                  <a:schemeClr val="bg1"/>
                </a:solidFill>
              </a:rPr>
              <a:t>Agent observes the </a:t>
            </a:r>
            <a:r>
              <a:rPr lang="en-US" sz="1800" b="1" dirty="0">
                <a:solidFill>
                  <a:schemeClr val="accent1"/>
                </a:solidFill>
              </a:rPr>
              <a:t>state</a:t>
            </a:r>
            <a:endParaRPr lang="en-US" sz="1800" dirty="0"/>
          </a:p>
        </p:txBody>
      </p:sp>
      <p:sp>
        <p:nvSpPr>
          <p:cNvPr id="9" name="Card"/>
          <p:cNvSpPr/>
          <p:nvPr/>
        </p:nvSpPr>
        <p:spPr>
          <a:xfrm>
            <a:off x="548640" y="2459736"/>
            <a:ext cx="5577840" cy="731520"/>
          </a:xfrm>
          <a:prstGeom prst="roundRect">
            <a:avLst>
              <a:gd name="adj" fmla="val 15000"/>
            </a:avLst>
          </a:prstGeom>
          <a:solidFill>
            <a:schemeClr val="tx2"/>
          </a:solidFill>
          <a:ln/>
        </p:spPr>
        <p:txBody>
          <a:bodyPr/>
          <a:lstStyle/>
          <a:p>
            <a:endParaRPr lang="en-IN"/>
          </a:p>
        </p:txBody>
      </p:sp>
      <p:sp>
        <p:nvSpPr>
          <p:cNvPr id="10" name="Circle"/>
          <p:cNvSpPr/>
          <p:nvPr/>
        </p:nvSpPr>
        <p:spPr>
          <a:xfrm>
            <a:off x="731520" y="2569464"/>
            <a:ext cx="512064" cy="512064"/>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11" name="Text 8"/>
          <p:cNvSpPr txBox="1"/>
          <p:nvPr/>
        </p:nvSpPr>
        <p:spPr>
          <a:xfrm>
            <a:off x="731520" y="2569464"/>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9"/>
          <p:cNvSpPr txBox="1"/>
          <p:nvPr/>
        </p:nvSpPr>
        <p:spPr>
          <a:xfrm>
            <a:off x="1463040" y="2459736"/>
            <a:ext cx="4480560" cy="731520"/>
          </a:xfrm>
          <a:prstGeom prst="rect">
            <a:avLst/>
          </a:prstGeom>
          <a:noFill/>
          <a:ln/>
        </p:spPr>
        <p:txBody>
          <a:bodyPr wrap="square" lIns="0" tIns="0" rIns="0" bIns="0" rtlCol="0" anchor="ctr"/>
          <a:lstStyle/>
          <a:p>
            <a:pPr marL="0" indent="0">
              <a:buNone/>
            </a:pPr>
            <a:r>
              <a:rPr lang="en-US" sz="1800" dirty="0">
                <a:solidFill>
                  <a:schemeClr val="bg1"/>
                </a:solidFill>
              </a:rPr>
              <a:t>Agent chooses an </a:t>
            </a:r>
            <a:r>
              <a:rPr lang="en-US" sz="1800" b="1" dirty="0">
                <a:solidFill>
                  <a:schemeClr val="accent1"/>
                </a:solidFill>
              </a:rPr>
              <a:t>action</a:t>
            </a:r>
            <a:endParaRPr lang="en-US" sz="1800" dirty="0"/>
          </a:p>
        </p:txBody>
      </p:sp>
      <p:sp>
        <p:nvSpPr>
          <p:cNvPr id="13" name="Card"/>
          <p:cNvSpPr/>
          <p:nvPr/>
        </p:nvSpPr>
        <p:spPr>
          <a:xfrm>
            <a:off x="548640" y="3364992"/>
            <a:ext cx="5577840" cy="731520"/>
          </a:xfrm>
          <a:prstGeom prst="roundRect">
            <a:avLst>
              <a:gd name="adj" fmla="val 15000"/>
            </a:avLst>
          </a:prstGeom>
          <a:solidFill>
            <a:schemeClr val="tx2"/>
          </a:solidFill>
          <a:ln/>
        </p:spPr>
        <p:txBody>
          <a:bodyPr/>
          <a:lstStyle/>
          <a:p>
            <a:endParaRPr lang="en-IN"/>
          </a:p>
        </p:txBody>
      </p:sp>
      <p:sp>
        <p:nvSpPr>
          <p:cNvPr id="14" name="Circle"/>
          <p:cNvSpPr/>
          <p:nvPr/>
        </p:nvSpPr>
        <p:spPr>
          <a:xfrm>
            <a:off x="731520" y="3474720"/>
            <a:ext cx="512064" cy="512064"/>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15" name="Text 12"/>
          <p:cNvSpPr txBox="1"/>
          <p:nvPr/>
        </p:nvSpPr>
        <p:spPr>
          <a:xfrm>
            <a:off x="731520" y="3474720"/>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3"/>
          <p:cNvSpPr txBox="1"/>
          <p:nvPr/>
        </p:nvSpPr>
        <p:spPr>
          <a:xfrm>
            <a:off x="1463040" y="3364992"/>
            <a:ext cx="4480560" cy="731520"/>
          </a:xfrm>
          <a:prstGeom prst="rect">
            <a:avLst/>
          </a:prstGeom>
          <a:noFill/>
          <a:ln/>
        </p:spPr>
        <p:txBody>
          <a:bodyPr wrap="square" lIns="0" tIns="0" rIns="0" bIns="0" rtlCol="0" anchor="ctr"/>
          <a:lstStyle/>
          <a:p>
            <a:pPr marL="0" indent="0">
              <a:buNone/>
            </a:pPr>
            <a:r>
              <a:rPr lang="en-US" sz="1800" dirty="0">
                <a:solidFill>
                  <a:schemeClr val="bg1"/>
                </a:solidFill>
              </a:rPr>
              <a:t>Agent receives a </a:t>
            </a:r>
            <a:r>
              <a:rPr lang="en-US" sz="1800" b="1" dirty="0">
                <a:solidFill>
                  <a:schemeClr val="accent1"/>
                </a:solidFill>
              </a:rPr>
              <a:t>reward</a:t>
            </a:r>
            <a:endParaRPr lang="en-US" sz="1800" dirty="0"/>
          </a:p>
        </p:txBody>
      </p:sp>
      <p:sp>
        <p:nvSpPr>
          <p:cNvPr id="17" name="Card"/>
          <p:cNvSpPr/>
          <p:nvPr/>
        </p:nvSpPr>
        <p:spPr>
          <a:xfrm>
            <a:off x="548640" y="4270248"/>
            <a:ext cx="5577840" cy="731520"/>
          </a:xfrm>
          <a:prstGeom prst="roundRect">
            <a:avLst>
              <a:gd name="adj" fmla="val 15000"/>
            </a:avLst>
          </a:prstGeom>
          <a:solidFill>
            <a:schemeClr val="tx2"/>
          </a:solidFill>
          <a:ln/>
        </p:spPr>
        <p:txBody>
          <a:bodyPr/>
          <a:lstStyle/>
          <a:p>
            <a:endParaRPr lang="en-IN"/>
          </a:p>
        </p:txBody>
      </p:sp>
      <p:sp>
        <p:nvSpPr>
          <p:cNvPr id="18" name="Circle"/>
          <p:cNvSpPr/>
          <p:nvPr/>
        </p:nvSpPr>
        <p:spPr>
          <a:xfrm>
            <a:off x="731520" y="4379976"/>
            <a:ext cx="512064" cy="512064"/>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19" name="Text 16"/>
          <p:cNvSpPr txBox="1"/>
          <p:nvPr/>
        </p:nvSpPr>
        <p:spPr>
          <a:xfrm>
            <a:off x="731520" y="4379976"/>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Text 17"/>
          <p:cNvSpPr txBox="1"/>
          <p:nvPr/>
        </p:nvSpPr>
        <p:spPr>
          <a:xfrm>
            <a:off x="1463040" y="4270248"/>
            <a:ext cx="4480560" cy="731520"/>
          </a:xfrm>
          <a:prstGeom prst="rect">
            <a:avLst/>
          </a:prstGeom>
          <a:noFill/>
          <a:ln/>
        </p:spPr>
        <p:txBody>
          <a:bodyPr wrap="square" lIns="0" tIns="0" rIns="0" bIns="0" rtlCol="0" anchor="ctr"/>
          <a:lstStyle/>
          <a:p>
            <a:pPr marL="0" indent="0">
              <a:buNone/>
            </a:pPr>
            <a:r>
              <a:rPr lang="en-US" sz="1800" dirty="0">
                <a:solidFill>
                  <a:schemeClr val="bg1"/>
                </a:solidFill>
              </a:rPr>
              <a:t>Agent </a:t>
            </a:r>
            <a:r>
              <a:rPr lang="en-US" sz="1800" b="1" dirty="0">
                <a:solidFill>
                  <a:schemeClr val="accent1"/>
                </a:solidFill>
              </a:rPr>
              <a:t>updates</a:t>
            </a:r>
            <a:r>
              <a:rPr lang="en-US" sz="1800" dirty="0">
                <a:solidFill>
                  <a:schemeClr val="bg1"/>
                </a:solidFill>
              </a:rPr>
              <a:t> its knowledge</a:t>
            </a:r>
            <a:endParaRPr lang="en-US" sz="1800" dirty="0"/>
          </a:p>
        </p:txBody>
      </p:sp>
      <p:sp>
        <p:nvSpPr>
          <p:cNvPr id="21" name="Card"/>
          <p:cNvSpPr/>
          <p:nvPr/>
        </p:nvSpPr>
        <p:spPr>
          <a:xfrm>
            <a:off x="548640" y="5175504"/>
            <a:ext cx="5577840" cy="731520"/>
          </a:xfrm>
          <a:prstGeom prst="roundRect">
            <a:avLst>
              <a:gd name="adj" fmla="val 15000"/>
            </a:avLst>
          </a:prstGeom>
          <a:solidFill>
            <a:schemeClr val="tx2"/>
          </a:solidFill>
          <a:ln/>
        </p:spPr>
        <p:txBody>
          <a:bodyPr/>
          <a:lstStyle/>
          <a:p>
            <a:endParaRPr lang="en-IN"/>
          </a:p>
        </p:txBody>
      </p:sp>
      <p:sp>
        <p:nvSpPr>
          <p:cNvPr id="22" name="Circle"/>
          <p:cNvSpPr/>
          <p:nvPr/>
        </p:nvSpPr>
        <p:spPr>
          <a:xfrm>
            <a:off x="731520" y="5285232"/>
            <a:ext cx="512064" cy="512064"/>
          </a:xfrm>
          <a:prstGeom prst="ellipse">
            <a:avLst/>
          </a:prstGeom>
          <a:solidFill>
            <a:schemeClr val="accent1">
              <a:alpha val="22000"/>
            </a:schemeClr>
          </a:solidFill>
          <a:ln w="19050">
            <a:solidFill>
              <a:schemeClr val="accent1"/>
            </a:solidFill>
            <a:prstDash val="solid"/>
          </a:ln>
        </p:spPr>
        <p:txBody>
          <a:bodyPr/>
          <a:lstStyle/>
          <a:p>
            <a:endParaRPr lang="en-IN"/>
          </a:p>
        </p:txBody>
      </p:sp>
      <p:sp>
        <p:nvSpPr>
          <p:cNvPr id="23" name="Text 20"/>
          <p:cNvSpPr txBox="1"/>
          <p:nvPr/>
        </p:nvSpPr>
        <p:spPr>
          <a:xfrm>
            <a:off x="731520" y="5285232"/>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4" name="Text 21"/>
          <p:cNvSpPr txBox="1"/>
          <p:nvPr/>
        </p:nvSpPr>
        <p:spPr>
          <a:xfrm>
            <a:off x="1463040" y="5175504"/>
            <a:ext cx="4480560" cy="731520"/>
          </a:xfrm>
          <a:prstGeom prst="rect">
            <a:avLst/>
          </a:prstGeom>
          <a:noFill/>
          <a:ln/>
        </p:spPr>
        <p:txBody>
          <a:bodyPr wrap="square" lIns="0" tIns="0" rIns="0" bIns="0" rtlCol="0" anchor="ctr"/>
          <a:lstStyle/>
          <a:p>
            <a:pPr marL="0" indent="0">
              <a:buNone/>
            </a:pPr>
            <a:r>
              <a:rPr lang="en-US" sz="1800" dirty="0">
                <a:solidFill>
                  <a:schemeClr val="bg1"/>
                </a:solidFill>
              </a:rPr>
              <a:t>Agent gradually learns the </a:t>
            </a:r>
            <a:r>
              <a:rPr lang="en-US" sz="1800" b="1" dirty="0">
                <a:solidFill>
                  <a:schemeClr val="accent1"/>
                </a:solidFill>
              </a:rPr>
              <a:t>best action</a:t>
            </a:r>
            <a:endParaRPr lang="en-US" sz="1800" dirty="0"/>
          </a:p>
        </p:txBody>
      </p:sp>
      <p:sp>
        <p:nvSpPr>
          <p:cNvPr id="25" name="Card"/>
          <p:cNvSpPr/>
          <p:nvPr/>
        </p:nvSpPr>
        <p:spPr>
          <a:xfrm>
            <a:off x="6492240" y="1508760"/>
            <a:ext cx="5148072" cy="4572000"/>
          </a:xfrm>
          <a:prstGeom prst="roundRect">
            <a:avLst>
              <a:gd name="adj" fmla="val 2400"/>
            </a:avLst>
          </a:prstGeom>
          <a:solidFill>
            <a:schemeClr val="tx2"/>
          </a:solidFill>
          <a:ln w="19050">
            <a:solidFill>
              <a:schemeClr val="accent1"/>
            </a:solidFill>
            <a:prstDash val="solid"/>
          </a:ln>
        </p:spPr>
        <p:txBody>
          <a:bodyPr/>
          <a:lstStyle/>
          <a:p>
            <a:endParaRPr lang="en-IN"/>
          </a:p>
        </p:txBody>
      </p:sp>
      <p:sp>
        <p:nvSpPr>
          <p:cNvPr id="26" name="Text 23"/>
          <p:cNvSpPr txBox="1"/>
          <p:nvPr/>
        </p:nvSpPr>
        <p:spPr>
          <a:xfrm>
            <a:off x="6766560" y="1691640"/>
            <a:ext cx="4572000" cy="457200"/>
          </a:xfrm>
          <a:prstGeom prst="rect">
            <a:avLst/>
          </a:prstGeom>
          <a:noFill/>
          <a:ln/>
        </p:spPr>
        <p:txBody>
          <a:bodyPr wrap="square" lIns="0" tIns="0" rIns="0" bIns="0" rtlCol="0" anchor="ctr"/>
          <a:lstStyle/>
          <a:p>
            <a:pPr marL="0" indent="0">
              <a:buNone/>
            </a:pPr>
            <a:r>
              <a:rPr lang="en-US" sz="2400" b="1" dirty="0">
                <a:solidFill>
                  <a:schemeClr val="accent1"/>
                </a:solidFill>
              </a:rPr>
              <a:t>The Q-Table</a:t>
            </a:r>
            <a:endParaRPr lang="en-US" sz="2400" dirty="0"/>
          </a:p>
        </p:txBody>
      </p:sp>
      <p:sp>
        <p:nvSpPr>
          <p:cNvPr id="27" name="Text 24"/>
          <p:cNvSpPr txBox="1"/>
          <p:nvPr/>
        </p:nvSpPr>
        <p:spPr>
          <a:xfrm>
            <a:off x="6766560" y="2194560"/>
            <a:ext cx="4663440" cy="365760"/>
          </a:xfrm>
          <a:prstGeom prst="rect">
            <a:avLst/>
          </a:prstGeom>
          <a:noFill/>
          <a:ln/>
        </p:spPr>
        <p:txBody>
          <a:bodyPr wrap="square" lIns="0" tIns="0" rIns="0" bIns="0" rtlCol="0" anchor="ctr"/>
          <a:lstStyle/>
          <a:p>
            <a:pPr marL="0" indent="0">
              <a:buNone/>
            </a:pPr>
            <a:r>
              <a:rPr lang="en-US" sz="1600" dirty="0">
                <a:solidFill>
                  <a:schemeClr val="bg2"/>
                </a:solidFill>
              </a:rPr>
              <a:t>Robot in a hallway: go </a:t>
            </a:r>
            <a:r>
              <a:rPr lang="en-US" sz="1600" b="1" dirty="0">
                <a:solidFill>
                  <a:schemeClr val="bg1"/>
                </a:solidFill>
              </a:rPr>
              <a:t>Left</a:t>
            </a:r>
            <a:r>
              <a:rPr lang="en-US" sz="1600" dirty="0">
                <a:solidFill>
                  <a:schemeClr val="bg2"/>
                </a:solidFill>
              </a:rPr>
              <a:t> or </a:t>
            </a:r>
            <a:r>
              <a:rPr lang="en-US" sz="1600" b="1" dirty="0">
                <a:solidFill>
                  <a:schemeClr val="bg1"/>
                </a:solidFill>
              </a:rPr>
              <a:t>Right</a:t>
            </a:r>
            <a:r>
              <a:rPr lang="en-US" sz="1600" dirty="0">
                <a:solidFill>
                  <a:schemeClr val="bg2"/>
                </a:solidFill>
              </a:rPr>
              <a: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766560" y="2743200"/>
          <a:ext cx="4599432" cy="2148840"/>
        </p:xfrm>
        <a:graphic>
          <a:graphicData uri="http://schemas.openxmlformats.org/drawingml/2006/table">
            <a:tbl>
              <a:tblPr/>
              <a:tblGrid>
                <a:gridCol w="185623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2920">
                <a:tc>
                  <a:txBody>
                    <a:bodyPr/>
                    <a:lstStyle/>
                    <a:p>
                      <a:pPr marL="0" indent="0" algn="ctr">
                        <a:buNone/>
                      </a:pPr>
                      <a:r>
                        <a:rPr lang="en-US" sz="1600" b="1" dirty="0">
                          <a:solidFill>
                            <a:schemeClr val="tx1"/>
                          </a:solidFill>
                        </a:rPr>
                        <a:t>State</a:t>
                      </a:r>
                      <a:endParaRPr lang="en-US" sz="16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tx1"/>
                          </a:solidFill>
                        </a:rPr>
                        <a:t>Left</a:t>
                      </a:r>
                      <a:endParaRPr lang="en-US" sz="16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tx1"/>
                          </a:solidFill>
                        </a:rPr>
                        <a:t>Right</a:t>
                      </a:r>
                      <a:endParaRPr lang="en-US" sz="16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48640">
                <a:tc>
                  <a:txBody>
                    <a:bodyPr/>
                    <a:lstStyle/>
                    <a:p>
                      <a:pPr marL="0" indent="0" algn="l">
                        <a:buNone/>
                      </a:pPr>
                      <a:r>
                        <a:rPr lang="en-US" sz="1800" b="1" dirty="0">
                          <a:solidFill>
                            <a:schemeClr val="accent1"/>
                          </a:solidFill>
                        </a:rPr>
                        <a:t>Start</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tx1"/>
                    </a:solidFill>
                  </a:tcPr>
                </a:tc>
                <a:tc>
                  <a:txBody>
                    <a:bodyPr/>
                    <a:lstStyle/>
                    <a:p>
                      <a:pPr marL="0" indent="0" algn="ctr">
                        <a:buNone/>
                      </a:pPr>
                      <a:r>
                        <a:rPr lang="en-US" sz="1800" dirty="0">
                          <a:solidFill>
                            <a:schemeClr val="bg1"/>
                          </a:solidFill>
                        </a:rPr>
                        <a:t>1</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tx1"/>
                          </a:solidFill>
                        </a:rPr>
                        <a:t>6</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accent3"/>
                    </a:solidFill>
                  </a:tcPr>
                </a:tc>
                <a:extLst>
                  <a:ext uri="{0D108BD9-81ED-4DB2-BD59-A6C34878D82A}">
                    <a16:rowId xmlns:a16="http://schemas.microsoft.com/office/drawing/2014/main" val="10001"/>
                  </a:ext>
                </a:extLst>
              </a:tr>
              <a:tr h="548640">
                <a:tc>
                  <a:txBody>
                    <a:bodyPr/>
                    <a:lstStyle/>
                    <a:p>
                      <a:pPr marL="0" indent="0" algn="l">
                        <a:buNone/>
                      </a:pPr>
                      <a:r>
                        <a:rPr lang="en-US" sz="1800" b="1" dirty="0">
                          <a:solidFill>
                            <a:schemeClr val="accent1"/>
                          </a:solidFill>
                        </a:rPr>
                        <a:t>Middle</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tx1"/>
                    </a:solidFill>
                  </a:tcPr>
                </a:tc>
                <a:tc>
                  <a:txBody>
                    <a:bodyPr/>
                    <a:lstStyle/>
                    <a:p>
                      <a:pPr marL="0" indent="0" algn="ctr">
                        <a:buNone/>
                      </a:pPr>
                      <a:r>
                        <a:rPr lang="en-US" sz="1800" dirty="0">
                          <a:solidFill>
                            <a:schemeClr val="bg1"/>
                          </a:solidFill>
                        </a:rPr>
                        <a:t>2</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tx1"/>
                          </a:solidFill>
                        </a:rPr>
                        <a:t>8</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accent3"/>
                    </a:solidFill>
                  </a:tcPr>
                </a:tc>
                <a:extLst>
                  <a:ext uri="{0D108BD9-81ED-4DB2-BD59-A6C34878D82A}">
                    <a16:rowId xmlns:a16="http://schemas.microsoft.com/office/drawing/2014/main" val="10002"/>
                  </a:ext>
                </a:extLst>
              </a:tr>
              <a:tr h="548640">
                <a:tc>
                  <a:txBody>
                    <a:bodyPr/>
                    <a:lstStyle/>
                    <a:p>
                      <a:pPr marL="0" indent="0" algn="l">
                        <a:buNone/>
                      </a:pPr>
                      <a:r>
                        <a:rPr lang="en-US" sz="1800" b="1" dirty="0">
                          <a:solidFill>
                            <a:schemeClr val="accent1"/>
                          </a:solidFill>
                        </a:rPr>
                        <a:t>Near goal</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tx1"/>
                    </a:solidFill>
                  </a:tcPr>
                </a:tc>
                <a:tc>
                  <a:txBody>
                    <a:bodyPr/>
                    <a:lstStyle/>
                    <a:p>
                      <a:pPr marL="0" indent="0" algn="ctr">
                        <a:buNone/>
                      </a:pPr>
                      <a:r>
                        <a:rPr lang="en-US" sz="1800" dirty="0">
                          <a:solidFill>
                            <a:schemeClr val="bg1"/>
                          </a:solidFill>
                        </a:rPr>
                        <a:t>3</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tx1"/>
                    </a:solidFill>
                  </a:tcPr>
                </a:tc>
                <a:tc>
                  <a:txBody>
                    <a:bodyPr/>
                    <a:lstStyle/>
                    <a:p>
                      <a:pPr marL="0" indent="0" algn="ctr">
                        <a:buNone/>
                      </a:pPr>
                      <a:r>
                        <a:rPr lang="en-US" sz="1800" b="1" dirty="0">
                          <a:solidFill>
                            <a:schemeClr val="tx1"/>
                          </a:solidFill>
                        </a:rPr>
                        <a:t>10</a:t>
                      </a:r>
                      <a:endParaRPr lang="en-US" sz="1800" dirty="0"/>
                    </a:p>
                  </a:txBody>
                  <a:tcPr anchor="ctr">
                    <a:lnL w="25400" cap="flat" cmpd="sng" algn="ctr">
                      <a:solidFill>
                        <a:schemeClr val="tx2"/>
                      </a:solidFill>
                      <a:prstDash val="solid"/>
                      <a:round/>
                      <a:headEnd type="none" w="med" len="med"/>
                      <a:tailEnd type="none" w="med" len="med"/>
                    </a:lnL>
                    <a:lnR w="25400" cap="flat" cmpd="sng" algn="ctr">
                      <a:solidFill>
                        <a:schemeClr val="tx2"/>
                      </a:solidFill>
                      <a:prstDash val="solid"/>
                      <a:round/>
                      <a:headEnd type="none" w="med" len="med"/>
                      <a:tailEnd type="none" w="med" len="med"/>
                    </a:lnR>
                    <a:lnT w="25400" cap="flat" cmpd="sng" algn="ctr">
                      <a:solidFill>
                        <a:schemeClr val="tx2"/>
                      </a:solidFill>
                      <a:prstDash val="solid"/>
                      <a:round/>
                      <a:headEnd type="none" w="med" len="med"/>
                      <a:tailEnd type="none" w="med" len="med"/>
                    </a:lnT>
                    <a:lnB w="25400" cap="flat" cmpd="sng" algn="ctr">
                      <a:solidFill>
                        <a:schemeClr val="tx2"/>
                      </a:solidFill>
                      <a:prstDash val="solid"/>
                      <a:round/>
                      <a:headEnd type="none" w="med" len="med"/>
                      <a:tailEnd type="none" w="med" len="med"/>
                    </a:lnB>
                    <a:solidFill>
                      <a:schemeClr val="accent3"/>
                    </a:solidFill>
                  </a:tcPr>
                </a:tc>
                <a:extLst>
                  <a:ext uri="{0D108BD9-81ED-4DB2-BD59-A6C34878D82A}">
                    <a16:rowId xmlns:a16="http://schemas.microsoft.com/office/drawing/2014/main" val="10003"/>
                  </a:ext>
                </a:extLst>
              </a:tr>
            </a:tbl>
          </a:graphicData>
        </a:graphic>
      </p:graphicFrame>
      <p:sp>
        <p:nvSpPr>
          <p:cNvPr id="29" name="Text 25"/>
          <p:cNvSpPr txBox="1"/>
          <p:nvPr/>
        </p:nvSpPr>
        <p:spPr>
          <a:xfrm>
            <a:off x="6766560" y="5029200"/>
            <a:ext cx="4599432" cy="731520"/>
          </a:xfrm>
          <a:prstGeom prst="rect">
            <a:avLst/>
          </a:prstGeom>
          <a:noFill/>
          <a:ln/>
        </p:spPr>
        <p:txBody>
          <a:bodyPr wrap="square" lIns="0" tIns="0" rIns="0" bIns="0" rtlCol="0" anchor="t"/>
          <a:lstStyle/>
          <a:p>
            <a:pPr marL="0" indent="0">
              <a:buNone/>
            </a:pPr>
            <a:r>
              <a:rPr lang="en-US" sz="1500" dirty="0">
                <a:solidFill>
                  <a:schemeClr val="bg2"/>
                </a:solidFill>
              </a:rPr>
              <a:t>Bigger number = better action. The numbers are updated after every try.</a:t>
            </a:r>
            <a:endParaRPr lang="en-US" sz="1500" dirty="0"/>
          </a:p>
        </p:txBody>
      </p:sp>
      <p:sp>
        <p:nvSpPr>
          <p:cNvPr id="28"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Example: Reinforcement Learning in a Game</a:t>
            </a:r>
            <a:endParaRPr lang="en-US" sz="3800" dirty="0"/>
          </a:p>
        </p:txBody>
      </p:sp>
      <p:sp>
        <p:nvSpPr>
          <p:cNvPr id="5" name="Card"/>
          <p:cNvSpPr/>
          <p:nvPr/>
        </p:nvSpPr>
        <p:spPr>
          <a:xfrm>
            <a:off x="548640" y="1508760"/>
            <a:ext cx="5486400" cy="658368"/>
          </a:xfrm>
          <a:prstGeom prst="roundRect">
            <a:avLst>
              <a:gd name="adj" fmla="val 16667"/>
            </a:avLst>
          </a:prstGeom>
          <a:solidFill>
            <a:schemeClr val="tx2"/>
          </a:solidFill>
          <a:ln/>
        </p:spPr>
        <p:txBody>
          <a:bodyPr/>
          <a:lstStyle/>
          <a:p>
            <a:endParaRPr lang="en-IN"/>
          </a:p>
        </p:txBody>
      </p:sp>
      <p:sp>
        <p:nvSpPr>
          <p:cNvPr id="6" name="Circle"/>
          <p:cNvSpPr/>
          <p:nvPr/>
        </p:nvSpPr>
        <p:spPr>
          <a:xfrm>
            <a:off x="640080" y="1563624"/>
            <a:ext cx="548640" cy="548640"/>
          </a:xfrm>
          <a:prstGeom prst="ellipse">
            <a:avLst/>
          </a:prstGeom>
          <a:solidFill>
            <a:schemeClr val="accent1">
              <a:alpha val="18000"/>
            </a:schemeClr>
          </a:solidFill>
          <a:ln/>
        </p:spPr>
        <p:txBody>
          <a:bodyPr/>
          <a:lstStyle/>
          <a:p>
            <a:endParaRPr lang="en-IN"/>
          </a:p>
        </p:txBody>
      </p:sp>
      <p:pic>
        <p:nvPicPr>
          <p:cNvPr id="7" name="Icon FaRobot" descr="preencoded.png"/>
          <p:cNvPicPr>
            <a:picLocks noChangeAspect="1"/>
          </p:cNvPicPr>
          <p:nvPr/>
        </p:nvPicPr>
        <p:blipFill>
          <a:blip r:embed="rId3"/>
          <a:stretch>
            <a:fillRect/>
          </a:stretch>
        </p:blipFill>
        <p:spPr>
          <a:xfrm>
            <a:off x="777240" y="1700784"/>
            <a:ext cx="274320" cy="274320"/>
          </a:xfrm>
          <a:prstGeom prst="rect">
            <a:avLst/>
          </a:prstGeom>
        </p:spPr>
      </p:pic>
      <p:sp>
        <p:nvSpPr>
          <p:cNvPr id="8" name="Text 4"/>
          <p:cNvSpPr txBox="1"/>
          <p:nvPr/>
        </p:nvSpPr>
        <p:spPr>
          <a:xfrm>
            <a:off x="1371600" y="1508760"/>
            <a:ext cx="1737360" cy="658368"/>
          </a:xfrm>
          <a:prstGeom prst="rect">
            <a:avLst/>
          </a:prstGeom>
          <a:noFill/>
          <a:ln/>
        </p:spPr>
        <p:txBody>
          <a:bodyPr wrap="square" lIns="0" tIns="0" rIns="0" bIns="0" rtlCol="0" anchor="ctr"/>
          <a:lstStyle/>
          <a:p>
            <a:pPr marL="0" indent="0">
              <a:buNone/>
            </a:pPr>
            <a:r>
              <a:rPr lang="en-US" sz="1900" b="1" dirty="0">
                <a:solidFill>
                  <a:schemeClr val="accent1"/>
                </a:solidFill>
              </a:rPr>
              <a:t>Agent</a:t>
            </a:r>
            <a:endParaRPr lang="en-US" sz="1900" dirty="0"/>
          </a:p>
        </p:txBody>
      </p:sp>
      <p:sp>
        <p:nvSpPr>
          <p:cNvPr id="9" name="Text 5"/>
          <p:cNvSpPr txBox="1"/>
          <p:nvPr/>
        </p:nvSpPr>
        <p:spPr>
          <a:xfrm>
            <a:off x="3108960" y="1508760"/>
            <a:ext cx="2834640" cy="658368"/>
          </a:xfrm>
          <a:prstGeom prst="rect">
            <a:avLst/>
          </a:prstGeom>
          <a:noFill/>
          <a:ln/>
        </p:spPr>
        <p:txBody>
          <a:bodyPr wrap="square" lIns="0" tIns="0" rIns="0" bIns="0" rtlCol="0" anchor="ctr"/>
          <a:lstStyle/>
          <a:p>
            <a:pPr marL="0" indent="0">
              <a:buNone/>
            </a:pPr>
            <a:r>
              <a:rPr lang="en-US" sz="1700" dirty="0">
                <a:solidFill>
                  <a:schemeClr val="bg1"/>
                </a:solidFill>
              </a:rPr>
              <a:t>Player / character</a:t>
            </a:r>
            <a:endParaRPr lang="en-US" sz="1700" dirty="0"/>
          </a:p>
        </p:txBody>
      </p:sp>
      <p:sp>
        <p:nvSpPr>
          <p:cNvPr id="10" name="Card"/>
          <p:cNvSpPr/>
          <p:nvPr/>
        </p:nvSpPr>
        <p:spPr>
          <a:xfrm>
            <a:off x="548640" y="2286000"/>
            <a:ext cx="5486400" cy="658368"/>
          </a:xfrm>
          <a:prstGeom prst="roundRect">
            <a:avLst>
              <a:gd name="adj" fmla="val 16667"/>
            </a:avLst>
          </a:prstGeom>
          <a:solidFill>
            <a:schemeClr val="tx2"/>
          </a:solidFill>
          <a:ln/>
        </p:spPr>
        <p:txBody>
          <a:bodyPr/>
          <a:lstStyle/>
          <a:p>
            <a:endParaRPr lang="en-IN"/>
          </a:p>
        </p:txBody>
      </p:sp>
      <p:sp>
        <p:nvSpPr>
          <p:cNvPr id="11" name="Circle"/>
          <p:cNvSpPr/>
          <p:nvPr/>
        </p:nvSpPr>
        <p:spPr>
          <a:xfrm>
            <a:off x="640080" y="2340864"/>
            <a:ext cx="548640" cy="548640"/>
          </a:xfrm>
          <a:prstGeom prst="ellipse">
            <a:avLst/>
          </a:prstGeom>
          <a:solidFill>
            <a:schemeClr val="accent2">
              <a:alpha val="18000"/>
            </a:schemeClr>
          </a:solidFill>
          <a:ln/>
        </p:spPr>
        <p:txBody>
          <a:bodyPr/>
          <a:lstStyle/>
          <a:p>
            <a:endParaRPr lang="en-IN"/>
          </a:p>
        </p:txBody>
      </p:sp>
      <p:pic>
        <p:nvPicPr>
          <p:cNvPr id="12" name="Icon FaGlobe" descr="preencoded.png"/>
          <p:cNvPicPr>
            <a:picLocks noChangeAspect="1"/>
          </p:cNvPicPr>
          <p:nvPr/>
        </p:nvPicPr>
        <p:blipFill>
          <a:blip r:embed="rId4"/>
          <a:stretch>
            <a:fillRect/>
          </a:stretch>
        </p:blipFill>
        <p:spPr>
          <a:xfrm>
            <a:off x="777240" y="2478024"/>
            <a:ext cx="274320" cy="274320"/>
          </a:xfrm>
          <a:prstGeom prst="rect">
            <a:avLst/>
          </a:prstGeom>
        </p:spPr>
      </p:pic>
      <p:sp>
        <p:nvSpPr>
          <p:cNvPr id="13" name="Text 8"/>
          <p:cNvSpPr txBox="1"/>
          <p:nvPr/>
        </p:nvSpPr>
        <p:spPr>
          <a:xfrm>
            <a:off x="1371600" y="2286000"/>
            <a:ext cx="1737360" cy="658368"/>
          </a:xfrm>
          <a:prstGeom prst="rect">
            <a:avLst/>
          </a:prstGeom>
          <a:noFill/>
          <a:ln/>
        </p:spPr>
        <p:txBody>
          <a:bodyPr wrap="square" lIns="0" tIns="0" rIns="0" bIns="0" rtlCol="0" anchor="ctr"/>
          <a:lstStyle/>
          <a:p>
            <a:pPr marL="0" indent="0">
              <a:buNone/>
            </a:pPr>
            <a:r>
              <a:rPr lang="en-US" sz="1900" b="1" dirty="0">
                <a:solidFill>
                  <a:schemeClr val="accent2"/>
                </a:solidFill>
              </a:rPr>
              <a:t>Environment</a:t>
            </a:r>
            <a:endParaRPr lang="en-US" sz="1900" dirty="0"/>
          </a:p>
        </p:txBody>
      </p:sp>
      <p:sp>
        <p:nvSpPr>
          <p:cNvPr id="14" name="Text 9"/>
          <p:cNvSpPr txBox="1"/>
          <p:nvPr/>
        </p:nvSpPr>
        <p:spPr>
          <a:xfrm>
            <a:off x="3108960" y="2286000"/>
            <a:ext cx="2834640" cy="658368"/>
          </a:xfrm>
          <a:prstGeom prst="rect">
            <a:avLst/>
          </a:prstGeom>
          <a:noFill/>
          <a:ln/>
        </p:spPr>
        <p:txBody>
          <a:bodyPr wrap="square" lIns="0" tIns="0" rIns="0" bIns="0" rtlCol="0" anchor="ctr"/>
          <a:lstStyle/>
          <a:p>
            <a:pPr marL="0" indent="0">
              <a:buNone/>
            </a:pPr>
            <a:r>
              <a:rPr lang="en-US" sz="1700" dirty="0">
                <a:solidFill>
                  <a:schemeClr val="bg1"/>
                </a:solidFill>
              </a:rPr>
              <a:t>The game world</a:t>
            </a:r>
            <a:endParaRPr lang="en-US" sz="1700" dirty="0"/>
          </a:p>
        </p:txBody>
      </p:sp>
      <p:sp>
        <p:nvSpPr>
          <p:cNvPr id="15" name="Card"/>
          <p:cNvSpPr/>
          <p:nvPr/>
        </p:nvSpPr>
        <p:spPr>
          <a:xfrm>
            <a:off x="548640" y="3063240"/>
            <a:ext cx="5486400" cy="658368"/>
          </a:xfrm>
          <a:prstGeom prst="roundRect">
            <a:avLst>
              <a:gd name="adj" fmla="val 16667"/>
            </a:avLst>
          </a:prstGeom>
          <a:solidFill>
            <a:schemeClr val="tx2"/>
          </a:solidFill>
          <a:ln/>
        </p:spPr>
        <p:txBody>
          <a:bodyPr/>
          <a:lstStyle/>
          <a:p>
            <a:endParaRPr lang="en-IN"/>
          </a:p>
        </p:txBody>
      </p:sp>
      <p:sp>
        <p:nvSpPr>
          <p:cNvPr id="16" name="Circle"/>
          <p:cNvSpPr/>
          <p:nvPr/>
        </p:nvSpPr>
        <p:spPr>
          <a:xfrm>
            <a:off x="640080" y="3118104"/>
            <a:ext cx="548640" cy="548640"/>
          </a:xfrm>
          <a:prstGeom prst="ellipse">
            <a:avLst/>
          </a:prstGeom>
          <a:solidFill>
            <a:schemeClr val="accent6">
              <a:alpha val="18000"/>
            </a:schemeClr>
          </a:solidFill>
          <a:ln/>
        </p:spPr>
        <p:txBody>
          <a:bodyPr/>
          <a:lstStyle/>
          <a:p>
            <a:endParaRPr lang="en-IN"/>
          </a:p>
        </p:txBody>
      </p:sp>
      <p:pic>
        <p:nvPicPr>
          <p:cNvPr id="17" name="Icon FaMapMarkerAlt" descr="preencoded.png"/>
          <p:cNvPicPr>
            <a:picLocks noChangeAspect="1"/>
          </p:cNvPicPr>
          <p:nvPr/>
        </p:nvPicPr>
        <p:blipFill>
          <a:blip r:embed="rId5"/>
          <a:stretch>
            <a:fillRect/>
          </a:stretch>
        </p:blipFill>
        <p:spPr>
          <a:xfrm>
            <a:off x="777240" y="3255264"/>
            <a:ext cx="274320" cy="274320"/>
          </a:xfrm>
          <a:prstGeom prst="rect">
            <a:avLst/>
          </a:prstGeom>
        </p:spPr>
      </p:pic>
      <p:sp>
        <p:nvSpPr>
          <p:cNvPr id="18" name="Text 12"/>
          <p:cNvSpPr txBox="1"/>
          <p:nvPr/>
        </p:nvSpPr>
        <p:spPr>
          <a:xfrm>
            <a:off x="1371600" y="3063240"/>
            <a:ext cx="1737360" cy="658368"/>
          </a:xfrm>
          <a:prstGeom prst="rect">
            <a:avLst/>
          </a:prstGeom>
          <a:noFill/>
          <a:ln/>
        </p:spPr>
        <p:txBody>
          <a:bodyPr wrap="square" lIns="0" tIns="0" rIns="0" bIns="0" rtlCol="0" anchor="ctr"/>
          <a:lstStyle/>
          <a:p>
            <a:pPr marL="0" indent="0">
              <a:buNone/>
            </a:pPr>
            <a:r>
              <a:rPr lang="en-US" sz="1900" b="1" dirty="0">
                <a:solidFill>
                  <a:schemeClr val="accent6"/>
                </a:solidFill>
              </a:rPr>
              <a:t>State</a:t>
            </a:r>
            <a:endParaRPr lang="en-US" sz="1900" dirty="0"/>
          </a:p>
        </p:txBody>
      </p:sp>
      <p:sp>
        <p:nvSpPr>
          <p:cNvPr id="19" name="Text 13"/>
          <p:cNvSpPr txBox="1"/>
          <p:nvPr/>
        </p:nvSpPr>
        <p:spPr>
          <a:xfrm>
            <a:off x="3108960" y="3063240"/>
            <a:ext cx="2834640" cy="658368"/>
          </a:xfrm>
          <a:prstGeom prst="rect">
            <a:avLst/>
          </a:prstGeom>
          <a:noFill/>
          <a:ln/>
        </p:spPr>
        <p:txBody>
          <a:bodyPr wrap="square" lIns="0" tIns="0" rIns="0" bIns="0" rtlCol="0" anchor="ctr"/>
          <a:lstStyle/>
          <a:p>
            <a:pPr marL="0" indent="0">
              <a:buNone/>
            </a:pPr>
            <a:r>
              <a:rPr lang="en-US" sz="1700" dirty="0">
                <a:solidFill>
                  <a:schemeClr val="bg1"/>
                </a:solidFill>
              </a:rPr>
              <a:t>Current position</a:t>
            </a:r>
            <a:endParaRPr lang="en-US" sz="1700" dirty="0"/>
          </a:p>
        </p:txBody>
      </p:sp>
      <p:sp>
        <p:nvSpPr>
          <p:cNvPr id="20" name="Card"/>
          <p:cNvSpPr/>
          <p:nvPr/>
        </p:nvSpPr>
        <p:spPr>
          <a:xfrm>
            <a:off x="548640" y="3840480"/>
            <a:ext cx="5486400" cy="658368"/>
          </a:xfrm>
          <a:prstGeom prst="roundRect">
            <a:avLst>
              <a:gd name="adj" fmla="val 16667"/>
            </a:avLst>
          </a:prstGeom>
          <a:solidFill>
            <a:schemeClr val="tx2"/>
          </a:solidFill>
          <a:ln/>
        </p:spPr>
        <p:txBody>
          <a:bodyPr/>
          <a:lstStyle/>
          <a:p>
            <a:endParaRPr lang="en-IN"/>
          </a:p>
        </p:txBody>
      </p:sp>
      <p:sp>
        <p:nvSpPr>
          <p:cNvPr id="21" name="Circle"/>
          <p:cNvSpPr/>
          <p:nvPr/>
        </p:nvSpPr>
        <p:spPr>
          <a:xfrm>
            <a:off x="640080" y="3895344"/>
            <a:ext cx="548640" cy="548640"/>
          </a:xfrm>
          <a:prstGeom prst="ellipse">
            <a:avLst/>
          </a:prstGeom>
          <a:solidFill>
            <a:schemeClr val="accent3">
              <a:alpha val="18000"/>
            </a:schemeClr>
          </a:solidFill>
          <a:ln/>
        </p:spPr>
        <p:txBody>
          <a:bodyPr/>
          <a:lstStyle/>
          <a:p>
            <a:endParaRPr lang="en-IN"/>
          </a:p>
        </p:txBody>
      </p:sp>
      <p:pic>
        <p:nvPicPr>
          <p:cNvPr id="22" name="Icon FaArrowsAltH" descr="preencoded.png"/>
          <p:cNvPicPr>
            <a:picLocks noChangeAspect="1"/>
          </p:cNvPicPr>
          <p:nvPr/>
        </p:nvPicPr>
        <p:blipFill>
          <a:blip r:embed="rId6"/>
          <a:stretch>
            <a:fillRect/>
          </a:stretch>
        </p:blipFill>
        <p:spPr>
          <a:xfrm>
            <a:off x="777240" y="4032504"/>
            <a:ext cx="274320" cy="274320"/>
          </a:xfrm>
          <a:prstGeom prst="rect">
            <a:avLst/>
          </a:prstGeom>
        </p:spPr>
      </p:pic>
      <p:sp>
        <p:nvSpPr>
          <p:cNvPr id="23" name="Text 16"/>
          <p:cNvSpPr txBox="1"/>
          <p:nvPr/>
        </p:nvSpPr>
        <p:spPr>
          <a:xfrm>
            <a:off x="1371600" y="3840480"/>
            <a:ext cx="1737360" cy="658368"/>
          </a:xfrm>
          <a:prstGeom prst="rect">
            <a:avLst/>
          </a:prstGeom>
          <a:noFill/>
          <a:ln/>
        </p:spPr>
        <p:txBody>
          <a:bodyPr wrap="square" lIns="0" tIns="0" rIns="0" bIns="0" rtlCol="0" anchor="ctr"/>
          <a:lstStyle/>
          <a:p>
            <a:pPr marL="0" indent="0">
              <a:buNone/>
            </a:pPr>
            <a:r>
              <a:rPr lang="en-US" sz="1900" b="1" dirty="0">
                <a:solidFill>
                  <a:schemeClr val="accent3"/>
                </a:solidFill>
              </a:rPr>
              <a:t>Action</a:t>
            </a:r>
            <a:endParaRPr lang="en-US" sz="1900" dirty="0"/>
          </a:p>
        </p:txBody>
      </p:sp>
      <p:sp>
        <p:nvSpPr>
          <p:cNvPr id="24" name="Text 17"/>
          <p:cNvSpPr txBox="1"/>
          <p:nvPr/>
        </p:nvSpPr>
        <p:spPr>
          <a:xfrm>
            <a:off x="3108960" y="3840480"/>
            <a:ext cx="2834640" cy="658368"/>
          </a:xfrm>
          <a:prstGeom prst="rect">
            <a:avLst/>
          </a:prstGeom>
          <a:noFill/>
          <a:ln/>
        </p:spPr>
        <p:txBody>
          <a:bodyPr wrap="square" lIns="0" tIns="0" rIns="0" bIns="0" rtlCol="0" anchor="ctr"/>
          <a:lstStyle/>
          <a:p>
            <a:pPr marL="0" indent="0">
              <a:buNone/>
            </a:pPr>
            <a:r>
              <a:rPr lang="en-US" sz="1700" dirty="0">
                <a:solidFill>
                  <a:schemeClr val="bg1"/>
                </a:solidFill>
              </a:rPr>
              <a:t>Move left / right / jump</a:t>
            </a:r>
            <a:endParaRPr lang="en-US" sz="1700" dirty="0"/>
          </a:p>
        </p:txBody>
      </p:sp>
      <p:sp>
        <p:nvSpPr>
          <p:cNvPr id="25" name="Card"/>
          <p:cNvSpPr/>
          <p:nvPr/>
        </p:nvSpPr>
        <p:spPr>
          <a:xfrm>
            <a:off x="548640" y="4617720"/>
            <a:ext cx="5486400" cy="658368"/>
          </a:xfrm>
          <a:prstGeom prst="roundRect">
            <a:avLst>
              <a:gd name="adj" fmla="val 16667"/>
            </a:avLst>
          </a:prstGeom>
          <a:solidFill>
            <a:schemeClr val="tx2"/>
          </a:solidFill>
          <a:ln/>
        </p:spPr>
        <p:txBody>
          <a:bodyPr/>
          <a:lstStyle/>
          <a:p>
            <a:endParaRPr lang="en-IN"/>
          </a:p>
        </p:txBody>
      </p:sp>
      <p:sp>
        <p:nvSpPr>
          <p:cNvPr id="26" name="Circle"/>
          <p:cNvSpPr/>
          <p:nvPr/>
        </p:nvSpPr>
        <p:spPr>
          <a:xfrm>
            <a:off x="640080" y="4672584"/>
            <a:ext cx="548640" cy="548640"/>
          </a:xfrm>
          <a:prstGeom prst="ellipse">
            <a:avLst/>
          </a:prstGeom>
          <a:solidFill>
            <a:schemeClr val="accent4">
              <a:alpha val="18000"/>
            </a:schemeClr>
          </a:solidFill>
          <a:ln/>
        </p:spPr>
        <p:txBody>
          <a:bodyPr/>
          <a:lstStyle/>
          <a:p>
            <a:endParaRPr lang="en-IN"/>
          </a:p>
        </p:txBody>
      </p:sp>
      <p:pic>
        <p:nvPicPr>
          <p:cNvPr id="27" name="Icon FaCoins" descr="preencoded.png"/>
          <p:cNvPicPr>
            <a:picLocks noChangeAspect="1"/>
          </p:cNvPicPr>
          <p:nvPr/>
        </p:nvPicPr>
        <p:blipFill>
          <a:blip r:embed="rId7"/>
          <a:stretch>
            <a:fillRect/>
          </a:stretch>
        </p:blipFill>
        <p:spPr>
          <a:xfrm>
            <a:off x="777240" y="4809744"/>
            <a:ext cx="274320" cy="274320"/>
          </a:xfrm>
          <a:prstGeom prst="rect">
            <a:avLst/>
          </a:prstGeom>
        </p:spPr>
      </p:pic>
      <p:sp>
        <p:nvSpPr>
          <p:cNvPr id="28" name="Text 20"/>
          <p:cNvSpPr txBox="1"/>
          <p:nvPr/>
        </p:nvSpPr>
        <p:spPr>
          <a:xfrm>
            <a:off x="1371600" y="4617720"/>
            <a:ext cx="1737360" cy="658368"/>
          </a:xfrm>
          <a:prstGeom prst="rect">
            <a:avLst/>
          </a:prstGeom>
          <a:noFill/>
          <a:ln/>
        </p:spPr>
        <p:txBody>
          <a:bodyPr wrap="square" lIns="0" tIns="0" rIns="0" bIns="0" rtlCol="0" anchor="ctr"/>
          <a:lstStyle/>
          <a:p>
            <a:pPr marL="0" indent="0">
              <a:buNone/>
            </a:pPr>
            <a:r>
              <a:rPr lang="en-US" sz="1900" b="1" dirty="0">
                <a:solidFill>
                  <a:schemeClr val="accent4"/>
                </a:solidFill>
              </a:rPr>
              <a:t>Reward</a:t>
            </a:r>
            <a:endParaRPr lang="en-US" sz="1900" dirty="0"/>
          </a:p>
        </p:txBody>
      </p:sp>
      <p:sp>
        <p:nvSpPr>
          <p:cNvPr id="29" name="Text 21"/>
          <p:cNvSpPr txBox="1"/>
          <p:nvPr/>
        </p:nvSpPr>
        <p:spPr>
          <a:xfrm>
            <a:off x="3108960" y="4617720"/>
            <a:ext cx="2834640" cy="658368"/>
          </a:xfrm>
          <a:prstGeom prst="rect">
            <a:avLst/>
          </a:prstGeom>
          <a:noFill/>
          <a:ln/>
        </p:spPr>
        <p:txBody>
          <a:bodyPr wrap="square" lIns="0" tIns="0" rIns="0" bIns="0" rtlCol="0" anchor="ctr"/>
          <a:lstStyle/>
          <a:p>
            <a:pPr marL="0" indent="0">
              <a:buNone/>
            </a:pPr>
            <a:r>
              <a:rPr lang="en-US" sz="1700" dirty="0">
                <a:solidFill>
                  <a:schemeClr val="bg1"/>
                </a:solidFill>
              </a:rPr>
              <a:t>Points</a:t>
            </a:r>
            <a:endParaRPr lang="en-US" sz="1700" dirty="0"/>
          </a:p>
        </p:txBody>
      </p:sp>
      <p:sp>
        <p:nvSpPr>
          <p:cNvPr id="30" name="Card"/>
          <p:cNvSpPr/>
          <p:nvPr/>
        </p:nvSpPr>
        <p:spPr>
          <a:xfrm>
            <a:off x="548640" y="5394960"/>
            <a:ext cx="5486400" cy="658368"/>
          </a:xfrm>
          <a:prstGeom prst="roundRect">
            <a:avLst>
              <a:gd name="adj" fmla="val 16667"/>
            </a:avLst>
          </a:prstGeom>
          <a:solidFill>
            <a:schemeClr val="tx2"/>
          </a:solidFill>
          <a:ln/>
        </p:spPr>
        <p:txBody>
          <a:bodyPr/>
          <a:lstStyle/>
          <a:p>
            <a:endParaRPr lang="en-IN"/>
          </a:p>
        </p:txBody>
      </p:sp>
      <p:sp>
        <p:nvSpPr>
          <p:cNvPr id="31" name="Circle"/>
          <p:cNvSpPr/>
          <p:nvPr/>
        </p:nvSpPr>
        <p:spPr>
          <a:xfrm>
            <a:off x="640080" y="5449824"/>
            <a:ext cx="548640" cy="548640"/>
          </a:xfrm>
          <a:prstGeom prst="ellipse">
            <a:avLst/>
          </a:prstGeom>
          <a:solidFill>
            <a:schemeClr val="bg1">
              <a:alpha val="18000"/>
            </a:schemeClr>
          </a:solidFill>
          <a:ln/>
        </p:spPr>
        <p:txBody>
          <a:bodyPr/>
          <a:lstStyle/>
          <a:p>
            <a:endParaRPr lang="en-IN"/>
          </a:p>
        </p:txBody>
      </p:sp>
      <p:pic>
        <p:nvPicPr>
          <p:cNvPr id="32" name="Icon FaFlagCheckered" descr="preencoded.png"/>
          <p:cNvPicPr>
            <a:picLocks noChangeAspect="1"/>
          </p:cNvPicPr>
          <p:nvPr/>
        </p:nvPicPr>
        <p:blipFill>
          <a:blip r:embed="rId8"/>
          <a:stretch>
            <a:fillRect/>
          </a:stretch>
        </p:blipFill>
        <p:spPr>
          <a:xfrm>
            <a:off x="777240" y="5586984"/>
            <a:ext cx="274320" cy="274320"/>
          </a:xfrm>
          <a:prstGeom prst="rect">
            <a:avLst/>
          </a:prstGeom>
        </p:spPr>
      </p:pic>
      <p:sp>
        <p:nvSpPr>
          <p:cNvPr id="33" name="Text 24"/>
          <p:cNvSpPr txBox="1"/>
          <p:nvPr/>
        </p:nvSpPr>
        <p:spPr>
          <a:xfrm>
            <a:off x="1371600" y="5394960"/>
            <a:ext cx="1737360" cy="658368"/>
          </a:xfrm>
          <a:prstGeom prst="rect">
            <a:avLst/>
          </a:prstGeom>
          <a:noFill/>
          <a:ln/>
        </p:spPr>
        <p:txBody>
          <a:bodyPr wrap="square" lIns="0" tIns="0" rIns="0" bIns="0" rtlCol="0" anchor="ctr"/>
          <a:lstStyle/>
          <a:p>
            <a:pPr marL="0" indent="0">
              <a:buNone/>
            </a:pPr>
            <a:r>
              <a:rPr lang="en-US" sz="1900" b="1" dirty="0">
                <a:solidFill>
                  <a:schemeClr val="bg1"/>
                </a:solidFill>
              </a:rPr>
              <a:t>Goal</a:t>
            </a:r>
            <a:endParaRPr lang="en-US" sz="1900" dirty="0"/>
          </a:p>
        </p:txBody>
      </p:sp>
      <p:sp>
        <p:nvSpPr>
          <p:cNvPr id="34" name="Text 25"/>
          <p:cNvSpPr txBox="1"/>
          <p:nvPr/>
        </p:nvSpPr>
        <p:spPr>
          <a:xfrm>
            <a:off x="3108960" y="5394960"/>
            <a:ext cx="2834640" cy="658368"/>
          </a:xfrm>
          <a:prstGeom prst="rect">
            <a:avLst/>
          </a:prstGeom>
          <a:noFill/>
          <a:ln/>
        </p:spPr>
        <p:txBody>
          <a:bodyPr wrap="square" lIns="0" tIns="0" rIns="0" bIns="0" rtlCol="0" anchor="ctr"/>
          <a:lstStyle/>
          <a:p>
            <a:pPr marL="0" indent="0">
              <a:buNone/>
            </a:pPr>
            <a:r>
              <a:rPr lang="en-US" sz="1700" dirty="0">
                <a:solidFill>
                  <a:schemeClr val="bg1"/>
                </a:solidFill>
              </a:rPr>
              <a:t>Maximum score</a:t>
            </a:r>
            <a:endParaRPr lang="en-US" sz="1700" dirty="0"/>
          </a:p>
        </p:txBody>
      </p:sp>
      <p:sp>
        <p:nvSpPr>
          <p:cNvPr id="35" name="Card"/>
          <p:cNvSpPr/>
          <p:nvPr/>
        </p:nvSpPr>
        <p:spPr>
          <a:xfrm>
            <a:off x="6400800" y="1508760"/>
            <a:ext cx="5239512" cy="4572000"/>
          </a:xfrm>
          <a:prstGeom prst="roundRect">
            <a:avLst>
              <a:gd name="adj" fmla="val 2400"/>
            </a:avLst>
          </a:prstGeom>
          <a:solidFill>
            <a:schemeClr val="tx2"/>
          </a:solidFill>
          <a:ln w="19050">
            <a:solidFill>
              <a:schemeClr val="accent2"/>
            </a:solidFill>
            <a:prstDash val="solid"/>
          </a:ln>
        </p:spPr>
        <p:txBody>
          <a:bodyPr/>
          <a:lstStyle/>
          <a:p>
            <a:endParaRPr lang="en-IN"/>
          </a:p>
        </p:txBody>
      </p:sp>
      <p:sp>
        <p:nvSpPr>
          <p:cNvPr id="36" name="Chip"/>
          <p:cNvSpPr/>
          <p:nvPr/>
        </p:nvSpPr>
        <p:spPr>
          <a:xfrm>
            <a:off x="6675120" y="1691640"/>
            <a:ext cx="1554480" cy="411480"/>
          </a:xfrm>
          <a:prstGeom prst="roundRect">
            <a:avLst>
              <a:gd name="adj" fmla="val 22222"/>
            </a:avLst>
          </a:prstGeom>
          <a:solidFill>
            <a:schemeClr val="accent4">
              <a:alpha val="20000"/>
            </a:schemeClr>
          </a:solidFill>
          <a:ln w="15875">
            <a:solidFill>
              <a:schemeClr val="accent4"/>
            </a:solidFill>
            <a:prstDash val="solid"/>
          </a:ln>
        </p:spPr>
        <p:txBody>
          <a:bodyPr/>
          <a:lstStyle/>
          <a:p>
            <a:endParaRPr lang="en-IN"/>
          </a:p>
        </p:txBody>
      </p:sp>
      <p:sp>
        <p:nvSpPr>
          <p:cNvPr id="37" name="Text 28"/>
          <p:cNvSpPr txBox="1"/>
          <p:nvPr/>
        </p:nvSpPr>
        <p:spPr>
          <a:xfrm>
            <a:off x="6675120" y="1691640"/>
            <a:ext cx="1554480" cy="411480"/>
          </a:xfrm>
          <a:prstGeom prst="rect">
            <a:avLst/>
          </a:prstGeom>
          <a:noFill/>
          <a:ln/>
        </p:spPr>
        <p:txBody>
          <a:bodyPr wrap="square" lIns="0" tIns="0" rIns="0" bIns="0" rtlCol="0" anchor="ctr"/>
          <a:lstStyle/>
          <a:p>
            <a:pPr marL="0" indent="0" algn="ctr">
              <a:buNone/>
            </a:pPr>
            <a:r>
              <a:rPr lang="en-US" sz="1500" b="1" dirty="0">
                <a:solidFill>
                  <a:schemeClr val="bg1"/>
                </a:solidFill>
              </a:rPr>
              <a:t>Score: 30</a:t>
            </a:r>
            <a:endParaRPr lang="en-US" sz="1500" dirty="0"/>
          </a:p>
        </p:txBody>
      </p:sp>
      <p:sp>
        <p:nvSpPr>
          <p:cNvPr id="38" name="Text 29"/>
          <p:cNvSpPr txBox="1"/>
          <p:nvPr/>
        </p:nvSpPr>
        <p:spPr>
          <a:xfrm>
            <a:off x="10058400" y="1691640"/>
            <a:ext cx="1371600" cy="411480"/>
          </a:xfrm>
          <a:prstGeom prst="rect">
            <a:avLst/>
          </a:prstGeom>
          <a:noFill/>
          <a:ln/>
        </p:spPr>
        <p:txBody>
          <a:bodyPr wrap="square" lIns="0" tIns="0" rIns="0" bIns="0" rtlCol="0" anchor="ctr"/>
          <a:lstStyle/>
          <a:p>
            <a:pPr marL="0" indent="0" algn="r">
              <a:buNone/>
            </a:pPr>
            <a:r>
              <a:rPr lang="en-US" sz="1500" b="1" dirty="0">
                <a:solidFill>
                  <a:schemeClr val="bg2"/>
                </a:solidFill>
              </a:rPr>
              <a:t>Level 1</a:t>
            </a:r>
            <a:endParaRPr lang="en-US" sz="1500" dirty="0"/>
          </a:p>
        </p:txBody>
      </p:sp>
      <p:sp>
        <p:nvSpPr>
          <p:cNvPr id="39" name="Ground"/>
          <p:cNvSpPr/>
          <p:nvPr/>
        </p:nvSpPr>
        <p:spPr>
          <a:xfrm>
            <a:off x="6537960" y="5029200"/>
            <a:ext cx="4965192" cy="896112"/>
          </a:xfrm>
          <a:prstGeom prst="rect">
            <a:avLst/>
          </a:prstGeom>
          <a:solidFill>
            <a:schemeClr val="accent3">
              <a:alpha val="28000"/>
            </a:schemeClr>
          </a:solidFill>
          <a:ln/>
        </p:spPr>
        <p:txBody>
          <a:bodyPr/>
          <a:lstStyle/>
          <a:p>
            <a:endParaRPr lang="en-IN"/>
          </a:p>
        </p:txBody>
      </p:sp>
      <p:sp>
        <p:nvSpPr>
          <p:cNvPr id="40" name="Text 31"/>
          <p:cNvSpPr txBox="1"/>
          <p:nvPr/>
        </p:nvSpPr>
        <p:spPr>
          <a:xfrm>
            <a:off x="6537960" y="5193792"/>
            <a:ext cx="4965192" cy="548640"/>
          </a:xfrm>
          <a:prstGeom prst="rect">
            <a:avLst/>
          </a:prstGeom>
          <a:noFill/>
          <a:ln/>
        </p:spPr>
        <p:txBody>
          <a:bodyPr wrap="square" lIns="0" tIns="0" rIns="0" bIns="0" rtlCol="0" anchor="ctr"/>
          <a:lstStyle/>
          <a:p>
            <a:pPr marL="0" indent="0" algn="ctr">
              <a:buNone/>
            </a:pPr>
            <a:r>
              <a:rPr lang="en-US" sz="1500" dirty="0">
                <a:solidFill>
                  <a:schemeClr val="bg1"/>
                </a:solidFill>
              </a:rPr>
              <a:t>Game world:  move left  •  move right  •  jump</a:t>
            </a:r>
            <a:endParaRPr lang="en-US" sz="1500" dirty="0"/>
          </a:p>
        </p:txBody>
      </p:sp>
      <p:sp>
        <p:nvSpPr>
          <p:cNvPr id="41" name="Circle"/>
          <p:cNvSpPr/>
          <p:nvPr/>
        </p:nvSpPr>
        <p:spPr>
          <a:xfrm>
            <a:off x="6903720" y="4114800"/>
            <a:ext cx="868680" cy="868680"/>
          </a:xfrm>
          <a:prstGeom prst="ellipse">
            <a:avLst/>
          </a:prstGeom>
          <a:solidFill>
            <a:schemeClr val="accent1">
              <a:alpha val="22000"/>
            </a:schemeClr>
          </a:solidFill>
          <a:ln w="19050">
            <a:solidFill>
              <a:schemeClr val="accent1"/>
            </a:solidFill>
            <a:prstDash val="solid"/>
          </a:ln>
        </p:spPr>
        <p:txBody>
          <a:bodyPr/>
          <a:lstStyle/>
          <a:p>
            <a:endParaRPr lang="en-IN"/>
          </a:p>
        </p:txBody>
      </p:sp>
      <p:pic>
        <p:nvPicPr>
          <p:cNvPr id="42" name="Icon FaRobot" descr="preencoded.png"/>
          <p:cNvPicPr>
            <a:picLocks noChangeAspect="1"/>
          </p:cNvPicPr>
          <p:nvPr/>
        </p:nvPicPr>
        <p:blipFill>
          <a:blip r:embed="rId3"/>
          <a:stretch>
            <a:fillRect/>
          </a:stretch>
        </p:blipFill>
        <p:spPr>
          <a:xfrm>
            <a:off x="7114032" y="4325112"/>
            <a:ext cx="457200" cy="457200"/>
          </a:xfrm>
          <a:prstGeom prst="rect">
            <a:avLst/>
          </a:prstGeom>
        </p:spPr>
      </p:pic>
      <p:pic>
        <p:nvPicPr>
          <p:cNvPr id="43" name="Icon FaCoins" descr="preencoded.png"/>
          <p:cNvPicPr>
            <a:picLocks noChangeAspect="1"/>
          </p:cNvPicPr>
          <p:nvPr/>
        </p:nvPicPr>
        <p:blipFill>
          <a:blip r:embed="rId7"/>
          <a:stretch>
            <a:fillRect/>
          </a:stretch>
        </p:blipFill>
        <p:spPr>
          <a:xfrm>
            <a:off x="8183880" y="3200400"/>
            <a:ext cx="548640" cy="548640"/>
          </a:xfrm>
          <a:prstGeom prst="rect">
            <a:avLst/>
          </a:prstGeom>
        </p:spPr>
      </p:pic>
      <p:sp>
        <p:nvSpPr>
          <p:cNvPr id="44" name="Arrow"/>
          <p:cNvSpPr/>
          <p:nvPr/>
        </p:nvSpPr>
        <p:spPr>
          <a:xfrm flipV="1">
            <a:off x="7818120" y="3703320"/>
            <a:ext cx="365760" cy="457200"/>
          </a:xfrm>
          <a:prstGeom prst="line">
            <a:avLst/>
          </a:prstGeom>
          <a:noFill/>
          <a:ln w="25400">
            <a:solidFill>
              <a:schemeClr val="accent4"/>
            </a:solidFill>
            <a:prstDash val="solid"/>
            <a:tailEnd type="triangle"/>
          </a:ln>
        </p:spPr>
        <p:txBody>
          <a:bodyPr/>
          <a:lstStyle/>
          <a:p>
            <a:endParaRPr lang="en-IN"/>
          </a:p>
        </p:txBody>
      </p:sp>
      <p:sp>
        <p:nvSpPr>
          <p:cNvPr id="45" name="Obstacle"/>
          <p:cNvSpPr/>
          <p:nvPr/>
        </p:nvSpPr>
        <p:spPr>
          <a:xfrm>
            <a:off x="8732520" y="4526280"/>
            <a:ext cx="640080" cy="502920"/>
          </a:xfrm>
          <a:prstGeom prst="triangle">
            <a:avLst/>
          </a:prstGeom>
          <a:solidFill>
            <a:schemeClr val="accent5"/>
          </a:solidFill>
          <a:ln/>
        </p:spPr>
        <p:txBody>
          <a:bodyPr/>
          <a:lstStyle/>
          <a:p>
            <a:endParaRPr lang="en-IN"/>
          </a:p>
        </p:txBody>
      </p:sp>
      <p:sp>
        <p:nvSpPr>
          <p:cNvPr id="46" name="Text 35"/>
          <p:cNvSpPr txBox="1"/>
          <p:nvPr/>
        </p:nvSpPr>
        <p:spPr>
          <a:xfrm>
            <a:off x="8503920" y="3931920"/>
            <a:ext cx="1097280" cy="365760"/>
          </a:xfrm>
          <a:prstGeom prst="rect">
            <a:avLst/>
          </a:prstGeom>
          <a:noFill/>
          <a:ln/>
        </p:spPr>
        <p:txBody>
          <a:bodyPr wrap="square" lIns="0" tIns="0" rIns="0" bIns="0" rtlCol="0" anchor="ctr"/>
          <a:lstStyle/>
          <a:p>
            <a:pPr marL="0" indent="0" algn="ctr">
              <a:buNone/>
            </a:pPr>
            <a:r>
              <a:rPr lang="en-US" sz="1600" b="1" dirty="0">
                <a:solidFill>
                  <a:schemeClr val="accent4"/>
                </a:solidFill>
              </a:rPr>
              <a:t>Jump!</a:t>
            </a:r>
            <a:endParaRPr lang="en-US" sz="1600" dirty="0"/>
          </a:p>
        </p:txBody>
      </p:sp>
      <p:pic>
        <p:nvPicPr>
          <p:cNvPr id="47" name="Icon FaCoins" descr="preencoded.png"/>
          <p:cNvPicPr>
            <a:picLocks noChangeAspect="1"/>
          </p:cNvPicPr>
          <p:nvPr/>
        </p:nvPicPr>
        <p:blipFill>
          <a:blip r:embed="rId7"/>
          <a:stretch>
            <a:fillRect/>
          </a:stretch>
        </p:blipFill>
        <p:spPr>
          <a:xfrm>
            <a:off x="9646920" y="3200400"/>
            <a:ext cx="548640" cy="548640"/>
          </a:xfrm>
          <a:prstGeom prst="rect">
            <a:avLst/>
          </a:prstGeom>
        </p:spPr>
      </p:pic>
      <p:pic>
        <p:nvPicPr>
          <p:cNvPr id="48" name="Icon FaTrophy" descr="preencoded.png"/>
          <p:cNvPicPr>
            <a:picLocks noChangeAspect="1"/>
          </p:cNvPicPr>
          <p:nvPr/>
        </p:nvPicPr>
        <p:blipFill>
          <a:blip r:embed="rId9"/>
          <a:stretch>
            <a:fillRect/>
          </a:stretch>
        </p:blipFill>
        <p:spPr>
          <a:xfrm>
            <a:off x="10652760" y="4160520"/>
            <a:ext cx="777240" cy="777240"/>
          </a:xfrm>
          <a:prstGeom prst="rect">
            <a:avLst/>
          </a:prstGeom>
        </p:spPr>
      </p:pic>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Applications of Reinforcement Learning</a:t>
            </a:r>
            <a:endParaRPr lang="en-US" sz="3800" dirty="0"/>
          </a:p>
        </p:txBody>
      </p:sp>
      <p:sp>
        <p:nvSpPr>
          <p:cNvPr id="5" name="Card"/>
          <p:cNvSpPr/>
          <p:nvPr/>
        </p:nvSpPr>
        <p:spPr>
          <a:xfrm>
            <a:off x="548640" y="1463040"/>
            <a:ext cx="2601468" cy="2148840"/>
          </a:xfrm>
          <a:prstGeom prst="roundRect">
            <a:avLst>
              <a:gd name="adj" fmla="val 5106"/>
            </a:avLst>
          </a:prstGeom>
          <a:solidFill>
            <a:schemeClr val="tx2"/>
          </a:solidFill>
          <a:ln/>
        </p:spPr>
        <p:txBody>
          <a:bodyPr/>
          <a:lstStyle/>
          <a:p>
            <a:endParaRPr lang="en-IN"/>
          </a:p>
        </p:txBody>
      </p:sp>
      <p:sp>
        <p:nvSpPr>
          <p:cNvPr id="6" name="Circle"/>
          <p:cNvSpPr/>
          <p:nvPr/>
        </p:nvSpPr>
        <p:spPr>
          <a:xfrm>
            <a:off x="777240" y="1645920"/>
            <a:ext cx="731520" cy="731520"/>
          </a:xfrm>
          <a:prstGeom prst="ellipse">
            <a:avLst/>
          </a:prstGeom>
          <a:solidFill>
            <a:schemeClr val="accent1">
              <a:alpha val="18000"/>
            </a:schemeClr>
          </a:solidFill>
          <a:ln/>
        </p:spPr>
        <p:txBody>
          <a:bodyPr/>
          <a:lstStyle/>
          <a:p>
            <a:endParaRPr lang="en-IN"/>
          </a:p>
        </p:txBody>
      </p:sp>
      <p:pic>
        <p:nvPicPr>
          <p:cNvPr id="7" name="Icon FaRobot" descr="preencoded.png"/>
          <p:cNvPicPr>
            <a:picLocks noChangeAspect="1"/>
          </p:cNvPicPr>
          <p:nvPr/>
        </p:nvPicPr>
        <p:blipFill>
          <a:blip r:embed="rId3"/>
          <a:stretch>
            <a:fillRect/>
          </a:stretch>
        </p:blipFill>
        <p:spPr>
          <a:xfrm>
            <a:off x="960120" y="1828800"/>
            <a:ext cx="365760" cy="365760"/>
          </a:xfrm>
          <a:prstGeom prst="rect">
            <a:avLst/>
          </a:prstGeom>
        </p:spPr>
      </p:pic>
      <p:sp>
        <p:nvSpPr>
          <p:cNvPr id="8" name="Text 4"/>
          <p:cNvSpPr txBox="1"/>
          <p:nvPr/>
        </p:nvSpPr>
        <p:spPr>
          <a:xfrm>
            <a:off x="777240" y="2468880"/>
            <a:ext cx="2235708" cy="411480"/>
          </a:xfrm>
          <a:prstGeom prst="rect">
            <a:avLst/>
          </a:prstGeom>
          <a:noFill/>
          <a:ln/>
        </p:spPr>
        <p:txBody>
          <a:bodyPr wrap="square" lIns="0" tIns="0" rIns="0" bIns="0" rtlCol="0" anchor="ctr"/>
          <a:lstStyle/>
          <a:p>
            <a:pPr marL="0" indent="0">
              <a:buNone/>
            </a:pPr>
            <a:r>
              <a:rPr lang="en-US" sz="1700" b="1" dirty="0">
                <a:solidFill>
                  <a:schemeClr val="accent1"/>
                </a:solidFill>
              </a:rPr>
              <a:t>Robotics</a:t>
            </a:r>
            <a:endParaRPr lang="en-US" sz="1700" dirty="0"/>
          </a:p>
        </p:txBody>
      </p:sp>
      <p:sp>
        <p:nvSpPr>
          <p:cNvPr id="9" name="Text 5"/>
          <p:cNvSpPr txBox="1"/>
          <p:nvPr/>
        </p:nvSpPr>
        <p:spPr>
          <a:xfrm>
            <a:off x="777240" y="2880360"/>
            <a:ext cx="2189988" cy="640080"/>
          </a:xfrm>
          <a:prstGeom prst="rect">
            <a:avLst/>
          </a:prstGeom>
          <a:noFill/>
          <a:ln/>
        </p:spPr>
        <p:txBody>
          <a:bodyPr wrap="square" lIns="0" tIns="0" rIns="0" bIns="0" rtlCol="0" anchor="t"/>
          <a:lstStyle/>
          <a:p>
            <a:pPr marL="0" indent="0">
              <a:buNone/>
            </a:pPr>
            <a:r>
              <a:rPr lang="en-US" sz="1400" dirty="0">
                <a:solidFill>
                  <a:schemeClr val="bg1"/>
                </a:solidFill>
              </a:rPr>
              <a:t>Robots learn to walk, grip and move</a:t>
            </a:r>
            <a:endParaRPr lang="en-US" sz="1400" dirty="0"/>
          </a:p>
        </p:txBody>
      </p:sp>
      <p:sp>
        <p:nvSpPr>
          <p:cNvPr id="10" name="Card"/>
          <p:cNvSpPr/>
          <p:nvPr/>
        </p:nvSpPr>
        <p:spPr>
          <a:xfrm>
            <a:off x="3378708" y="1463040"/>
            <a:ext cx="2601468" cy="2148840"/>
          </a:xfrm>
          <a:prstGeom prst="roundRect">
            <a:avLst>
              <a:gd name="adj" fmla="val 5106"/>
            </a:avLst>
          </a:prstGeom>
          <a:solidFill>
            <a:schemeClr val="tx2"/>
          </a:solidFill>
          <a:ln/>
        </p:spPr>
        <p:txBody>
          <a:bodyPr/>
          <a:lstStyle/>
          <a:p>
            <a:endParaRPr lang="en-IN"/>
          </a:p>
        </p:txBody>
      </p:sp>
      <p:sp>
        <p:nvSpPr>
          <p:cNvPr id="11" name="Circle"/>
          <p:cNvSpPr/>
          <p:nvPr/>
        </p:nvSpPr>
        <p:spPr>
          <a:xfrm>
            <a:off x="3607308" y="1645920"/>
            <a:ext cx="731520" cy="731520"/>
          </a:xfrm>
          <a:prstGeom prst="ellipse">
            <a:avLst/>
          </a:prstGeom>
          <a:solidFill>
            <a:schemeClr val="accent3">
              <a:alpha val="18000"/>
            </a:schemeClr>
          </a:solidFill>
          <a:ln/>
        </p:spPr>
        <p:txBody>
          <a:bodyPr/>
          <a:lstStyle/>
          <a:p>
            <a:endParaRPr lang="en-IN"/>
          </a:p>
        </p:txBody>
      </p:sp>
      <p:pic>
        <p:nvPicPr>
          <p:cNvPr id="12" name="Icon FaCar" descr="preencoded.png"/>
          <p:cNvPicPr>
            <a:picLocks noChangeAspect="1"/>
          </p:cNvPicPr>
          <p:nvPr/>
        </p:nvPicPr>
        <p:blipFill>
          <a:blip r:embed="rId4"/>
          <a:stretch>
            <a:fillRect/>
          </a:stretch>
        </p:blipFill>
        <p:spPr>
          <a:xfrm>
            <a:off x="3790188" y="1828800"/>
            <a:ext cx="365760" cy="365760"/>
          </a:xfrm>
          <a:prstGeom prst="rect">
            <a:avLst/>
          </a:prstGeom>
        </p:spPr>
      </p:pic>
      <p:sp>
        <p:nvSpPr>
          <p:cNvPr id="13" name="Text 8"/>
          <p:cNvSpPr txBox="1"/>
          <p:nvPr/>
        </p:nvSpPr>
        <p:spPr>
          <a:xfrm>
            <a:off x="3607308" y="2468880"/>
            <a:ext cx="2235708" cy="411480"/>
          </a:xfrm>
          <a:prstGeom prst="rect">
            <a:avLst/>
          </a:prstGeom>
          <a:noFill/>
          <a:ln/>
        </p:spPr>
        <p:txBody>
          <a:bodyPr wrap="square" lIns="0" tIns="0" rIns="0" bIns="0" rtlCol="0" anchor="ctr"/>
          <a:lstStyle/>
          <a:p>
            <a:pPr marL="0" indent="0">
              <a:buNone/>
            </a:pPr>
            <a:r>
              <a:rPr lang="en-US" sz="1700" b="1" dirty="0">
                <a:solidFill>
                  <a:schemeClr val="accent3"/>
                </a:solidFill>
              </a:rPr>
              <a:t>Self-Driving Vehicles</a:t>
            </a:r>
            <a:endParaRPr lang="en-US" sz="1700" dirty="0"/>
          </a:p>
        </p:txBody>
      </p:sp>
      <p:sp>
        <p:nvSpPr>
          <p:cNvPr id="14" name="Text 9"/>
          <p:cNvSpPr txBox="1"/>
          <p:nvPr/>
        </p:nvSpPr>
        <p:spPr>
          <a:xfrm>
            <a:off x="3607308" y="2880360"/>
            <a:ext cx="2189988" cy="640080"/>
          </a:xfrm>
          <a:prstGeom prst="rect">
            <a:avLst/>
          </a:prstGeom>
          <a:noFill/>
          <a:ln/>
        </p:spPr>
        <p:txBody>
          <a:bodyPr wrap="square" lIns="0" tIns="0" rIns="0" bIns="0" rtlCol="0" anchor="t"/>
          <a:lstStyle/>
          <a:p>
            <a:pPr marL="0" indent="0">
              <a:buNone/>
            </a:pPr>
            <a:r>
              <a:rPr lang="en-US" sz="1400" dirty="0">
                <a:solidFill>
                  <a:schemeClr val="bg1"/>
                </a:solidFill>
              </a:rPr>
              <a:t>Cars learn to steer, brake and change lanes</a:t>
            </a:r>
            <a:endParaRPr lang="en-US" sz="1400" dirty="0"/>
          </a:p>
        </p:txBody>
      </p:sp>
      <p:sp>
        <p:nvSpPr>
          <p:cNvPr id="15" name="Card"/>
          <p:cNvSpPr/>
          <p:nvPr/>
        </p:nvSpPr>
        <p:spPr>
          <a:xfrm>
            <a:off x="6208776" y="1463040"/>
            <a:ext cx="2601468" cy="2148840"/>
          </a:xfrm>
          <a:prstGeom prst="roundRect">
            <a:avLst>
              <a:gd name="adj" fmla="val 5106"/>
            </a:avLst>
          </a:prstGeom>
          <a:solidFill>
            <a:schemeClr val="tx2"/>
          </a:solidFill>
          <a:ln/>
        </p:spPr>
        <p:txBody>
          <a:bodyPr/>
          <a:lstStyle/>
          <a:p>
            <a:endParaRPr lang="en-IN"/>
          </a:p>
        </p:txBody>
      </p:sp>
      <p:sp>
        <p:nvSpPr>
          <p:cNvPr id="16" name="Circle"/>
          <p:cNvSpPr/>
          <p:nvPr/>
        </p:nvSpPr>
        <p:spPr>
          <a:xfrm>
            <a:off x="6437376" y="1645920"/>
            <a:ext cx="731520" cy="731520"/>
          </a:xfrm>
          <a:prstGeom prst="ellipse">
            <a:avLst/>
          </a:prstGeom>
          <a:solidFill>
            <a:schemeClr val="accent6">
              <a:alpha val="18000"/>
            </a:schemeClr>
          </a:solidFill>
          <a:ln/>
        </p:spPr>
        <p:txBody>
          <a:bodyPr/>
          <a:lstStyle/>
          <a:p>
            <a:endParaRPr lang="en-IN"/>
          </a:p>
        </p:txBody>
      </p:sp>
      <p:pic>
        <p:nvPicPr>
          <p:cNvPr id="17" name="Icon FaGamepad" descr="preencoded.png"/>
          <p:cNvPicPr>
            <a:picLocks noChangeAspect="1"/>
          </p:cNvPicPr>
          <p:nvPr/>
        </p:nvPicPr>
        <p:blipFill>
          <a:blip r:embed="rId5"/>
          <a:stretch>
            <a:fillRect/>
          </a:stretch>
        </p:blipFill>
        <p:spPr>
          <a:xfrm>
            <a:off x="6620256" y="1828800"/>
            <a:ext cx="365760" cy="365760"/>
          </a:xfrm>
          <a:prstGeom prst="rect">
            <a:avLst/>
          </a:prstGeom>
        </p:spPr>
      </p:pic>
      <p:sp>
        <p:nvSpPr>
          <p:cNvPr id="18" name="Text 12"/>
          <p:cNvSpPr txBox="1"/>
          <p:nvPr/>
        </p:nvSpPr>
        <p:spPr>
          <a:xfrm>
            <a:off x="6437376" y="2468880"/>
            <a:ext cx="2235708" cy="411480"/>
          </a:xfrm>
          <a:prstGeom prst="rect">
            <a:avLst/>
          </a:prstGeom>
          <a:noFill/>
          <a:ln/>
        </p:spPr>
        <p:txBody>
          <a:bodyPr wrap="square" lIns="0" tIns="0" rIns="0" bIns="0" rtlCol="0" anchor="ctr"/>
          <a:lstStyle/>
          <a:p>
            <a:pPr marL="0" indent="0">
              <a:buNone/>
            </a:pPr>
            <a:r>
              <a:rPr lang="en-US" sz="1700" b="1" dirty="0">
                <a:solidFill>
                  <a:schemeClr val="accent6"/>
                </a:solidFill>
              </a:rPr>
              <a:t>Games</a:t>
            </a:r>
            <a:endParaRPr lang="en-US" sz="1700" dirty="0"/>
          </a:p>
        </p:txBody>
      </p:sp>
      <p:sp>
        <p:nvSpPr>
          <p:cNvPr id="19" name="Text 13"/>
          <p:cNvSpPr txBox="1"/>
          <p:nvPr/>
        </p:nvSpPr>
        <p:spPr>
          <a:xfrm>
            <a:off x="6437376" y="2880360"/>
            <a:ext cx="2189988" cy="640080"/>
          </a:xfrm>
          <a:prstGeom prst="rect">
            <a:avLst/>
          </a:prstGeom>
          <a:noFill/>
          <a:ln/>
        </p:spPr>
        <p:txBody>
          <a:bodyPr wrap="square" lIns="0" tIns="0" rIns="0" bIns="0" rtlCol="0" anchor="t"/>
          <a:lstStyle/>
          <a:p>
            <a:pPr marL="0" indent="0">
              <a:buNone/>
            </a:pPr>
            <a:r>
              <a:rPr lang="en-US" sz="1400" dirty="0">
                <a:solidFill>
                  <a:schemeClr val="bg1"/>
                </a:solidFill>
              </a:rPr>
              <a:t>AI learns to beat chess, Go and video games</a:t>
            </a:r>
            <a:endParaRPr lang="en-US" sz="1400" dirty="0"/>
          </a:p>
        </p:txBody>
      </p:sp>
      <p:sp>
        <p:nvSpPr>
          <p:cNvPr id="20" name="Card"/>
          <p:cNvSpPr/>
          <p:nvPr/>
        </p:nvSpPr>
        <p:spPr>
          <a:xfrm>
            <a:off x="9038844" y="1463040"/>
            <a:ext cx="2601468" cy="2148840"/>
          </a:xfrm>
          <a:prstGeom prst="roundRect">
            <a:avLst>
              <a:gd name="adj" fmla="val 5106"/>
            </a:avLst>
          </a:prstGeom>
          <a:solidFill>
            <a:schemeClr val="tx2"/>
          </a:solidFill>
          <a:ln/>
        </p:spPr>
        <p:txBody>
          <a:bodyPr/>
          <a:lstStyle/>
          <a:p>
            <a:endParaRPr lang="en-IN"/>
          </a:p>
        </p:txBody>
      </p:sp>
      <p:sp>
        <p:nvSpPr>
          <p:cNvPr id="21" name="Circle"/>
          <p:cNvSpPr/>
          <p:nvPr/>
        </p:nvSpPr>
        <p:spPr>
          <a:xfrm>
            <a:off x="9267444" y="1645920"/>
            <a:ext cx="731520" cy="731520"/>
          </a:xfrm>
          <a:prstGeom prst="ellipse">
            <a:avLst/>
          </a:prstGeom>
          <a:solidFill>
            <a:schemeClr val="accent2">
              <a:alpha val="18000"/>
            </a:schemeClr>
          </a:solidFill>
          <a:ln/>
        </p:spPr>
        <p:txBody>
          <a:bodyPr/>
          <a:lstStyle/>
          <a:p>
            <a:endParaRPr lang="en-IN"/>
          </a:p>
        </p:txBody>
      </p:sp>
      <p:pic>
        <p:nvPicPr>
          <p:cNvPr id="22" name="Icon FaThumbsUp" descr="preencoded.png"/>
          <p:cNvPicPr>
            <a:picLocks noChangeAspect="1"/>
          </p:cNvPicPr>
          <p:nvPr/>
        </p:nvPicPr>
        <p:blipFill>
          <a:blip r:embed="rId6"/>
          <a:stretch>
            <a:fillRect/>
          </a:stretch>
        </p:blipFill>
        <p:spPr>
          <a:xfrm>
            <a:off x="9450324" y="1828800"/>
            <a:ext cx="365760" cy="365760"/>
          </a:xfrm>
          <a:prstGeom prst="rect">
            <a:avLst/>
          </a:prstGeom>
        </p:spPr>
      </p:pic>
      <p:sp>
        <p:nvSpPr>
          <p:cNvPr id="23" name="Text 16"/>
          <p:cNvSpPr txBox="1"/>
          <p:nvPr/>
        </p:nvSpPr>
        <p:spPr>
          <a:xfrm>
            <a:off x="9267444" y="2468880"/>
            <a:ext cx="2235708" cy="411480"/>
          </a:xfrm>
          <a:prstGeom prst="rect">
            <a:avLst/>
          </a:prstGeom>
          <a:noFill/>
          <a:ln/>
        </p:spPr>
        <p:txBody>
          <a:bodyPr wrap="square" lIns="0" tIns="0" rIns="0" bIns="0" rtlCol="0" anchor="ctr"/>
          <a:lstStyle/>
          <a:p>
            <a:pPr marL="0" indent="0">
              <a:buNone/>
            </a:pPr>
            <a:r>
              <a:rPr lang="en-US" sz="1700" b="1" dirty="0">
                <a:solidFill>
                  <a:schemeClr val="accent2"/>
                </a:solidFill>
              </a:rPr>
              <a:t>Recommendations</a:t>
            </a:r>
            <a:endParaRPr lang="en-US" sz="1700" dirty="0"/>
          </a:p>
        </p:txBody>
      </p:sp>
      <p:sp>
        <p:nvSpPr>
          <p:cNvPr id="24" name="Text 17"/>
          <p:cNvSpPr txBox="1"/>
          <p:nvPr/>
        </p:nvSpPr>
        <p:spPr>
          <a:xfrm>
            <a:off x="9267444" y="2880360"/>
            <a:ext cx="2189988" cy="640080"/>
          </a:xfrm>
          <a:prstGeom prst="rect">
            <a:avLst/>
          </a:prstGeom>
          <a:noFill/>
          <a:ln/>
        </p:spPr>
        <p:txBody>
          <a:bodyPr wrap="square" lIns="0" tIns="0" rIns="0" bIns="0" rtlCol="0" anchor="t"/>
          <a:lstStyle/>
          <a:p>
            <a:pPr marL="0" indent="0">
              <a:buNone/>
            </a:pPr>
            <a:r>
              <a:rPr lang="en-US" sz="1400" dirty="0">
                <a:solidFill>
                  <a:schemeClr val="bg1"/>
                </a:solidFill>
              </a:rPr>
              <a:t>Suggests videos and products you may like</a:t>
            </a:r>
            <a:endParaRPr lang="en-US" sz="1400" dirty="0"/>
          </a:p>
        </p:txBody>
      </p:sp>
      <p:sp>
        <p:nvSpPr>
          <p:cNvPr id="25" name="Card"/>
          <p:cNvSpPr/>
          <p:nvPr/>
        </p:nvSpPr>
        <p:spPr>
          <a:xfrm>
            <a:off x="548640" y="3840480"/>
            <a:ext cx="2601468" cy="2148840"/>
          </a:xfrm>
          <a:prstGeom prst="roundRect">
            <a:avLst>
              <a:gd name="adj" fmla="val 5106"/>
            </a:avLst>
          </a:prstGeom>
          <a:solidFill>
            <a:schemeClr val="tx2"/>
          </a:solidFill>
          <a:ln/>
        </p:spPr>
        <p:txBody>
          <a:bodyPr/>
          <a:lstStyle/>
          <a:p>
            <a:endParaRPr lang="en-IN"/>
          </a:p>
        </p:txBody>
      </p:sp>
      <p:sp>
        <p:nvSpPr>
          <p:cNvPr id="26" name="Circle"/>
          <p:cNvSpPr/>
          <p:nvPr/>
        </p:nvSpPr>
        <p:spPr>
          <a:xfrm>
            <a:off x="777240" y="4023360"/>
            <a:ext cx="731520" cy="731520"/>
          </a:xfrm>
          <a:prstGeom prst="ellipse">
            <a:avLst/>
          </a:prstGeom>
          <a:solidFill>
            <a:schemeClr val="accent5">
              <a:alpha val="18000"/>
            </a:schemeClr>
          </a:solidFill>
          <a:ln/>
        </p:spPr>
        <p:txBody>
          <a:bodyPr/>
          <a:lstStyle/>
          <a:p>
            <a:endParaRPr lang="en-IN"/>
          </a:p>
        </p:txBody>
      </p:sp>
      <p:pic>
        <p:nvPicPr>
          <p:cNvPr id="27" name="Icon FaHeartbeat" descr="preencoded.png"/>
          <p:cNvPicPr>
            <a:picLocks noChangeAspect="1"/>
          </p:cNvPicPr>
          <p:nvPr/>
        </p:nvPicPr>
        <p:blipFill>
          <a:blip r:embed="rId7"/>
          <a:stretch>
            <a:fillRect/>
          </a:stretch>
        </p:blipFill>
        <p:spPr>
          <a:xfrm>
            <a:off x="960120" y="4206240"/>
            <a:ext cx="365760" cy="365760"/>
          </a:xfrm>
          <a:prstGeom prst="rect">
            <a:avLst/>
          </a:prstGeom>
        </p:spPr>
      </p:pic>
      <p:sp>
        <p:nvSpPr>
          <p:cNvPr id="28" name="Text 20"/>
          <p:cNvSpPr txBox="1"/>
          <p:nvPr/>
        </p:nvSpPr>
        <p:spPr>
          <a:xfrm>
            <a:off x="777240" y="4846320"/>
            <a:ext cx="2235708" cy="411480"/>
          </a:xfrm>
          <a:prstGeom prst="rect">
            <a:avLst/>
          </a:prstGeom>
          <a:noFill/>
          <a:ln/>
        </p:spPr>
        <p:txBody>
          <a:bodyPr wrap="square" lIns="0" tIns="0" rIns="0" bIns="0" rtlCol="0" anchor="ctr"/>
          <a:lstStyle/>
          <a:p>
            <a:pPr marL="0" indent="0">
              <a:buNone/>
            </a:pPr>
            <a:r>
              <a:rPr lang="en-US" sz="1700" b="1" dirty="0">
                <a:solidFill>
                  <a:schemeClr val="accent5"/>
                </a:solidFill>
              </a:rPr>
              <a:t>Healthcare</a:t>
            </a:r>
            <a:endParaRPr lang="en-US" sz="1700" dirty="0"/>
          </a:p>
        </p:txBody>
      </p:sp>
      <p:sp>
        <p:nvSpPr>
          <p:cNvPr id="29" name="Text 21"/>
          <p:cNvSpPr txBox="1"/>
          <p:nvPr/>
        </p:nvSpPr>
        <p:spPr>
          <a:xfrm>
            <a:off x="777240" y="5257800"/>
            <a:ext cx="2189988" cy="640080"/>
          </a:xfrm>
          <a:prstGeom prst="rect">
            <a:avLst/>
          </a:prstGeom>
          <a:noFill/>
          <a:ln/>
        </p:spPr>
        <p:txBody>
          <a:bodyPr wrap="square" lIns="0" tIns="0" rIns="0" bIns="0" rtlCol="0" anchor="t"/>
          <a:lstStyle/>
          <a:p>
            <a:pPr marL="0" indent="0">
              <a:buNone/>
            </a:pPr>
            <a:r>
              <a:rPr lang="en-US" sz="1400" dirty="0">
                <a:solidFill>
                  <a:schemeClr val="bg1"/>
                </a:solidFill>
              </a:rPr>
              <a:t>Helps plan treatments over time</a:t>
            </a:r>
            <a:endParaRPr lang="en-US" sz="1400" dirty="0"/>
          </a:p>
        </p:txBody>
      </p:sp>
      <p:sp>
        <p:nvSpPr>
          <p:cNvPr id="30" name="Card"/>
          <p:cNvSpPr/>
          <p:nvPr/>
        </p:nvSpPr>
        <p:spPr>
          <a:xfrm>
            <a:off x="3378708" y="3840480"/>
            <a:ext cx="2601468" cy="2148840"/>
          </a:xfrm>
          <a:prstGeom prst="roundRect">
            <a:avLst>
              <a:gd name="adj" fmla="val 5106"/>
            </a:avLst>
          </a:prstGeom>
          <a:solidFill>
            <a:schemeClr val="tx2"/>
          </a:solidFill>
          <a:ln/>
        </p:spPr>
        <p:txBody>
          <a:bodyPr/>
          <a:lstStyle/>
          <a:p>
            <a:endParaRPr lang="en-IN"/>
          </a:p>
        </p:txBody>
      </p:sp>
      <p:sp>
        <p:nvSpPr>
          <p:cNvPr id="31" name="Circle"/>
          <p:cNvSpPr/>
          <p:nvPr/>
        </p:nvSpPr>
        <p:spPr>
          <a:xfrm>
            <a:off x="3607308" y="4023360"/>
            <a:ext cx="731520" cy="731520"/>
          </a:xfrm>
          <a:prstGeom prst="ellipse">
            <a:avLst/>
          </a:prstGeom>
          <a:solidFill>
            <a:schemeClr val="accent4">
              <a:alpha val="18000"/>
            </a:schemeClr>
          </a:solidFill>
          <a:ln/>
        </p:spPr>
        <p:txBody>
          <a:bodyPr/>
          <a:lstStyle/>
          <a:p>
            <a:endParaRPr lang="en-IN"/>
          </a:p>
        </p:txBody>
      </p:sp>
      <p:pic>
        <p:nvPicPr>
          <p:cNvPr id="32" name="Icon FaChartLine" descr="preencoded.png"/>
          <p:cNvPicPr>
            <a:picLocks noChangeAspect="1"/>
          </p:cNvPicPr>
          <p:nvPr/>
        </p:nvPicPr>
        <p:blipFill>
          <a:blip r:embed="rId8"/>
          <a:stretch>
            <a:fillRect/>
          </a:stretch>
        </p:blipFill>
        <p:spPr>
          <a:xfrm>
            <a:off x="3790188" y="4206240"/>
            <a:ext cx="365760" cy="365760"/>
          </a:xfrm>
          <a:prstGeom prst="rect">
            <a:avLst/>
          </a:prstGeom>
        </p:spPr>
      </p:pic>
      <p:sp>
        <p:nvSpPr>
          <p:cNvPr id="33" name="Text 24"/>
          <p:cNvSpPr txBox="1"/>
          <p:nvPr/>
        </p:nvSpPr>
        <p:spPr>
          <a:xfrm>
            <a:off x="3607308" y="4846320"/>
            <a:ext cx="2235708" cy="411480"/>
          </a:xfrm>
          <a:prstGeom prst="rect">
            <a:avLst/>
          </a:prstGeom>
          <a:noFill/>
          <a:ln/>
        </p:spPr>
        <p:txBody>
          <a:bodyPr wrap="square" lIns="0" tIns="0" rIns="0" bIns="0" rtlCol="0" anchor="ctr"/>
          <a:lstStyle/>
          <a:p>
            <a:pPr marL="0" indent="0">
              <a:buNone/>
            </a:pPr>
            <a:r>
              <a:rPr lang="en-US" sz="1700" b="1" dirty="0">
                <a:solidFill>
                  <a:schemeClr val="accent4"/>
                </a:solidFill>
              </a:rPr>
              <a:t>Finance</a:t>
            </a:r>
            <a:endParaRPr lang="en-US" sz="1700" dirty="0"/>
          </a:p>
        </p:txBody>
      </p:sp>
      <p:sp>
        <p:nvSpPr>
          <p:cNvPr id="34" name="Text 25"/>
          <p:cNvSpPr txBox="1"/>
          <p:nvPr/>
        </p:nvSpPr>
        <p:spPr>
          <a:xfrm>
            <a:off x="3607308" y="5257800"/>
            <a:ext cx="2189988" cy="640080"/>
          </a:xfrm>
          <a:prstGeom prst="rect">
            <a:avLst/>
          </a:prstGeom>
          <a:noFill/>
          <a:ln/>
        </p:spPr>
        <p:txBody>
          <a:bodyPr wrap="square" lIns="0" tIns="0" rIns="0" bIns="0" rtlCol="0" anchor="t"/>
          <a:lstStyle/>
          <a:p>
            <a:pPr marL="0" indent="0">
              <a:buNone/>
            </a:pPr>
            <a:r>
              <a:rPr lang="en-US" sz="1400" dirty="0">
                <a:solidFill>
                  <a:schemeClr val="bg1"/>
                </a:solidFill>
              </a:rPr>
              <a:t>Helps decide when to buy or sell</a:t>
            </a:r>
            <a:endParaRPr lang="en-US" sz="1400" dirty="0"/>
          </a:p>
        </p:txBody>
      </p:sp>
      <p:sp>
        <p:nvSpPr>
          <p:cNvPr id="35" name="Card"/>
          <p:cNvSpPr/>
          <p:nvPr/>
        </p:nvSpPr>
        <p:spPr>
          <a:xfrm>
            <a:off x="6208776" y="3840480"/>
            <a:ext cx="2601468" cy="2148840"/>
          </a:xfrm>
          <a:prstGeom prst="roundRect">
            <a:avLst>
              <a:gd name="adj" fmla="val 5106"/>
            </a:avLst>
          </a:prstGeom>
          <a:solidFill>
            <a:schemeClr val="tx2"/>
          </a:solidFill>
          <a:ln/>
        </p:spPr>
        <p:txBody>
          <a:bodyPr/>
          <a:lstStyle/>
          <a:p>
            <a:endParaRPr lang="en-IN"/>
          </a:p>
        </p:txBody>
      </p:sp>
      <p:sp>
        <p:nvSpPr>
          <p:cNvPr id="36" name="Circle"/>
          <p:cNvSpPr/>
          <p:nvPr/>
        </p:nvSpPr>
        <p:spPr>
          <a:xfrm>
            <a:off x="6437376" y="4023360"/>
            <a:ext cx="731520" cy="731520"/>
          </a:xfrm>
          <a:prstGeom prst="ellipse">
            <a:avLst/>
          </a:prstGeom>
          <a:solidFill>
            <a:schemeClr val="accent1">
              <a:alpha val="18000"/>
            </a:schemeClr>
          </a:solidFill>
          <a:ln/>
        </p:spPr>
        <p:txBody>
          <a:bodyPr/>
          <a:lstStyle/>
          <a:p>
            <a:endParaRPr lang="en-IN"/>
          </a:p>
        </p:txBody>
      </p:sp>
      <p:pic>
        <p:nvPicPr>
          <p:cNvPr id="37" name="Icon FaPlug" descr="preencoded.png"/>
          <p:cNvPicPr>
            <a:picLocks noChangeAspect="1"/>
          </p:cNvPicPr>
          <p:nvPr/>
        </p:nvPicPr>
        <p:blipFill>
          <a:blip r:embed="rId9"/>
          <a:stretch>
            <a:fillRect/>
          </a:stretch>
        </p:blipFill>
        <p:spPr>
          <a:xfrm>
            <a:off x="6620256" y="4206240"/>
            <a:ext cx="365760" cy="365760"/>
          </a:xfrm>
          <a:prstGeom prst="rect">
            <a:avLst/>
          </a:prstGeom>
        </p:spPr>
      </p:pic>
      <p:sp>
        <p:nvSpPr>
          <p:cNvPr id="38" name="Text 28"/>
          <p:cNvSpPr txBox="1"/>
          <p:nvPr/>
        </p:nvSpPr>
        <p:spPr>
          <a:xfrm>
            <a:off x="6437376" y="4846320"/>
            <a:ext cx="2235708" cy="411480"/>
          </a:xfrm>
          <a:prstGeom prst="rect">
            <a:avLst/>
          </a:prstGeom>
          <a:noFill/>
          <a:ln/>
        </p:spPr>
        <p:txBody>
          <a:bodyPr wrap="square" lIns="0" tIns="0" rIns="0" bIns="0" rtlCol="0" anchor="ctr"/>
          <a:lstStyle/>
          <a:p>
            <a:pPr marL="0" indent="0">
              <a:buNone/>
            </a:pPr>
            <a:r>
              <a:rPr lang="en-US" sz="1700" b="1" dirty="0">
                <a:solidFill>
                  <a:schemeClr val="accent1"/>
                </a:solidFill>
              </a:rPr>
              <a:t>Resource Management</a:t>
            </a:r>
            <a:endParaRPr lang="en-US" sz="1700" dirty="0"/>
          </a:p>
        </p:txBody>
      </p:sp>
      <p:sp>
        <p:nvSpPr>
          <p:cNvPr id="39" name="Text 29"/>
          <p:cNvSpPr txBox="1"/>
          <p:nvPr/>
        </p:nvSpPr>
        <p:spPr>
          <a:xfrm>
            <a:off x="6437376" y="5257800"/>
            <a:ext cx="2189988" cy="640080"/>
          </a:xfrm>
          <a:prstGeom prst="rect">
            <a:avLst/>
          </a:prstGeom>
          <a:noFill/>
          <a:ln/>
        </p:spPr>
        <p:txBody>
          <a:bodyPr wrap="square" lIns="0" tIns="0" rIns="0" bIns="0" rtlCol="0" anchor="t"/>
          <a:lstStyle/>
          <a:p>
            <a:pPr marL="0" indent="0">
              <a:buNone/>
            </a:pPr>
            <a:r>
              <a:rPr lang="en-US" sz="1400" dirty="0">
                <a:solidFill>
                  <a:schemeClr val="bg1"/>
                </a:solidFill>
              </a:rPr>
              <a:t>Saves energy and balances power use</a:t>
            </a:r>
            <a:endParaRPr lang="en-US" sz="1400" dirty="0"/>
          </a:p>
        </p:txBody>
      </p:sp>
      <p:sp>
        <p:nvSpPr>
          <p:cNvPr id="40" name="Card"/>
          <p:cNvSpPr/>
          <p:nvPr/>
        </p:nvSpPr>
        <p:spPr>
          <a:xfrm>
            <a:off x="9038844" y="3840480"/>
            <a:ext cx="2601468" cy="2148840"/>
          </a:xfrm>
          <a:prstGeom prst="roundRect">
            <a:avLst>
              <a:gd name="adj" fmla="val 5106"/>
            </a:avLst>
          </a:prstGeom>
          <a:solidFill>
            <a:schemeClr val="tx2"/>
          </a:solidFill>
          <a:ln/>
        </p:spPr>
        <p:txBody>
          <a:bodyPr/>
          <a:lstStyle/>
          <a:p>
            <a:endParaRPr lang="en-IN"/>
          </a:p>
        </p:txBody>
      </p:sp>
      <p:sp>
        <p:nvSpPr>
          <p:cNvPr id="41" name="Circle"/>
          <p:cNvSpPr/>
          <p:nvPr/>
        </p:nvSpPr>
        <p:spPr>
          <a:xfrm>
            <a:off x="9267444" y="4023360"/>
            <a:ext cx="731520" cy="731520"/>
          </a:xfrm>
          <a:prstGeom prst="ellipse">
            <a:avLst/>
          </a:prstGeom>
          <a:solidFill>
            <a:schemeClr val="accent3">
              <a:alpha val="18000"/>
            </a:schemeClr>
          </a:solidFill>
          <a:ln/>
        </p:spPr>
        <p:txBody>
          <a:bodyPr/>
          <a:lstStyle/>
          <a:p>
            <a:endParaRPr lang="en-IN"/>
          </a:p>
        </p:txBody>
      </p:sp>
      <p:pic>
        <p:nvPicPr>
          <p:cNvPr id="42" name="Icon FaIndustry" descr="preencoded.png"/>
          <p:cNvPicPr>
            <a:picLocks noChangeAspect="1"/>
          </p:cNvPicPr>
          <p:nvPr/>
        </p:nvPicPr>
        <p:blipFill>
          <a:blip r:embed="rId10"/>
          <a:stretch>
            <a:fillRect/>
          </a:stretch>
        </p:blipFill>
        <p:spPr>
          <a:xfrm>
            <a:off x="9450324" y="4206240"/>
            <a:ext cx="365760" cy="365760"/>
          </a:xfrm>
          <a:prstGeom prst="rect">
            <a:avLst/>
          </a:prstGeom>
        </p:spPr>
      </p:pic>
      <p:sp>
        <p:nvSpPr>
          <p:cNvPr id="43" name="Text 32"/>
          <p:cNvSpPr txBox="1"/>
          <p:nvPr/>
        </p:nvSpPr>
        <p:spPr>
          <a:xfrm>
            <a:off x="9267444" y="4846320"/>
            <a:ext cx="2235708" cy="411480"/>
          </a:xfrm>
          <a:prstGeom prst="rect">
            <a:avLst/>
          </a:prstGeom>
          <a:noFill/>
          <a:ln/>
        </p:spPr>
        <p:txBody>
          <a:bodyPr wrap="square" lIns="0" tIns="0" rIns="0" bIns="0" rtlCol="0" anchor="ctr"/>
          <a:lstStyle/>
          <a:p>
            <a:pPr marL="0" indent="0">
              <a:buNone/>
            </a:pPr>
            <a:r>
              <a:rPr lang="en-US" sz="1700" b="1" dirty="0">
                <a:solidFill>
                  <a:schemeClr val="accent3"/>
                </a:solidFill>
              </a:rPr>
              <a:t>Industrial Automation</a:t>
            </a:r>
            <a:endParaRPr lang="en-US" sz="1700" dirty="0"/>
          </a:p>
        </p:txBody>
      </p:sp>
      <p:sp>
        <p:nvSpPr>
          <p:cNvPr id="44" name="Text 33"/>
          <p:cNvSpPr txBox="1"/>
          <p:nvPr/>
        </p:nvSpPr>
        <p:spPr>
          <a:xfrm>
            <a:off x="9267444" y="5257800"/>
            <a:ext cx="2189988" cy="640080"/>
          </a:xfrm>
          <a:prstGeom prst="rect">
            <a:avLst/>
          </a:prstGeom>
          <a:noFill/>
          <a:ln/>
        </p:spPr>
        <p:txBody>
          <a:bodyPr wrap="square" lIns="0" tIns="0" rIns="0" bIns="0" rtlCol="0" anchor="t"/>
          <a:lstStyle/>
          <a:p>
            <a:pPr marL="0" indent="0">
              <a:buNone/>
            </a:pPr>
            <a:r>
              <a:rPr lang="en-US" sz="1400" dirty="0">
                <a:solidFill>
                  <a:schemeClr val="bg1"/>
                </a:solidFill>
              </a:rPr>
              <a:t>Factory machines improve speed and quality</a:t>
            </a:r>
            <a:endParaRPr lang="en-US" sz="14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Advantages and Limitations</a:t>
            </a:r>
            <a:endParaRPr lang="en-US" sz="3800" dirty="0"/>
          </a:p>
        </p:txBody>
      </p:sp>
      <p:sp>
        <p:nvSpPr>
          <p:cNvPr id="5" name="Card"/>
          <p:cNvSpPr/>
          <p:nvPr/>
        </p:nvSpPr>
        <p:spPr>
          <a:xfrm>
            <a:off x="548640" y="1463040"/>
            <a:ext cx="5431536" cy="4663440"/>
          </a:xfrm>
          <a:prstGeom prst="roundRect">
            <a:avLst>
              <a:gd name="adj" fmla="val 2353"/>
            </a:avLst>
          </a:prstGeom>
          <a:solidFill>
            <a:schemeClr val="tx2"/>
          </a:solidFill>
          <a:ln w="19050">
            <a:solidFill>
              <a:schemeClr val="accent3"/>
            </a:solidFill>
            <a:prstDash val="solid"/>
          </a:ln>
        </p:spPr>
        <p:txBody>
          <a:bodyPr/>
          <a:lstStyle/>
          <a:p>
            <a:endParaRPr lang="en-IN"/>
          </a:p>
        </p:txBody>
      </p:sp>
      <p:sp>
        <p:nvSpPr>
          <p:cNvPr id="6" name="Circle"/>
          <p:cNvSpPr/>
          <p:nvPr/>
        </p:nvSpPr>
        <p:spPr>
          <a:xfrm>
            <a:off x="822960" y="1645920"/>
            <a:ext cx="685800" cy="685800"/>
          </a:xfrm>
          <a:prstGeom prst="ellipse">
            <a:avLst/>
          </a:prstGeom>
          <a:solidFill>
            <a:schemeClr val="accent3">
              <a:alpha val="18000"/>
            </a:schemeClr>
          </a:solidFill>
          <a:ln/>
        </p:spPr>
        <p:txBody>
          <a:bodyPr/>
          <a:lstStyle/>
          <a:p>
            <a:endParaRPr lang="en-IN"/>
          </a:p>
        </p:txBody>
      </p:sp>
      <p:pic>
        <p:nvPicPr>
          <p:cNvPr id="7" name="Icon FaThumbsUp" descr="preencoded.png"/>
          <p:cNvPicPr>
            <a:picLocks noChangeAspect="1"/>
          </p:cNvPicPr>
          <p:nvPr/>
        </p:nvPicPr>
        <p:blipFill>
          <a:blip r:embed="rId3"/>
          <a:stretch>
            <a:fillRect/>
          </a:stretch>
        </p:blipFill>
        <p:spPr>
          <a:xfrm>
            <a:off x="994410" y="1817370"/>
            <a:ext cx="342900" cy="342900"/>
          </a:xfrm>
          <a:prstGeom prst="rect">
            <a:avLst/>
          </a:prstGeom>
        </p:spPr>
      </p:pic>
      <p:sp>
        <p:nvSpPr>
          <p:cNvPr id="8" name="Text 4"/>
          <p:cNvSpPr txBox="1"/>
          <p:nvPr/>
        </p:nvSpPr>
        <p:spPr>
          <a:xfrm>
            <a:off x="1737360" y="1645920"/>
            <a:ext cx="3657600" cy="685800"/>
          </a:xfrm>
          <a:prstGeom prst="rect">
            <a:avLst/>
          </a:prstGeom>
          <a:noFill/>
          <a:ln/>
        </p:spPr>
        <p:txBody>
          <a:bodyPr wrap="square" lIns="0" tIns="0" rIns="0" bIns="0" rtlCol="0" anchor="ctr"/>
          <a:lstStyle/>
          <a:p>
            <a:pPr marL="0" indent="0">
              <a:buNone/>
            </a:pPr>
            <a:r>
              <a:rPr lang="en-US" sz="2600" b="1" dirty="0">
                <a:solidFill>
                  <a:schemeClr val="accent3"/>
                </a:solidFill>
              </a:rPr>
              <a:t>Advantages</a:t>
            </a:r>
            <a:endParaRPr lang="en-US" sz="2600" dirty="0"/>
          </a:p>
        </p:txBody>
      </p:sp>
      <p:pic>
        <p:nvPicPr>
          <p:cNvPr id="9" name="Icon FaCheckCircle" descr="preencoded.png"/>
          <p:cNvPicPr>
            <a:picLocks noChangeAspect="1"/>
          </p:cNvPicPr>
          <p:nvPr/>
        </p:nvPicPr>
        <p:blipFill>
          <a:blip r:embed="rId4"/>
          <a:stretch>
            <a:fillRect/>
          </a:stretch>
        </p:blipFill>
        <p:spPr>
          <a:xfrm>
            <a:off x="868680" y="2670048"/>
            <a:ext cx="347472" cy="347472"/>
          </a:xfrm>
          <a:prstGeom prst="rect">
            <a:avLst/>
          </a:prstGeom>
        </p:spPr>
      </p:pic>
      <p:sp>
        <p:nvSpPr>
          <p:cNvPr id="10" name="Text 5"/>
          <p:cNvSpPr txBox="1"/>
          <p:nvPr/>
        </p:nvSpPr>
        <p:spPr>
          <a:xfrm>
            <a:off x="1463040" y="2514600"/>
            <a:ext cx="4297680" cy="658368"/>
          </a:xfrm>
          <a:prstGeom prst="rect">
            <a:avLst/>
          </a:prstGeom>
          <a:noFill/>
          <a:ln/>
        </p:spPr>
        <p:txBody>
          <a:bodyPr wrap="square" lIns="0" tIns="0" rIns="0" bIns="0" rtlCol="0" anchor="ctr"/>
          <a:lstStyle/>
          <a:p>
            <a:pPr marL="0" indent="0">
              <a:buNone/>
            </a:pPr>
            <a:r>
              <a:rPr lang="en-US" sz="1700" dirty="0">
                <a:solidFill>
                  <a:schemeClr val="bg1"/>
                </a:solidFill>
              </a:rPr>
              <a:t>Learns through experience</a:t>
            </a:r>
            <a:endParaRPr lang="en-US" sz="1700" dirty="0"/>
          </a:p>
        </p:txBody>
      </p:sp>
      <p:pic>
        <p:nvPicPr>
          <p:cNvPr id="11" name="Icon FaCheckCircle" descr="preencoded.png"/>
          <p:cNvPicPr>
            <a:picLocks noChangeAspect="1"/>
          </p:cNvPicPr>
          <p:nvPr/>
        </p:nvPicPr>
        <p:blipFill>
          <a:blip r:embed="rId4"/>
          <a:stretch>
            <a:fillRect/>
          </a:stretch>
        </p:blipFill>
        <p:spPr>
          <a:xfrm>
            <a:off x="868680" y="3383280"/>
            <a:ext cx="347472" cy="347472"/>
          </a:xfrm>
          <a:prstGeom prst="rect">
            <a:avLst/>
          </a:prstGeom>
        </p:spPr>
      </p:pic>
      <p:sp>
        <p:nvSpPr>
          <p:cNvPr id="12" name="Text 6"/>
          <p:cNvSpPr txBox="1"/>
          <p:nvPr/>
        </p:nvSpPr>
        <p:spPr>
          <a:xfrm>
            <a:off x="1463040" y="3227832"/>
            <a:ext cx="4297680" cy="658368"/>
          </a:xfrm>
          <a:prstGeom prst="rect">
            <a:avLst/>
          </a:prstGeom>
          <a:noFill/>
          <a:ln/>
        </p:spPr>
        <p:txBody>
          <a:bodyPr wrap="square" lIns="0" tIns="0" rIns="0" bIns="0" rtlCol="0" anchor="ctr"/>
          <a:lstStyle/>
          <a:p>
            <a:pPr marL="0" indent="0">
              <a:buNone/>
            </a:pPr>
            <a:r>
              <a:rPr lang="en-US" sz="1700" dirty="0">
                <a:solidFill>
                  <a:schemeClr val="bg1"/>
                </a:solidFill>
              </a:rPr>
              <a:t>No labeled examples needed, unlike supervised learning</a:t>
            </a:r>
            <a:endParaRPr lang="en-US" sz="1700" dirty="0"/>
          </a:p>
        </p:txBody>
      </p:sp>
      <p:pic>
        <p:nvPicPr>
          <p:cNvPr id="13" name="Icon FaCheckCircle" descr="preencoded.png"/>
          <p:cNvPicPr>
            <a:picLocks noChangeAspect="1"/>
          </p:cNvPicPr>
          <p:nvPr/>
        </p:nvPicPr>
        <p:blipFill>
          <a:blip r:embed="rId4"/>
          <a:stretch>
            <a:fillRect/>
          </a:stretch>
        </p:blipFill>
        <p:spPr>
          <a:xfrm>
            <a:off x="868680" y="4096512"/>
            <a:ext cx="347472" cy="347472"/>
          </a:xfrm>
          <a:prstGeom prst="rect">
            <a:avLst/>
          </a:prstGeom>
        </p:spPr>
      </p:pic>
      <p:sp>
        <p:nvSpPr>
          <p:cNvPr id="14" name="Text 7"/>
          <p:cNvSpPr txBox="1"/>
          <p:nvPr/>
        </p:nvSpPr>
        <p:spPr>
          <a:xfrm>
            <a:off x="1463040" y="3941064"/>
            <a:ext cx="4297680" cy="658368"/>
          </a:xfrm>
          <a:prstGeom prst="rect">
            <a:avLst/>
          </a:prstGeom>
          <a:noFill/>
          <a:ln/>
        </p:spPr>
        <p:txBody>
          <a:bodyPr wrap="square" lIns="0" tIns="0" rIns="0" bIns="0" rtlCol="0" anchor="ctr"/>
          <a:lstStyle/>
          <a:p>
            <a:pPr marL="0" indent="0">
              <a:buNone/>
            </a:pPr>
            <a:r>
              <a:rPr lang="en-US" sz="1700" dirty="0">
                <a:solidFill>
                  <a:schemeClr val="bg1"/>
                </a:solidFill>
              </a:rPr>
              <a:t>Solves step-by-step decision problems</a:t>
            </a:r>
            <a:endParaRPr lang="en-US" sz="1700" dirty="0"/>
          </a:p>
        </p:txBody>
      </p:sp>
      <p:pic>
        <p:nvPicPr>
          <p:cNvPr id="15" name="Icon FaCheckCircle" descr="preencoded.png"/>
          <p:cNvPicPr>
            <a:picLocks noChangeAspect="1"/>
          </p:cNvPicPr>
          <p:nvPr/>
        </p:nvPicPr>
        <p:blipFill>
          <a:blip r:embed="rId4"/>
          <a:stretch>
            <a:fillRect/>
          </a:stretch>
        </p:blipFill>
        <p:spPr>
          <a:xfrm>
            <a:off x="868680" y="4809744"/>
            <a:ext cx="347472" cy="347472"/>
          </a:xfrm>
          <a:prstGeom prst="rect">
            <a:avLst/>
          </a:prstGeom>
        </p:spPr>
      </p:pic>
      <p:sp>
        <p:nvSpPr>
          <p:cNvPr id="16" name="Text 8"/>
          <p:cNvSpPr txBox="1"/>
          <p:nvPr/>
        </p:nvSpPr>
        <p:spPr>
          <a:xfrm>
            <a:off x="1463040" y="4654296"/>
            <a:ext cx="4297680" cy="658368"/>
          </a:xfrm>
          <a:prstGeom prst="rect">
            <a:avLst/>
          </a:prstGeom>
          <a:noFill/>
          <a:ln/>
        </p:spPr>
        <p:txBody>
          <a:bodyPr wrap="square" lIns="0" tIns="0" rIns="0" bIns="0" rtlCol="0" anchor="ctr"/>
          <a:lstStyle/>
          <a:p>
            <a:pPr marL="0" indent="0">
              <a:buNone/>
            </a:pPr>
            <a:r>
              <a:rPr lang="en-US" sz="1700" dirty="0">
                <a:solidFill>
                  <a:schemeClr val="bg1"/>
                </a:solidFill>
              </a:rPr>
              <a:t>Improves through repeated interaction</a:t>
            </a:r>
            <a:endParaRPr lang="en-US" sz="1700" dirty="0"/>
          </a:p>
        </p:txBody>
      </p:sp>
      <p:pic>
        <p:nvPicPr>
          <p:cNvPr id="17" name="Icon FaCheckCircle" descr="preencoded.png"/>
          <p:cNvPicPr>
            <a:picLocks noChangeAspect="1"/>
          </p:cNvPicPr>
          <p:nvPr/>
        </p:nvPicPr>
        <p:blipFill>
          <a:blip r:embed="rId4"/>
          <a:stretch>
            <a:fillRect/>
          </a:stretch>
        </p:blipFill>
        <p:spPr>
          <a:xfrm>
            <a:off x="868680" y="5522976"/>
            <a:ext cx="347472" cy="347472"/>
          </a:xfrm>
          <a:prstGeom prst="rect">
            <a:avLst/>
          </a:prstGeom>
        </p:spPr>
      </p:pic>
      <p:sp>
        <p:nvSpPr>
          <p:cNvPr id="18" name="Text 9"/>
          <p:cNvSpPr txBox="1"/>
          <p:nvPr/>
        </p:nvSpPr>
        <p:spPr>
          <a:xfrm>
            <a:off x="1463040" y="5367528"/>
            <a:ext cx="4297680" cy="658368"/>
          </a:xfrm>
          <a:prstGeom prst="rect">
            <a:avLst/>
          </a:prstGeom>
          <a:noFill/>
          <a:ln/>
        </p:spPr>
        <p:txBody>
          <a:bodyPr wrap="square" lIns="0" tIns="0" rIns="0" bIns="0" rtlCol="0" anchor="ctr"/>
          <a:lstStyle/>
          <a:p>
            <a:pPr marL="0" indent="0">
              <a:buNone/>
            </a:pPr>
            <a:r>
              <a:rPr lang="en-US" sz="1700" dirty="0">
                <a:solidFill>
                  <a:schemeClr val="bg1"/>
                </a:solidFill>
              </a:rPr>
              <a:t>Useful for automation</a:t>
            </a:r>
            <a:endParaRPr lang="en-US" sz="1700" dirty="0"/>
          </a:p>
        </p:txBody>
      </p:sp>
      <p:sp>
        <p:nvSpPr>
          <p:cNvPr id="19" name="Card"/>
          <p:cNvSpPr/>
          <p:nvPr/>
        </p:nvSpPr>
        <p:spPr>
          <a:xfrm>
            <a:off x="6208776" y="1463040"/>
            <a:ext cx="5431536" cy="4663440"/>
          </a:xfrm>
          <a:prstGeom prst="roundRect">
            <a:avLst>
              <a:gd name="adj" fmla="val 2353"/>
            </a:avLst>
          </a:prstGeom>
          <a:solidFill>
            <a:schemeClr val="tx2"/>
          </a:solidFill>
          <a:ln w="19050">
            <a:solidFill>
              <a:schemeClr val="accent4"/>
            </a:solidFill>
            <a:prstDash val="solid"/>
          </a:ln>
        </p:spPr>
        <p:txBody>
          <a:bodyPr/>
          <a:lstStyle/>
          <a:p>
            <a:endParaRPr lang="en-IN"/>
          </a:p>
        </p:txBody>
      </p:sp>
      <p:sp>
        <p:nvSpPr>
          <p:cNvPr id="20" name="Circle"/>
          <p:cNvSpPr/>
          <p:nvPr/>
        </p:nvSpPr>
        <p:spPr>
          <a:xfrm>
            <a:off x="6483096" y="1645920"/>
            <a:ext cx="685800" cy="685800"/>
          </a:xfrm>
          <a:prstGeom prst="ellipse">
            <a:avLst/>
          </a:prstGeom>
          <a:solidFill>
            <a:schemeClr val="accent4">
              <a:alpha val="18000"/>
            </a:schemeClr>
          </a:solidFill>
          <a:ln/>
        </p:spPr>
        <p:txBody>
          <a:bodyPr/>
          <a:lstStyle/>
          <a:p>
            <a:endParaRPr lang="en-IN"/>
          </a:p>
        </p:txBody>
      </p:sp>
      <p:pic>
        <p:nvPicPr>
          <p:cNvPr id="21" name="Icon FaExclamationTriangle" descr="preencoded.png"/>
          <p:cNvPicPr>
            <a:picLocks noChangeAspect="1"/>
          </p:cNvPicPr>
          <p:nvPr/>
        </p:nvPicPr>
        <p:blipFill>
          <a:blip r:embed="rId5"/>
          <a:stretch>
            <a:fillRect/>
          </a:stretch>
        </p:blipFill>
        <p:spPr>
          <a:xfrm>
            <a:off x="6654546" y="1817370"/>
            <a:ext cx="342900" cy="342900"/>
          </a:xfrm>
          <a:prstGeom prst="rect">
            <a:avLst/>
          </a:prstGeom>
        </p:spPr>
      </p:pic>
      <p:sp>
        <p:nvSpPr>
          <p:cNvPr id="22" name="Text 12"/>
          <p:cNvSpPr txBox="1"/>
          <p:nvPr/>
        </p:nvSpPr>
        <p:spPr>
          <a:xfrm>
            <a:off x="7397496" y="1645920"/>
            <a:ext cx="3657600" cy="685800"/>
          </a:xfrm>
          <a:prstGeom prst="rect">
            <a:avLst/>
          </a:prstGeom>
          <a:noFill/>
          <a:ln/>
        </p:spPr>
        <p:txBody>
          <a:bodyPr wrap="square" lIns="0" tIns="0" rIns="0" bIns="0" rtlCol="0" anchor="ctr"/>
          <a:lstStyle/>
          <a:p>
            <a:pPr marL="0" indent="0">
              <a:buNone/>
            </a:pPr>
            <a:r>
              <a:rPr lang="en-US" sz="2600" b="1" dirty="0">
                <a:solidFill>
                  <a:schemeClr val="accent4"/>
                </a:solidFill>
              </a:rPr>
              <a:t>Limitations</a:t>
            </a:r>
            <a:endParaRPr lang="en-US" sz="2600" dirty="0"/>
          </a:p>
        </p:txBody>
      </p:sp>
      <p:pic>
        <p:nvPicPr>
          <p:cNvPr id="23" name="Icon FaExclamationTriangle" descr="preencoded.png"/>
          <p:cNvPicPr>
            <a:picLocks noChangeAspect="1"/>
          </p:cNvPicPr>
          <p:nvPr/>
        </p:nvPicPr>
        <p:blipFill>
          <a:blip r:embed="rId5"/>
          <a:stretch>
            <a:fillRect/>
          </a:stretch>
        </p:blipFill>
        <p:spPr>
          <a:xfrm>
            <a:off x="6528816" y="2670048"/>
            <a:ext cx="347472" cy="347472"/>
          </a:xfrm>
          <a:prstGeom prst="rect">
            <a:avLst/>
          </a:prstGeom>
        </p:spPr>
      </p:pic>
      <p:sp>
        <p:nvSpPr>
          <p:cNvPr id="24" name="Text 13"/>
          <p:cNvSpPr txBox="1"/>
          <p:nvPr/>
        </p:nvSpPr>
        <p:spPr>
          <a:xfrm>
            <a:off x="7123176" y="2514600"/>
            <a:ext cx="4297680" cy="658368"/>
          </a:xfrm>
          <a:prstGeom prst="rect">
            <a:avLst/>
          </a:prstGeom>
          <a:noFill/>
          <a:ln/>
        </p:spPr>
        <p:txBody>
          <a:bodyPr wrap="square" lIns="0" tIns="0" rIns="0" bIns="0" rtlCol="0" anchor="ctr"/>
          <a:lstStyle/>
          <a:p>
            <a:pPr marL="0" indent="0">
              <a:buNone/>
            </a:pPr>
            <a:r>
              <a:rPr lang="en-US" sz="1700" dirty="0">
                <a:solidFill>
                  <a:schemeClr val="bg1"/>
                </a:solidFill>
              </a:rPr>
              <a:t>Needs many trials</a:t>
            </a:r>
            <a:endParaRPr lang="en-US" sz="1700" dirty="0"/>
          </a:p>
        </p:txBody>
      </p:sp>
      <p:pic>
        <p:nvPicPr>
          <p:cNvPr id="25" name="Icon FaExclamationTriangle" descr="preencoded.png"/>
          <p:cNvPicPr>
            <a:picLocks noChangeAspect="1"/>
          </p:cNvPicPr>
          <p:nvPr/>
        </p:nvPicPr>
        <p:blipFill>
          <a:blip r:embed="rId5"/>
          <a:stretch>
            <a:fillRect/>
          </a:stretch>
        </p:blipFill>
        <p:spPr>
          <a:xfrm>
            <a:off x="6528816" y="3383280"/>
            <a:ext cx="347472" cy="347472"/>
          </a:xfrm>
          <a:prstGeom prst="rect">
            <a:avLst/>
          </a:prstGeom>
        </p:spPr>
      </p:pic>
      <p:sp>
        <p:nvSpPr>
          <p:cNvPr id="26" name="Text 14"/>
          <p:cNvSpPr txBox="1"/>
          <p:nvPr/>
        </p:nvSpPr>
        <p:spPr>
          <a:xfrm>
            <a:off x="7123176" y="3227832"/>
            <a:ext cx="4297680" cy="658368"/>
          </a:xfrm>
          <a:prstGeom prst="rect">
            <a:avLst/>
          </a:prstGeom>
          <a:noFill/>
          <a:ln/>
        </p:spPr>
        <p:txBody>
          <a:bodyPr wrap="square" lIns="0" tIns="0" rIns="0" bIns="0" rtlCol="0" anchor="ctr"/>
          <a:lstStyle/>
          <a:p>
            <a:pPr marL="0" indent="0">
              <a:buNone/>
            </a:pPr>
            <a:r>
              <a:rPr lang="en-US" sz="1700" dirty="0">
                <a:solidFill>
                  <a:schemeClr val="bg1"/>
                </a:solidFill>
              </a:rPr>
              <a:t>Training can take a long time</a:t>
            </a:r>
            <a:endParaRPr lang="en-US" sz="1700" dirty="0"/>
          </a:p>
        </p:txBody>
      </p:sp>
      <p:pic>
        <p:nvPicPr>
          <p:cNvPr id="27" name="Icon FaExclamationTriangle" descr="preencoded.png"/>
          <p:cNvPicPr>
            <a:picLocks noChangeAspect="1"/>
          </p:cNvPicPr>
          <p:nvPr/>
        </p:nvPicPr>
        <p:blipFill>
          <a:blip r:embed="rId5"/>
          <a:stretch>
            <a:fillRect/>
          </a:stretch>
        </p:blipFill>
        <p:spPr>
          <a:xfrm>
            <a:off x="6528816" y="4096512"/>
            <a:ext cx="347472" cy="347472"/>
          </a:xfrm>
          <a:prstGeom prst="rect">
            <a:avLst/>
          </a:prstGeom>
        </p:spPr>
      </p:pic>
      <p:sp>
        <p:nvSpPr>
          <p:cNvPr id="28" name="Text 15"/>
          <p:cNvSpPr txBox="1"/>
          <p:nvPr/>
        </p:nvSpPr>
        <p:spPr>
          <a:xfrm>
            <a:off x="7123176" y="3941064"/>
            <a:ext cx="4297680" cy="658368"/>
          </a:xfrm>
          <a:prstGeom prst="rect">
            <a:avLst/>
          </a:prstGeom>
          <a:noFill/>
          <a:ln/>
        </p:spPr>
        <p:txBody>
          <a:bodyPr wrap="square" lIns="0" tIns="0" rIns="0" bIns="0" rtlCol="0" anchor="ctr"/>
          <a:lstStyle/>
          <a:p>
            <a:pPr marL="0" indent="0">
              <a:buNone/>
            </a:pPr>
            <a:r>
              <a:rPr lang="en-US" sz="1700" dirty="0">
                <a:solidFill>
                  <a:schemeClr val="bg1"/>
                </a:solidFill>
              </a:rPr>
              <a:t>Reward design can be difficult</a:t>
            </a:r>
            <a:endParaRPr lang="en-US" sz="1700" dirty="0"/>
          </a:p>
        </p:txBody>
      </p:sp>
      <p:pic>
        <p:nvPicPr>
          <p:cNvPr id="29" name="Icon FaExclamationTriangle" descr="preencoded.png"/>
          <p:cNvPicPr>
            <a:picLocks noChangeAspect="1"/>
          </p:cNvPicPr>
          <p:nvPr/>
        </p:nvPicPr>
        <p:blipFill>
          <a:blip r:embed="rId5"/>
          <a:stretch>
            <a:fillRect/>
          </a:stretch>
        </p:blipFill>
        <p:spPr>
          <a:xfrm>
            <a:off x="6528816" y="4809744"/>
            <a:ext cx="347472" cy="347472"/>
          </a:xfrm>
          <a:prstGeom prst="rect">
            <a:avLst/>
          </a:prstGeom>
        </p:spPr>
      </p:pic>
      <p:sp>
        <p:nvSpPr>
          <p:cNvPr id="30" name="Text 16"/>
          <p:cNvSpPr txBox="1"/>
          <p:nvPr/>
        </p:nvSpPr>
        <p:spPr>
          <a:xfrm>
            <a:off x="7123176" y="4654296"/>
            <a:ext cx="4297680" cy="658368"/>
          </a:xfrm>
          <a:prstGeom prst="rect">
            <a:avLst/>
          </a:prstGeom>
          <a:noFill/>
          <a:ln/>
        </p:spPr>
        <p:txBody>
          <a:bodyPr wrap="square" lIns="0" tIns="0" rIns="0" bIns="0" rtlCol="0" anchor="ctr"/>
          <a:lstStyle/>
          <a:p>
            <a:pPr marL="0" indent="0">
              <a:buNone/>
            </a:pPr>
            <a:r>
              <a:rPr lang="en-US" sz="1700" dirty="0">
                <a:solidFill>
                  <a:schemeClr val="bg1"/>
                </a:solidFill>
              </a:rPr>
              <a:t>Can be computationally expensive</a:t>
            </a:r>
            <a:endParaRPr lang="en-US" sz="1700" dirty="0"/>
          </a:p>
        </p:txBody>
      </p:sp>
      <p:pic>
        <p:nvPicPr>
          <p:cNvPr id="31" name="Icon FaExclamationTriangle" descr="preencoded.png"/>
          <p:cNvPicPr>
            <a:picLocks noChangeAspect="1"/>
          </p:cNvPicPr>
          <p:nvPr/>
        </p:nvPicPr>
        <p:blipFill>
          <a:blip r:embed="rId5"/>
          <a:stretch>
            <a:fillRect/>
          </a:stretch>
        </p:blipFill>
        <p:spPr>
          <a:xfrm>
            <a:off x="6528816" y="5522976"/>
            <a:ext cx="347472" cy="347472"/>
          </a:xfrm>
          <a:prstGeom prst="rect">
            <a:avLst/>
          </a:prstGeom>
        </p:spPr>
      </p:pic>
      <p:sp>
        <p:nvSpPr>
          <p:cNvPr id="32" name="Text 17"/>
          <p:cNvSpPr txBox="1"/>
          <p:nvPr/>
        </p:nvSpPr>
        <p:spPr>
          <a:xfrm>
            <a:off x="7123176" y="5367528"/>
            <a:ext cx="4297680" cy="658368"/>
          </a:xfrm>
          <a:prstGeom prst="rect">
            <a:avLst/>
          </a:prstGeom>
          <a:noFill/>
          <a:ln/>
        </p:spPr>
        <p:txBody>
          <a:bodyPr wrap="square" lIns="0" tIns="0" rIns="0" bIns="0" rtlCol="0" anchor="ctr"/>
          <a:lstStyle/>
          <a:p>
            <a:pPr marL="0" indent="0">
              <a:buNone/>
            </a:pPr>
            <a:r>
              <a:rPr lang="en-US" sz="1700" dirty="0">
                <a:solidFill>
                  <a:schemeClr val="bg1"/>
                </a:solidFill>
              </a:rPr>
              <a:t>Poor exploration can lead to bad learning</a:t>
            </a:r>
            <a:endParaRPr lang="en-US" sz="1700" dirty="0"/>
          </a:p>
        </p:txBody>
      </p:sp>
      <p:sp>
        <p:nvSpPr>
          <p:cNvPr id="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68680"/>
          </a:xfrm>
          <a:prstGeom prst="rect">
            <a:avLst/>
          </a:prstGeom>
          <a:noFill/>
          <a:ln/>
        </p:spPr>
        <p:txBody>
          <a:bodyPr wrap="square" lIns="0" tIns="0" rIns="0" bIns="0" rtlCol="0" anchor="ctr"/>
          <a:lstStyle/>
          <a:p>
            <a:pPr marL="0" indent="0" algn="l">
              <a:buNone/>
            </a:pPr>
            <a:r>
              <a:rPr lang="en-US" sz="3800" b="1" dirty="0">
                <a:solidFill>
                  <a:schemeClr val="bg1"/>
                </a:solidFill>
              </a:rPr>
              <a:t>Conclusion</a:t>
            </a:r>
            <a:endParaRPr lang="en-US" sz="3800" dirty="0"/>
          </a:p>
        </p:txBody>
      </p:sp>
      <p:sp>
        <p:nvSpPr>
          <p:cNvPr id="5" name="Card"/>
          <p:cNvSpPr/>
          <p:nvPr/>
        </p:nvSpPr>
        <p:spPr>
          <a:xfrm>
            <a:off x="548640" y="1508760"/>
            <a:ext cx="6309360" cy="4572000"/>
          </a:xfrm>
          <a:prstGeom prst="roundRect">
            <a:avLst>
              <a:gd name="adj" fmla="val 2400"/>
            </a:avLst>
          </a:prstGeom>
          <a:solidFill>
            <a:schemeClr val="tx2"/>
          </a:solidFill>
          <a:ln/>
        </p:spPr>
        <p:txBody>
          <a:bodyPr/>
          <a:lstStyle/>
          <a:p>
            <a:endParaRPr lang="en-IN"/>
          </a:p>
        </p:txBody>
      </p:sp>
      <p:pic>
        <p:nvPicPr>
          <p:cNvPr id="6" name="Icon FaCheckCircle" descr="preencoded.png"/>
          <p:cNvPicPr>
            <a:picLocks noChangeAspect="1"/>
          </p:cNvPicPr>
          <p:nvPr/>
        </p:nvPicPr>
        <p:blipFill>
          <a:blip r:embed="rId3"/>
          <a:stretch>
            <a:fillRect/>
          </a:stretch>
        </p:blipFill>
        <p:spPr>
          <a:xfrm>
            <a:off x="868680" y="1911096"/>
            <a:ext cx="411480" cy="411480"/>
          </a:xfrm>
          <a:prstGeom prst="rect">
            <a:avLst/>
          </a:prstGeom>
        </p:spPr>
      </p:pic>
      <p:sp>
        <p:nvSpPr>
          <p:cNvPr id="7" name="Text 3"/>
          <p:cNvSpPr txBox="1"/>
          <p:nvPr/>
        </p:nvSpPr>
        <p:spPr>
          <a:xfrm>
            <a:off x="1554480" y="1783080"/>
            <a:ext cx="5029200" cy="685800"/>
          </a:xfrm>
          <a:prstGeom prst="rect">
            <a:avLst/>
          </a:prstGeom>
          <a:noFill/>
          <a:ln/>
        </p:spPr>
        <p:txBody>
          <a:bodyPr wrap="square" lIns="0" tIns="0" rIns="0" bIns="0" rtlCol="0" anchor="ctr"/>
          <a:lstStyle/>
          <a:p>
            <a:pPr marL="0" indent="0">
              <a:buNone/>
            </a:pPr>
            <a:r>
              <a:rPr lang="en-US" sz="1800" dirty="0">
                <a:solidFill>
                  <a:schemeClr val="bg1"/>
                </a:solidFill>
              </a:rPr>
              <a:t>RL is learning through </a:t>
            </a:r>
            <a:r>
              <a:rPr lang="en-US" sz="1800" b="1" dirty="0">
                <a:solidFill>
                  <a:schemeClr val="accent1"/>
                </a:solidFill>
              </a:rPr>
              <a:t>interaction</a:t>
            </a:r>
            <a:r>
              <a:rPr lang="en-US" sz="1800" dirty="0">
                <a:solidFill>
                  <a:schemeClr val="bg1"/>
                </a:solidFill>
              </a:rPr>
              <a:t> and </a:t>
            </a:r>
            <a:r>
              <a:rPr lang="en-US" sz="1800" b="1" dirty="0">
                <a:solidFill>
                  <a:schemeClr val="accent1"/>
                </a:solidFill>
              </a:rPr>
              <a:t>feedback</a:t>
            </a:r>
            <a:endParaRPr lang="en-US" sz="1800" dirty="0"/>
          </a:p>
        </p:txBody>
      </p:sp>
      <p:pic>
        <p:nvPicPr>
          <p:cNvPr id="8" name="Icon FaCheckCircle" descr="preencoded.png"/>
          <p:cNvPicPr>
            <a:picLocks noChangeAspect="1"/>
          </p:cNvPicPr>
          <p:nvPr/>
        </p:nvPicPr>
        <p:blipFill>
          <a:blip r:embed="rId3"/>
          <a:stretch>
            <a:fillRect/>
          </a:stretch>
        </p:blipFill>
        <p:spPr>
          <a:xfrm>
            <a:off x="868680" y="2761488"/>
            <a:ext cx="411480" cy="411480"/>
          </a:xfrm>
          <a:prstGeom prst="rect">
            <a:avLst/>
          </a:prstGeom>
        </p:spPr>
      </p:pic>
      <p:sp>
        <p:nvSpPr>
          <p:cNvPr id="9" name="Text 4"/>
          <p:cNvSpPr txBox="1"/>
          <p:nvPr/>
        </p:nvSpPr>
        <p:spPr>
          <a:xfrm>
            <a:off x="1554480" y="2633472"/>
            <a:ext cx="5029200" cy="685800"/>
          </a:xfrm>
          <a:prstGeom prst="rect">
            <a:avLst/>
          </a:prstGeom>
          <a:noFill/>
          <a:ln/>
        </p:spPr>
        <p:txBody>
          <a:bodyPr wrap="square" lIns="0" tIns="0" rIns="0" bIns="0" rtlCol="0" anchor="ctr"/>
          <a:lstStyle/>
          <a:p>
            <a:pPr marL="0" indent="0">
              <a:buNone/>
            </a:pPr>
            <a:r>
              <a:rPr lang="en-US" sz="1800" dirty="0">
                <a:solidFill>
                  <a:schemeClr val="bg1"/>
                </a:solidFill>
              </a:rPr>
              <a:t>The </a:t>
            </a:r>
            <a:r>
              <a:rPr lang="en-US" sz="1800" b="1" dirty="0">
                <a:solidFill>
                  <a:schemeClr val="accent1"/>
                </a:solidFill>
              </a:rPr>
              <a:t>agent</a:t>
            </a:r>
            <a:r>
              <a:rPr lang="en-US" sz="1800" dirty="0">
                <a:solidFill>
                  <a:schemeClr val="bg1"/>
                </a:solidFill>
              </a:rPr>
              <a:t> takes </a:t>
            </a:r>
            <a:r>
              <a:rPr lang="en-US" sz="1800" b="1" dirty="0">
                <a:solidFill>
                  <a:schemeClr val="accent1"/>
                </a:solidFill>
              </a:rPr>
              <a:t>actions</a:t>
            </a:r>
            <a:r>
              <a:rPr lang="en-US" sz="1800" dirty="0">
                <a:solidFill>
                  <a:schemeClr val="bg1"/>
                </a:solidFill>
              </a:rPr>
              <a:t> in an </a:t>
            </a:r>
            <a:r>
              <a:rPr lang="en-US" sz="1800" b="1" dirty="0">
                <a:solidFill>
                  <a:schemeClr val="accent1"/>
                </a:solidFill>
              </a:rPr>
              <a:t>environment</a:t>
            </a:r>
            <a:endParaRPr lang="en-US" sz="1800" dirty="0"/>
          </a:p>
        </p:txBody>
      </p:sp>
      <p:pic>
        <p:nvPicPr>
          <p:cNvPr id="10" name="Icon FaCheckCircle" descr="preencoded.png"/>
          <p:cNvPicPr>
            <a:picLocks noChangeAspect="1"/>
          </p:cNvPicPr>
          <p:nvPr/>
        </p:nvPicPr>
        <p:blipFill>
          <a:blip r:embed="rId3"/>
          <a:stretch>
            <a:fillRect/>
          </a:stretch>
        </p:blipFill>
        <p:spPr>
          <a:xfrm>
            <a:off x="868680" y="3611880"/>
            <a:ext cx="411480" cy="411480"/>
          </a:xfrm>
          <a:prstGeom prst="rect">
            <a:avLst/>
          </a:prstGeom>
        </p:spPr>
      </p:pic>
      <p:sp>
        <p:nvSpPr>
          <p:cNvPr id="11" name="Text 5"/>
          <p:cNvSpPr txBox="1"/>
          <p:nvPr/>
        </p:nvSpPr>
        <p:spPr>
          <a:xfrm>
            <a:off x="1554480" y="3483864"/>
            <a:ext cx="5029200" cy="685800"/>
          </a:xfrm>
          <a:prstGeom prst="rect">
            <a:avLst/>
          </a:prstGeom>
          <a:noFill/>
          <a:ln/>
        </p:spPr>
        <p:txBody>
          <a:bodyPr wrap="square" lIns="0" tIns="0" rIns="0" bIns="0" rtlCol="0" anchor="ctr"/>
          <a:lstStyle/>
          <a:p>
            <a:pPr marL="0" indent="0">
              <a:buNone/>
            </a:pPr>
            <a:r>
              <a:rPr lang="en-US" sz="1800" b="1" dirty="0">
                <a:solidFill>
                  <a:schemeClr val="accent1"/>
                </a:solidFill>
              </a:rPr>
              <a:t>Rewards</a:t>
            </a:r>
            <a:r>
              <a:rPr lang="en-US" sz="1800" dirty="0">
                <a:solidFill>
                  <a:schemeClr val="bg1"/>
                </a:solidFill>
              </a:rPr>
              <a:t> guide the learning process</a:t>
            </a:r>
            <a:endParaRPr lang="en-US" sz="1800" dirty="0"/>
          </a:p>
        </p:txBody>
      </p:sp>
      <p:pic>
        <p:nvPicPr>
          <p:cNvPr id="12" name="Icon FaCheckCircle" descr="preencoded.png"/>
          <p:cNvPicPr>
            <a:picLocks noChangeAspect="1"/>
          </p:cNvPicPr>
          <p:nvPr/>
        </p:nvPicPr>
        <p:blipFill>
          <a:blip r:embed="rId3"/>
          <a:stretch>
            <a:fillRect/>
          </a:stretch>
        </p:blipFill>
        <p:spPr>
          <a:xfrm>
            <a:off x="868680" y="4462272"/>
            <a:ext cx="411480" cy="411480"/>
          </a:xfrm>
          <a:prstGeom prst="rect">
            <a:avLst/>
          </a:prstGeom>
        </p:spPr>
      </p:pic>
      <p:sp>
        <p:nvSpPr>
          <p:cNvPr id="13" name="Text 6"/>
          <p:cNvSpPr txBox="1"/>
          <p:nvPr/>
        </p:nvSpPr>
        <p:spPr>
          <a:xfrm>
            <a:off x="1554480" y="4334256"/>
            <a:ext cx="5029200" cy="685800"/>
          </a:xfrm>
          <a:prstGeom prst="rect">
            <a:avLst/>
          </a:prstGeom>
          <a:noFill/>
          <a:ln/>
        </p:spPr>
        <p:txBody>
          <a:bodyPr wrap="square" lIns="0" tIns="0" rIns="0" bIns="0" rtlCol="0" anchor="ctr"/>
          <a:lstStyle/>
          <a:p>
            <a:pPr marL="0" indent="0">
              <a:buNone/>
            </a:pPr>
            <a:r>
              <a:rPr lang="en-US" sz="1800" dirty="0">
                <a:solidFill>
                  <a:schemeClr val="bg1"/>
                </a:solidFill>
              </a:rPr>
              <a:t>The agent improves its decisions over time</a:t>
            </a:r>
            <a:endParaRPr lang="en-US" sz="1800" dirty="0"/>
          </a:p>
        </p:txBody>
      </p:sp>
      <p:pic>
        <p:nvPicPr>
          <p:cNvPr id="14" name="Icon FaCheckCircle" descr="preencoded.png"/>
          <p:cNvPicPr>
            <a:picLocks noChangeAspect="1"/>
          </p:cNvPicPr>
          <p:nvPr/>
        </p:nvPicPr>
        <p:blipFill>
          <a:blip r:embed="rId3"/>
          <a:stretch>
            <a:fillRect/>
          </a:stretch>
        </p:blipFill>
        <p:spPr>
          <a:xfrm>
            <a:off x="868680" y="5312664"/>
            <a:ext cx="411480" cy="411480"/>
          </a:xfrm>
          <a:prstGeom prst="rect">
            <a:avLst/>
          </a:prstGeom>
        </p:spPr>
      </p:pic>
      <p:sp>
        <p:nvSpPr>
          <p:cNvPr id="15" name="Text 7"/>
          <p:cNvSpPr txBox="1"/>
          <p:nvPr/>
        </p:nvSpPr>
        <p:spPr>
          <a:xfrm>
            <a:off x="1554480" y="5184648"/>
            <a:ext cx="5029200" cy="685800"/>
          </a:xfrm>
          <a:prstGeom prst="rect">
            <a:avLst/>
          </a:prstGeom>
          <a:noFill/>
          <a:ln/>
        </p:spPr>
        <p:txBody>
          <a:bodyPr wrap="square" lIns="0" tIns="0" rIns="0" bIns="0" rtlCol="0" anchor="ctr"/>
          <a:lstStyle/>
          <a:p>
            <a:pPr marL="0" indent="0">
              <a:buNone/>
            </a:pPr>
            <a:r>
              <a:rPr lang="en-US" sz="1800" dirty="0">
                <a:solidFill>
                  <a:schemeClr val="bg1"/>
                </a:solidFill>
              </a:rPr>
              <a:t>Useful in games, robotics, automation and more</a:t>
            </a:r>
            <a:endParaRPr lang="en-US" sz="1800" dirty="0"/>
          </a:p>
        </p:txBody>
      </p:sp>
      <p:sp>
        <p:nvSpPr>
          <p:cNvPr id="16" name="Card"/>
          <p:cNvSpPr/>
          <p:nvPr/>
        </p:nvSpPr>
        <p:spPr>
          <a:xfrm>
            <a:off x="7223760" y="1508760"/>
            <a:ext cx="4416552" cy="4572000"/>
          </a:xfrm>
          <a:prstGeom prst="roundRect">
            <a:avLst>
              <a:gd name="adj" fmla="val 2484"/>
            </a:avLst>
          </a:prstGeom>
          <a:solidFill>
            <a:schemeClr val="accent2">
              <a:alpha val="15000"/>
            </a:schemeClr>
          </a:solidFill>
          <a:ln w="19050">
            <a:solidFill>
              <a:schemeClr val="accent2"/>
            </a:solidFill>
            <a:prstDash val="solid"/>
          </a:ln>
        </p:spPr>
        <p:txBody>
          <a:bodyPr/>
          <a:lstStyle/>
          <a:p>
            <a:endParaRPr lang="en-IN"/>
          </a:p>
        </p:txBody>
      </p:sp>
      <p:sp>
        <p:nvSpPr>
          <p:cNvPr id="17" name="Circle"/>
          <p:cNvSpPr/>
          <p:nvPr/>
        </p:nvSpPr>
        <p:spPr>
          <a:xfrm>
            <a:off x="8746236" y="1737360"/>
            <a:ext cx="1097280" cy="1097280"/>
          </a:xfrm>
          <a:prstGeom prst="ellipse">
            <a:avLst/>
          </a:prstGeom>
          <a:solidFill>
            <a:schemeClr val="accent1">
              <a:alpha val="18000"/>
            </a:schemeClr>
          </a:solidFill>
          <a:ln/>
        </p:spPr>
        <p:txBody>
          <a:bodyPr/>
          <a:lstStyle/>
          <a:p>
            <a:endParaRPr lang="en-IN"/>
          </a:p>
        </p:txBody>
      </p:sp>
      <p:pic>
        <p:nvPicPr>
          <p:cNvPr id="18" name="Icon FaRobot" descr="preencoded.png"/>
          <p:cNvPicPr>
            <a:picLocks noChangeAspect="1"/>
          </p:cNvPicPr>
          <p:nvPr/>
        </p:nvPicPr>
        <p:blipFill>
          <a:blip r:embed="rId4"/>
          <a:stretch>
            <a:fillRect/>
          </a:stretch>
        </p:blipFill>
        <p:spPr>
          <a:xfrm>
            <a:off x="9020556" y="2011680"/>
            <a:ext cx="548640" cy="548640"/>
          </a:xfrm>
          <a:prstGeom prst="rect">
            <a:avLst/>
          </a:prstGeom>
        </p:spPr>
      </p:pic>
      <p:sp>
        <p:nvSpPr>
          <p:cNvPr id="19" name="Text 10"/>
          <p:cNvSpPr txBox="1"/>
          <p:nvPr/>
        </p:nvSpPr>
        <p:spPr>
          <a:xfrm>
            <a:off x="7223760" y="2971800"/>
            <a:ext cx="4416552" cy="822960"/>
          </a:xfrm>
          <a:prstGeom prst="rect">
            <a:avLst/>
          </a:prstGeom>
          <a:noFill/>
          <a:ln/>
        </p:spPr>
        <p:txBody>
          <a:bodyPr wrap="square" lIns="0" tIns="0" rIns="0" bIns="0" rtlCol="0" anchor="ctr"/>
          <a:lstStyle/>
          <a:p>
            <a:pPr marL="0" indent="0" algn="ctr">
              <a:buNone/>
            </a:pPr>
            <a:r>
              <a:rPr lang="en-US" sz="4600" b="1" dirty="0">
                <a:solidFill>
                  <a:schemeClr val="accent1"/>
                </a:solidFill>
              </a:rPr>
              <a:t>Thank You</a:t>
            </a:r>
            <a:endParaRPr lang="en-US" sz="4600" dirty="0"/>
          </a:p>
        </p:txBody>
      </p:sp>
      <p:sp>
        <p:nvSpPr>
          <p:cNvPr id="20" name="Text 11"/>
          <p:cNvSpPr txBox="1"/>
          <p:nvPr/>
        </p:nvSpPr>
        <p:spPr>
          <a:xfrm>
            <a:off x="7223760" y="3794760"/>
            <a:ext cx="4416552" cy="548640"/>
          </a:xfrm>
          <a:prstGeom prst="rect">
            <a:avLst/>
          </a:prstGeom>
          <a:noFill/>
          <a:ln/>
        </p:spPr>
        <p:txBody>
          <a:bodyPr wrap="square" lIns="0" tIns="0" rIns="0" bIns="0" rtlCol="0" anchor="ctr"/>
          <a:lstStyle/>
          <a:p>
            <a:pPr marL="0" indent="0" algn="ctr">
              <a:buNone/>
            </a:pPr>
            <a:r>
              <a:rPr lang="en-US" sz="2600" b="1" dirty="0">
                <a:solidFill>
                  <a:schemeClr val="bg1"/>
                </a:solidFill>
              </a:rPr>
              <a:t>Questions?</a:t>
            </a:r>
            <a:endParaRPr lang="en-US" sz="2600" dirty="0"/>
          </a:p>
        </p:txBody>
      </p:sp>
      <p:sp>
        <p:nvSpPr>
          <p:cNvPr id="21" name="Text 12"/>
          <p:cNvSpPr txBox="1"/>
          <p:nvPr/>
        </p:nvSpPr>
        <p:spPr>
          <a:xfrm>
            <a:off x="7223760" y="4572000"/>
            <a:ext cx="4416552" cy="1188720"/>
          </a:xfrm>
          <a:prstGeom prst="rect">
            <a:avLst/>
          </a:prstGeom>
          <a:noFill/>
          <a:ln/>
        </p:spPr>
        <p:txBody>
          <a:bodyPr wrap="square" lIns="0" tIns="0" rIns="0" bIns="0" rtlCol="0" anchor="t"/>
          <a:lstStyle/>
          <a:p>
            <a:pPr marL="0" indent="0" algn="ctr">
              <a:buNone/>
            </a:pP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bg2"/>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RL Dark Tech">
  <a:themeElements>
    <a:clrScheme name="RL Dark Tech">
      <a:dk1>
        <a:srgbClr val="0B1020"/>
      </a:dk1>
      <a:lt1>
        <a:srgbClr val="FFFFFF"/>
      </a:lt1>
      <a:dk2>
        <a:srgbClr val="161E3A"/>
      </a:dk2>
      <a:lt2>
        <a:srgbClr val="9FB0CC"/>
      </a:lt2>
      <a:accent1>
        <a:srgbClr val="22D3EE"/>
      </a:accent1>
      <a:accent2>
        <a:srgbClr val="A78BFA"/>
      </a:accent2>
      <a:accent3>
        <a:srgbClr val="34D399"/>
      </a:accent3>
      <a:accent4>
        <a:srgbClr val="FBBF24"/>
      </a:accent4>
      <a:accent5>
        <a:srgbClr val="F87171"/>
      </a:accent5>
      <a:accent6>
        <a:srgbClr val="F472B6"/>
      </a:accent6>
      <a:hlink>
        <a:srgbClr val="22D3EE"/>
      </a:hlink>
      <a:folHlink>
        <a:srgbClr val="A78BFA"/>
      </a:folHlink>
    </a:clrScheme>
    <a:fontScheme name="RL Dark Te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1919</Words>
  <Application>Microsoft Office PowerPoint</Application>
  <PresentationFormat>Widescreen</PresentationFormat>
  <Paragraphs>274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RL Dark Tech</vt:lpstr>
      <vt:lpstr>PowerPoint Presentation</vt:lpstr>
      <vt:lpstr>What is Reinforcement Learning?</vt:lpstr>
      <vt:lpstr>Real-Life Example: Learning to Ride a Bicycle</vt:lpstr>
      <vt:lpstr>Important Terms in Reinforcement Learning</vt:lpstr>
      <vt:lpstr>How Reinforcement Learning Works</vt:lpstr>
      <vt:lpstr>Reward and Penalty</vt:lpstr>
      <vt:lpstr>Exploration vs Exploitation</vt:lpstr>
      <vt:lpstr>Policy and Learning</vt:lpstr>
      <vt:lpstr>Types of Reinforcement Learning</vt:lpstr>
      <vt:lpstr>Common Reinforcement Learning Algorithms</vt:lpstr>
      <vt:lpstr>Q-Learning in Simple Terms</vt:lpstr>
      <vt:lpstr>Example: Reinforcement Learning in a Game</vt:lpstr>
      <vt:lpstr>Applications of Reinforcement Learning</vt:lpstr>
      <vt:lpstr>Advantages and Limitations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dc:title>
  <dc:subject>PptxGenJS Presentation</dc:subject>
  <dc:creator>Group Presentation</dc:creator>
  <cp:lastModifiedBy>Keerthi Priya</cp:lastModifiedBy>
  <cp:revision>4</cp:revision>
  <dcterms:created xsi:type="dcterms:W3CDTF">2026-10-08T16:26:53Z</dcterms:created>
  <dcterms:modified xsi:type="dcterms:W3CDTF">2026-10-08T16:41:33Z</dcterms:modified>
</cp:coreProperties>
</file>