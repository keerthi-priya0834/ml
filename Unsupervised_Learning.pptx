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32"/>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central question: How do we gain value from data when the correct answer is not included? Set up four families of methods, each solving a different question. Avoid implying that anomaly detection is a subtype of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Clustering discovers groups, dimensionality reduction compresses representations, association analysis discovers co-occurrences, and anomaly detection isolates atypical observations. These domains overlap: DBSCAN can both cluster and mark noise, but isolation forest is an anomaly detector rather than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Supervised labels are the intended target during fitting. Unsupervised procedures fit only X, though some evaluation datasets may later provide labels to assess agreement. Labels can be unavailable, incomplete, expensive, or withheld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question-first workflow. Retain IDs for joining results, but exclude arbitrary IDs from numeric model features. Scaling changes the meaning of distance; standardization is often useful for K-Means and PCA, whereas more robust scaling helps heavy tails. Evaluate stability and practical meaning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taxonomy is a useful survey, not a perfectly exhaustive mutually exclusive partition. Some methods can appear under more than one organizing principle. Explain prototype, hierarchy, density, grid and probabilistic methods in terms of their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each point is assigned to its nearest centroid and centroids are updated using means, iterating until convergence. The formula sums squared Euclidean distances within each assigned cluster. K-Means minimizes a non-convex objective and can converge to local minima; use multiple initializations.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WCSS always decreases with larger K, so examine diminishing returns. The silhouette coefficient compares cohesion to separation, ranges from -1 to 1, and may prefer simple shapes. Both are imperfect when data has unequal density or non-convex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vertical axis of a dendrogram is linkage distance, not a target score. Explain parent-child groupings by different cut heights. Ward linkage approximately minimizes the increase in within-cluster variance when merging clusters and requires Euclidean geometry in common implementations.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core points as points with at least min_samples within eps including themselves (in scikit-learn). Border points are reachable from cores but are not core themselves. Noise are points not density-reachable from cores. Border points can be assigned depending on traversal order in ambiguous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Grid-based methods work on a partition of feature space rather than only pairwise point distances. STING uses statistical summaries at multiple grid resolutions; CLIQUE discovers dense units in subspaces; WaveCluster applies wavelet transformations to grid summaries. The heatmap here is an illustrative occupancy grid, not a STING/CLIQUE model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GMM as a weighted sum of Gaussian distributions. The EM algorithm alternates between expectations of component membership and parameter maximization. Compare soft probabilities with hard K-Means assignments; model-based methods can represent elliptical distributions but depend on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algorithm comparisons should control preprocessing and feature representations. Selecting an algorithm based solely on silhouette can be deceptive, since silhouette tends to favor convex separated partitions and penalizes some useful irregular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curse of dimensionality as a family of challenges, including concentration of distances and sparse coverage, rather than asserting that all high-dimensional models fail. Feature selection retains original columns; feature extraction, such as PCA, constructs new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is linear. Standardize if original features differ greatly in units or magnitude; scaling is not mandatory in all settings. The principal axes correspond to eigenvectors of the covariance matrix (or right singular vectors in SVD). Eigenvalues quantify variance along components. The percentage captured in PC1 and PC2 must be assessed for the specific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method labels and provenance accurately. PCA emphasizes global directions of variance. t-SNE is optimized to preserve local neighbor affinities and can distort apparent distance between clusters. UMAP constructs a weighted neighbor graph and seeks a low-dimensional fuzzy-set layout, usually preserving local structure and sometimes more broad relations than t-SNE, but it does NOT guarantee global distance preservation. Its two-way links in this illustration depict neighborhood graph connectivity. Sources for preparation: van der Maaten &amp; Hinton (2008); McInnes, Healy &amp; Melville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UMAP first builds a local fuzzy simplicial set from neighbors, then optimizes a low-dimensional representation. The graph edges are schematic and not actual UMAP fitted edge weights. Larger n_neighbors places more emphasis on broader relations, while min_dist influences how tightly points pack; avoid saying global geometry is exactly retained.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each row as a transaction. A rule X ⇒ Y tests association between antecedent X and consequent Y. An item can be a product, event, action, or feature indicator; association rule learning is not restricted to commerce. In this toy data bread and milk occur together in three of five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frequencies from the transaction table: bread appears in T1,T2,T4,T5 = 4/5; milk appears in T1,T2,T3,T4 = 4/5; both in T1,T2,T4 = 3/5. Therefore confidence bread→milk = (3/5)/(4/5)=0.75 and lift=0.75/(4/5)=0.9375. Lift is not a causal effect and high scores for rare events can be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Apriori uses downward closure: all subsets of a frequent itemset must also be frequent; an infrequent itemset cannot have a frequent superset. FP-Growth uses a compressed transaction tree and recursive conditional mining. Both typically mine frequent itemsets, then generate rules; not every frequent itemset creates a useful actionable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Anomaly detection is commonly handled without labeled examples of all anomalies. Outlier detection considers deviations within the training sample. Novelty detection trains on presumed normal behavior and identifies new deviations. The graphic is synthetic and illustrates point anomalies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Isolation Forest isolates anomalies with fewer random splits on average. LOF compares local reachability density with neighboring density. One-Class SVM learns a high-dimensional separating boundary under a kernel and hyperparameters. DBSCAN also labels noise, but is primarily a density-based clustering procedure. Original paper: Liu, Ting and Zhou, Isolation Forest, IEEE ICDM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intrinsic/internal metrics from external metrics. Clustering: silhouette and Davies-Bouldin, plus domain validity and rerun stability; if ground truth labels are available, ARI or NMI compare assignments externally. PCA: explained variance and reconstruction error. t-SNE/UMAP: local trustworthiness and downstream utility. Association rules: holdout support/confidence/lift, statistical controls, action impact. Anomaly: labels enable precision, recall, PR-AUC; unlabeled deployment evaluates alert budget, stability and human review. Cross-validation as supervised stratified K-fold is not automatically appropriate for unsupervised tasks, though stability and held-out evaluation are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this as a comparison of four unsupervised tasks, not a single executable script. X_scaled is a prepared numerical feature matrix; basket_bool is a transaction-by-item Boolean table. K-Means gives cluster labels; PCA transforms features; Apriori returns frequent itemsets (association rules can then be generated using mlxtend.frequent_patterns.association_rules); IsolationForest returns +1 for inliers and -1 for outliers. Different methods need different evaluation: clustering indices, explained variance and downstream stability, support/confidence/lift, and review or labeled validation for detected anomalies. The code snippets are illustrative rather than a shared runnable pipeline.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one real-world story for each pillar. Clustering can find customer-behavior segments rather than predicting churn directly. PCA and other embeddings can help investigate many behavioral features, but a 2-D plot does not prove that clusters exist. Frequent itemsets and association rules require transaction-level basket data, not just customer aggregate features. Anomaly algorithms prioritize unusual observations for review; unusual does not automatically mean fraudulent. The telecom and omnichannel datasets are illustrative contexts only, not claimed performance benchmarks. Show that model output must be profiled, checked for stability and fairness, and tied to a decision before the business benefits.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four questions. A robust unsupervised workflow is not completed when an attractive embedding or cluster plot appears. It is completed when the discovered structure is reproducible, meaningful and operationally useful. Invite questions and be prepared to discuss scaling, metric selection, UMAP global geometry caveats and labels for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 unlabeled data can be explored even when trustworthy targets are unavailable; algorithms may reveal structure we did not explicitly hypothesize; and learned representations can assist other tasks. Limitations: there is often no unique ground truth; parameters, preprocessing, feature representation and random initialization can change outputs; apparent patterns may be artifacts; and business interpretation must avoid unjustified causal claims. Reinforce that evaluation should use task-specific internal metrics, stability testing, external evidence when available, and expert review. Transition to the final summary using the four pillars.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3B"/>
        </a:solidFill>
      </p:bgPr>
    </p:bg>
    <p:spTree>
      <p:nvGrpSpPr>
        <p:cNvPr id="1" name=""/>
        <p:cNvGrpSpPr/>
        <p:nvPr/>
      </p:nvGrpSpPr>
      <p:grpSpPr>
        <a:xfrm>
          <a:off x="0" y="0"/>
          <a:ext cx="0" cy="0"/>
          <a:chOff x="0" y="0"/>
          <a:chExt cx="0" cy="0"/>
        </a:xfrm>
      </p:grpSpPr>
      <p:sp>
        <p:nvSpPr>
          <p:cNvPr id="2" name="Shape 0"/>
          <p:cNvSpPr/>
          <p:nvPr/>
        </p:nvSpPr>
        <p:spPr>
          <a:xfrm>
            <a:off x="0" y="0"/>
            <a:ext cx="173736" cy="6858000"/>
          </a:xfrm>
          <a:prstGeom prst="rect">
            <a:avLst/>
          </a:prstGeom>
          <a:solidFill>
            <a:srgbClr val="087F8C"/>
          </a:solidFill>
          <a:ln w="12700">
            <a:solidFill>
              <a:srgbClr val="087F8C"/>
            </a:solidFill>
            <a:prstDash val="solid"/>
          </a:ln>
        </p:spPr>
      </p:sp>
      <p:sp>
        <p:nvSpPr>
          <p:cNvPr id="3" name="Text 1"/>
          <p:cNvSpPr/>
          <p:nvPr/>
        </p:nvSpPr>
        <p:spPr>
          <a:xfrm>
            <a:off x="758952" y="594360"/>
            <a:ext cx="9144000" cy="320040"/>
          </a:xfrm>
          <a:prstGeom prst="rect">
            <a:avLst/>
          </a:prstGeom>
          <a:noFill/>
          <a:ln/>
        </p:spPr>
        <p:txBody>
          <a:bodyPr wrap="square" lIns="0" tIns="0" rIns="0" bIns="0" rtlCol="0" anchor="ctr">
            <a:normAutofit/>
          </a:bodyPr>
          <a:lstStyle/>
          <a:p>
            <a:pPr indent="0" marL="0">
              <a:buNone/>
            </a:pPr>
            <a:r>
              <a:rPr lang="en-US" sz="1200" b="1" spc="240" kern="0" dirty="0">
                <a:solidFill>
                  <a:srgbClr val="79C8D0"/>
                </a:solidFill>
                <a:latin typeface="Aptos" pitchFamily="34" charset="0"/>
                <a:ea typeface="Aptos" pitchFamily="34" charset="-122"/>
                <a:cs typeface="Aptos" pitchFamily="34" charset="-120"/>
              </a:rPr>
              <a:t>MACHINE LEARNING  /  DISCOVERY</a:t>
            </a:r>
            <a:endParaRPr lang="en-US" sz="1200" dirty="0"/>
          </a:p>
        </p:txBody>
      </p:sp>
      <p:sp>
        <p:nvSpPr>
          <p:cNvPr id="4" name="Text 2"/>
          <p:cNvSpPr/>
          <p:nvPr/>
        </p:nvSpPr>
        <p:spPr>
          <a:xfrm>
            <a:off x="731520" y="1298448"/>
            <a:ext cx="9144000" cy="1737360"/>
          </a:xfrm>
          <a:prstGeom prst="rect">
            <a:avLst/>
          </a:prstGeom>
          <a:noFill/>
          <a:ln/>
        </p:spPr>
        <p:txBody>
          <a:bodyPr wrap="square" lIns="0" tIns="0" rIns="0" bIns="0" rtlCol="0" anchor="ctr">
            <a:normAutofit/>
          </a:bodyPr>
          <a:lstStyle/>
          <a:p>
            <a:pPr indent="0" marL="0">
              <a:buNone/>
            </a:pPr>
            <a:r>
              <a:rPr lang="en-US" sz="4800" b="1" dirty="0">
                <a:solidFill>
                  <a:srgbClr val="FFFFFF"/>
                </a:solidFill>
                <a:latin typeface="Aptos" pitchFamily="34" charset="0"/>
                <a:ea typeface="Aptos" pitchFamily="34" charset="-122"/>
                <a:cs typeface="Aptos" pitchFamily="34" charset="-120"/>
              </a:rPr>
              <a:t>UNSUPERVISED</a:t>
            </a:r>
            <a:endParaRPr lang="en-US" sz="4800" dirty="0"/>
          </a:p>
          <a:p>
            <a:pPr indent="0" marL="0">
              <a:buNone/>
            </a:pPr>
            <a:r>
              <a:rPr lang="en-US" sz="4800" b="1" dirty="0">
                <a:solidFill>
                  <a:srgbClr val="FFFFFF"/>
                </a:solidFill>
                <a:latin typeface="Aptos" pitchFamily="34" charset="0"/>
                <a:ea typeface="Aptos" pitchFamily="34" charset="-122"/>
                <a:cs typeface="Aptos" pitchFamily="34" charset="-120"/>
              </a:rPr>
              <a:t>LEARNING</a:t>
            </a:r>
            <a:endParaRPr lang="en-US" sz="4800" dirty="0"/>
          </a:p>
        </p:txBody>
      </p:sp>
      <p:sp>
        <p:nvSpPr>
          <p:cNvPr id="5" name="Text 3"/>
          <p:cNvSpPr/>
          <p:nvPr/>
        </p:nvSpPr>
        <p:spPr>
          <a:xfrm>
            <a:off x="768096" y="3410712"/>
            <a:ext cx="9921240" cy="621792"/>
          </a:xfrm>
          <a:prstGeom prst="rect">
            <a:avLst/>
          </a:prstGeom>
          <a:noFill/>
          <a:ln/>
        </p:spPr>
        <p:txBody>
          <a:bodyPr wrap="square" lIns="0" tIns="0" rIns="0" bIns="0" rtlCol="0" anchor="ctr">
            <a:normAutofit/>
          </a:bodyPr>
          <a:lstStyle/>
          <a:p>
            <a:pPr indent="0" marL="0">
              <a:buNone/>
            </a:pPr>
            <a:r>
              <a:rPr lang="en-US" sz="2000" dirty="0">
                <a:solidFill>
                  <a:srgbClr val="D7E5EE"/>
                </a:solidFill>
                <a:latin typeface="Aptos" pitchFamily="34" charset="0"/>
                <a:ea typeface="Aptos" pitchFamily="34" charset="-122"/>
                <a:cs typeface="Aptos" pitchFamily="34" charset="-120"/>
              </a:rPr>
              <a:t>Finding structure, patterns and anomalies in unlabeled data</a:t>
            </a:r>
            <a:endParaRPr lang="en-US" sz="2000" dirty="0"/>
          </a:p>
        </p:txBody>
      </p:sp>
      <p:sp>
        <p:nvSpPr>
          <p:cNvPr id="6" name="Shape 4"/>
          <p:cNvSpPr/>
          <p:nvPr/>
        </p:nvSpPr>
        <p:spPr>
          <a:xfrm>
            <a:off x="768096" y="4983480"/>
            <a:ext cx="9784080" cy="676656"/>
          </a:xfrm>
          <a:prstGeom prst="roundRect">
            <a:avLst>
              <a:gd name="adj" fmla="val 20270"/>
            </a:avLst>
          </a:prstGeom>
          <a:solidFill>
            <a:srgbClr val="263752"/>
          </a:solidFill>
          <a:ln w="12700">
            <a:solidFill>
              <a:srgbClr val="263752"/>
            </a:solidFill>
            <a:prstDash val="solid"/>
          </a:ln>
        </p:spPr>
      </p:sp>
      <p:sp>
        <p:nvSpPr>
          <p:cNvPr id="7" name="Text 5"/>
          <p:cNvSpPr/>
          <p:nvPr/>
        </p:nvSpPr>
        <p:spPr>
          <a:xfrm>
            <a:off x="969264" y="5148072"/>
            <a:ext cx="9509760" cy="329184"/>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Aptos" pitchFamily="34" charset="0"/>
                <a:ea typeface="Aptos" pitchFamily="34" charset="-122"/>
                <a:cs typeface="Aptos" pitchFamily="34" charset="-120"/>
              </a:rPr>
              <a:t>CLUSTERING     •     DIMENSIONALITY REDUCTION     •     ASSOCIATION RULES     •     ANOMALY DETECTION</a:t>
            </a:r>
            <a:endParaRPr lang="en-US" sz="1300" dirty="0"/>
          </a:p>
        </p:txBody>
      </p:sp>
      <p:sp>
        <p:nvSpPr>
          <p:cNvPr id="8" name="Text 6"/>
          <p:cNvSpPr/>
          <p:nvPr/>
        </p:nvSpPr>
        <p:spPr>
          <a:xfrm>
            <a:off x="768096" y="6044184"/>
            <a:ext cx="10058400" cy="320040"/>
          </a:xfrm>
          <a:prstGeom prst="rect">
            <a:avLst/>
          </a:prstGeom>
          <a:noFill/>
          <a:ln/>
        </p:spPr>
        <p:txBody>
          <a:bodyPr wrap="square" lIns="0" tIns="0" rIns="0" bIns="0" rtlCol="0" anchor="ctr">
            <a:normAutofit/>
          </a:bodyPr>
          <a:lstStyle/>
          <a:p>
            <a:pPr indent="0" marL="0">
              <a:buNone/>
            </a:pPr>
            <a:r>
              <a:rPr lang="en-US" sz="1400" dirty="0">
                <a:solidFill>
                  <a:srgbClr val="D7E5EE"/>
                </a:solidFill>
                <a:latin typeface="Aptos" pitchFamily="34" charset="0"/>
                <a:ea typeface="Aptos" pitchFamily="34" charset="-122"/>
                <a:cs typeface="Aptos" pitchFamily="34" charset="-120"/>
              </a:rPr>
              <a:t>Presented by Harshith Katta  ·  Shanmukha  ·  Keerthi Priya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FOUNDATION</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Four questions unsupervised learning can answer</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A useful taxonomy organized by business question—not by a particular project.</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02</a:t>
            </a:r>
            <a:endParaRPr lang="en-US" sz="900" dirty="0"/>
          </a:p>
        </p:txBody>
      </p:sp>
      <p:sp>
        <p:nvSpPr>
          <p:cNvPr id="9" name="Shape 7"/>
          <p:cNvSpPr/>
          <p:nvPr/>
        </p:nvSpPr>
        <p:spPr>
          <a:xfrm>
            <a:off x="640080" y="1764792"/>
            <a:ext cx="5413248" cy="1673352"/>
          </a:xfrm>
          <a:prstGeom prst="roundRect">
            <a:avLst>
              <a:gd name="adj" fmla="val 8197"/>
            </a:avLst>
          </a:prstGeom>
          <a:solidFill>
            <a:srgbClr val="FFFFFF"/>
          </a:solidFill>
          <a:ln w="12700">
            <a:solidFill>
              <a:srgbClr val="FFFFFF"/>
            </a:solidFill>
            <a:prstDash val="solid"/>
          </a:ln>
        </p:spPr>
      </p:sp>
      <p:sp>
        <p:nvSpPr>
          <p:cNvPr id="10" name="Text 8"/>
          <p:cNvSpPr/>
          <p:nvPr/>
        </p:nvSpPr>
        <p:spPr>
          <a:xfrm>
            <a:off x="822960" y="1901952"/>
            <a:ext cx="777240" cy="411480"/>
          </a:xfrm>
          <a:prstGeom prst="rect">
            <a:avLst/>
          </a:prstGeom>
          <a:noFill/>
          <a:ln/>
        </p:spPr>
        <p:txBody>
          <a:bodyPr wrap="square" lIns="0" tIns="0" rIns="0" bIns="0" rtlCol="0" anchor="ctr">
            <a:normAutofit/>
          </a:bodyPr>
          <a:lstStyle/>
          <a:p>
            <a:pPr indent="0" marL="0">
              <a:buNone/>
            </a:pPr>
            <a:r>
              <a:rPr lang="en-US" sz="2800" b="1" dirty="0">
                <a:solidFill>
                  <a:srgbClr val="087F8C"/>
                </a:solidFill>
                <a:latin typeface="Aptos" pitchFamily="34" charset="0"/>
                <a:ea typeface="Aptos" pitchFamily="34" charset="-122"/>
                <a:cs typeface="Aptos" pitchFamily="34" charset="-120"/>
              </a:rPr>
              <a:t>01</a:t>
            </a:r>
            <a:endParaRPr lang="en-US" sz="2800" dirty="0"/>
          </a:p>
        </p:txBody>
      </p:sp>
      <p:sp>
        <p:nvSpPr>
          <p:cNvPr id="11" name="Text 9"/>
          <p:cNvSpPr/>
          <p:nvPr/>
        </p:nvSpPr>
        <p:spPr>
          <a:xfrm>
            <a:off x="1645920" y="1947672"/>
            <a:ext cx="4160520" cy="320040"/>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Who is similar?</a:t>
            </a:r>
            <a:endParaRPr lang="en-US" sz="1700" dirty="0"/>
          </a:p>
        </p:txBody>
      </p:sp>
      <p:sp>
        <p:nvSpPr>
          <p:cNvPr id="12" name="Text 10"/>
          <p:cNvSpPr/>
          <p:nvPr/>
        </p:nvSpPr>
        <p:spPr>
          <a:xfrm>
            <a:off x="1645920" y="2377440"/>
            <a:ext cx="4114800" cy="265176"/>
          </a:xfrm>
          <a:prstGeom prst="rect">
            <a:avLst/>
          </a:prstGeom>
          <a:noFill/>
          <a:ln/>
        </p:spPr>
        <p:txBody>
          <a:bodyPr wrap="square" lIns="0" tIns="0" rIns="0" bIns="0" rtlCol="0" anchor="ctr">
            <a:normAutofit/>
          </a:bodyPr>
          <a:lstStyle/>
          <a:p>
            <a:pPr indent="0" marL="0">
              <a:buNone/>
            </a:pPr>
            <a:r>
              <a:rPr lang="en-US" sz="1300" b="1" dirty="0">
                <a:solidFill>
                  <a:srgbClr val="087F8C"/>
                </a:solidFill>
                <a:latin typeface="Aptos" pitchFamily="34" charset="0"/>
                <a:ea typeface="Aptos" pitchFamily="34" charset="-122"/>
                <a:cs typeface="Aptos" pitchFamily="34" charset="-120"/>
              </a:rPr>
              <a:t>Clustering</a:t>
            </a:r>
            <a:endParaRPr lang="en-US" sz="1300" dirty="0"/>
          </a:p>
        </p:txBody>
      </p:sp>
      <p:sp>
        <p:nvSpPr>
          <p:cNvPr id="13" name="Text 11"/>
          <p:cNvSpPr/>
          <p:nvPr/>
        </p:nvSpPr>
        <p:spPr>
          <a:xfrm>
            <a:off x="1645920" y="2779776"/>
            <a:ext cx="4114800" cy="292608"/>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Customer segments</a:t>
            </a:r>
            <a:endParaRPr lang="en-US" sz="1200" dirty="0"/>
          </a:p>
        </p:txBody>
      </p:sp>
      <p:sp>
        <p:nvSpPr>
          <p:cNvPr id="14" name="Shape 12"/>
          <p:cNvSpPr/>
          <p:nvPr/>
        </p:nvSpPr>
        <p:spPr>
          <a:xfrm>
            <a:off x="6272784" y="1764792"/>
            <a:ext cx="5413248" cy="1673352"/>
          </a:xfrm>
          <a:prstGeom prst="roundRect">
            <a:avLst>
              <a:gd name="adj" fmla="val 8197"/>
            </a:avLst>
          </a:prstGeom>
          <a:solidFill>
            <a:srgbClr val="FFFFFF"/>
          </a:solidFill>
          <a:ln w="12700">
            <a:solidFill>
              <a:srgbClr val="FFFFFF"/>
            </a:solidFill>
            <a:prstDash val="solid"/>
          </a:ln>
        </p:spPr>
      </p:sp>
      <p:sp>
        <p:nvSpPr>
          <p:cNvPr id="15" name="Text 13"/>
          <p:cNvSpPr/>
          <p:nvPr/>
        </p:nvSpPr>
        <p:spPr>
          <a:xfrm>
            <a:off x="6455664" y="1901952"/>
            <a:ext cx="777240" cy="411480"/>
          </a:xfrm>
          <a:prstGeom prst="rect">
            <a:avLst/>
          </a:prstGeom>
          <a:noFill/>
          <a:ln/>
        </p:spPr>
        <p:txBody>
          <a:bodyPr wrap="square" lIns="0" tIns="0" rIns="0" bIns="0" rtlCol="0" anchor="ctr">
            <a:normAutofit/>
          </a:bodyPr>
          <a:lstStyle/>
          <a:p>
            <a:pPr indent="0" marL="0">
              <a:buNone/>
            </a:pPr>
            <a:r>
              <a:rPr lang="en-US" sz="2800" b="1" dirty="0">
                <a:solidFill>
                  <a:srgbClr val="5169D8"/>
                </a:solidFill>
                <a:latin typeface="Aptos" pitchFamily="34" charset="0"/>
                <a:ea typeface="Aptos" pitchFamily="34" charset="-122"/>
                <a:cs typeface="Aptos" pitchFamily="34" charset="-120"/>
              </a:rPr>
              <a:t>02</a:t>
            </a:r>
            <a:endParaRPr lang="en-US" sz="2800" dirty="0"/>
          </a:p>
        </p:txBody>
      </p:sp>
      <p:sp>
        <p:nvSpPr>
          <p:cNvPr id="16" name="Text 14"/>
          <p:cNvSpPr/>
          <p:nvPr/>
        </p:nvSpPr>
        <p:spPr>
          <a:xfrm>
            <a:off x="7278624" y="1947672"/>
            <a:ext cx="4160520" cy="320040"/>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Can we simplify?</a:t>
            </a:r>
            <a:endParaRPr lang="en-US" sz="1700" dirty="0"/>
          </a:p>
        </p:txBody>
      </p:sp>
      <p:sp>
        <p:nvSpPr>
          <p:cNvPr id="17" name="Text 15"/>
          <p:cNvSpPr/>
          <p:nvPr/>
        </p:nvSpPr>
        <p:spPr>
          <a:xfrm>
            <a:off x="7278624" y="2377440"/>
            <a:ext cx="4114800" cy="265176"/>
          </a:xfrm>
          <a:prstGeom prst="rect">
            <a:avLst/>
          </a:prstGeom>
          <a:noFill/>
          <a:ln/>
        </p:spPr>
        <p:txBody>
          <a:bodyPr wrap="square" lIns="0" tIns="0" rIns="0" bIns="0" rtlCol="0" anchor="ctr">
            <a:normAutofit/>
          </a:bodyPr>
          <a:lstStyle/>
          <a:p>
            <a:pPr indent="0" marL="0">
              <a:buNone/>
            </a:pPr>
            <a:r>
              <a:rPr lang="en-US" sz="1300" b="1" dirty="0">
                <a:solidFill>
                  <a:srgbClr val="5169D8"/>
                </a:solidFill>
                <a:latin typeface="Aptos" pitchFamily="34" charset="0"/>
                <a:ea typeface="Aptos" pitchFamily="34" charset="-122"/>
                <a:cs typeface="Aptos" pitchFamily="34" charset="-120"/>
              </a:rPr>
              <a:t>Dimensionality reduction</a:t>
            </a:r>
            <a:endParaRPr lang="en-US" sz="1300" dirty="0"/>
          </a:p>
        </p:txBody>
      </p:sp>
      <p:sp>
        <p:nvSpPr>
          <p:cNvPr id="18" name="Text 16"/>
          <p:cNvSpPr/>
          <p:nvPr/>
        </p:nvSpPr>
        <p:spPr>
          <a:xfrm>
            <a:off x="7278624" y="2779776"/>
            <a:ext cx="4114800" cy="292608"/>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High-dimensional embeddings</a:t>
            </a:r>
            <a:endParaRPr lang="en-US" sz="1200" dirty="0"/>
          </a:p>
        </p:txBody>
      </p:sp>
      <p:sp>
        <p:nvSpPr>
          <p:cNvPr id="19" name="Shape 17"/>
          <p:cNvSpPr/>
          <p:nvPr/>
        </p:nvSpPr>
        <p:spPr>
          <a:xfrm>
            <a:off x="640080" y="3657600"/>
            <a:ext cx="5413248" cy="1673352"/>
          </a:xfrm>
          <a:prstGeom prst="roundRect">
            <a:avLst>
              <a:gd name="adj" fmla="val 8197"/>
            </a:avLst>
          </a:prstGeom>
          <a:solidFill>
            <a:srgbClr val="FFFFFF"/>
          </a:solidFill>
          <a:ln w="12700">
            <a:solidFill>
              <a:srgbClr val="FFFFFF"/>
            </a:solidFill>
            <a:prstDash val="solid"/>
          </a:ln>
        </p:spPr>
      </p:sp>
      <p:sp>
        <p:nvSpPr>
          <p:cNvPr id="20" name="Text 18"/>
          <p:cNvSpPr/>
          <p:nvPr/>
        </p:nvSpPr>
        <p:spPr>
          <a:xfrm>
            <a:off x="822960" y="3794760"/>
            <a:ext cx="777240" cy="411480"/>
          </a:xfrm>
          <a:prstGeom prst="rect">
            <a:avLst/>
          </a:prstGeom>
          <a:noFill/>
          <a:ln/>
        </p:spPr>
        <p:txBody>
          <a:bodyPr wrap="square" lIns="0" tIns="0" rIns="0" bIns="0" rtlCol="0" anchor="ctr">
            <a:normAutofit/>
          </a:bodyPr>
          <a:lstStyle/>
          <a:p>
            <a:pPr indent="0" marL="0">
              <a:buNone/>
            </a:pPr>
            <a:r>
              <a:rPr lang="en-US" sz="2800" b="1" dirty="0">
                <a:solidFill>
                  <a:srgbClr val="D99B35"/>
                </a:solidFill>
                <a:latin typeface="Aptos" pitchFamily="34" charset="0"/>
                <a:ea typeface="Aptos" pitchFamily="34" charset="-122"/>
                <a:cs typeface="Aptos" pitchFamily="34" charset="-120"/>
              </a:rPr>
              <a:t>03</a:t>
            </a:r>
            <a:endParaRPr lang="en-US" sz="2800" dirty="0"/>
          </a:p>
        </p:txBody>
      </p:sp>
      <p:sp>
        <p:nvSpPr>
          <p:cNvPr id="21" name="Text 19"/>
          <p:cNvSpPr/>
          <p:nvPr/>
        </p:nvSpPr>
        <p:spPr>
          <a:xfrm>
            <a:off x="1645920" y="3840480"/>
            <a:ext cx="4160520" cy="320040"/>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What occurs together?</a:t>
            </a:r>
            <a:endParaRPr lang="en-US" sz="1700" dirty="0"/>
          </a:p>
        </p:txBody>
      </p:sp>
      <p:sp>
        <p:nvSpPr>
          <p:cNvPr id="22" name="Text 20"/>
          <p:cNvSpPr/>
          <p:nvPr/>
        </p:nvSpPr>
        <p:spPr>
          <a:xfrm>
            <a:off x="1645920" y="4270248"/>
            <a:ext cx="4114800" cy="265176"/>
          </a:xfrm>
          <a:prstGeom prst="rect">
            <a:avLst/>
          </a:prstGeom>
          <a:noFill/>
          <a:ln/>
        </p:spPr>
        <p:txBody>
          <a:bodyPr wrap="square" lIns="0" tIns="0" rIns="0" bIns="0" rtlCol="0" anchor="ctr">
            <a:normAutofit/>
          </a:bodyPr>
          <a:lstStyle/>
          <a:p>
            <a:pPr indent="0" marL="0">
              <a:buNone/>
            </a:pPr>
            <a:r>
              <a:rPr lang="en-US" sz="1300" b="1" dirty="0">
                <a:solidFill>
                  <a:srgbClr val="D99B35"/>
                </a:solidFill>
                <a:latin typeface="Aptos" pitchFamily="34" charset="0"/>
                <a:ea typeface="Aptos" pitchFamily="34" charset="-122"/>
                <a:cs typeface="Aptos" pitchFamily="34" charset="-120"/>
              </a:rPr>
              <a:t>Association rules</a:t>
            </a:r>
            <a:endParaRPr lang="en-US" sz="1300" dirty="0"/>
          </a:p>
        </p:txBody>
      </p:sp>
      <p:sp>
        <p:nvSpPr>
          <p:cNvPr id="23" name="Text 21"/>
          <p:cNvSpPr/>
          <p:nvPr/>
        </p:nvSpPr>
        <p:spPr>
          <a:xfrm>
            <a:off x="1645920" y="4672584"/>
            <a:ext cx="4114800" cy="292608"/>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Product bundles</a:t>
            </a:r>
            <a:endParaRPr lang="en-US" sz="1200" dirty="0"/>
          </a:p>
        </p:txBody>
      </p:sp>
      <p:sp>
        <p:nvSpPr>
          <p:cNvPr id="24" name="Shape 22"/>
          <p:cNvSpPr/>
          <p:nvPr/>
        </p:nvSpPr>
        <p:spPr>
          <a:xfrm>
            <a:off x="6272784" y="3657600"/>
            <a:ext cx="5413248" cy="1673352"/>
          </a:xfrm>
          <a:prstGeom prst="roundRect">
            <a:avLst>
              <a:gd name="adj" fmla="val 8197"/>
            </a:avLst>
          </a:prstGeom>
          <a:solidFill>
            <a:srgbClr val="FFFFFF"/>
          </a:solidFill>
          <a:ln w="12700">
            <a:solidFill>
              <a:srgbClr val="FFFFFF"/>
            </a:solidFill>
            <a:prstDash val="solid"/>
          </a:ln>
        </p:spPr>
      </p:sp>
      <p:sp>
        <p:nvSpPr>
          <p:cNvPr id="25" name="Text 23"/>
          <p:cNvSpPr/>
          <p:nvPr/>
        </p:nvSpPr>
        <p:spPr>
          <a:xfrm>
            <a:off x="6455664" y="3794760"/>
            <a:ext cx="777240" cy="411480"/>
          </a:xfrm>
          <a:prstGeom prst="rect">
            <a:avLst/>
          </a:prstGeom>
          <a:noFill/>
          <a:ln/>
        </p:spPr>
        <p:txBody>
          <a:bodyPr wrap="square" lIns="0" tIns="0" rIns="0" bIns="0" rtlCol="0" anchor="ctr">
            <a:normAutofit/>
          </a:bodyPr>
          <a:lstStyle/>
          <a:p>
            <a:pPr indent="0" marL="0">
              <a:buNone/>
            </a:pPr>
            <a:r>
              <a:rPr lang="en-US" sz="2800" b="1" dirty="0">
                <a:solidFill>
                  <a:srgbClr val="E76C60"/>
                </a:solidFill>
                <a:latin typeface="Aptos" pitchFamily="34" charset="0"/>
                <a:ea typeface="Aptos" pitchFamily="34" charset="-122"/>
                <a:cs typeface="Aptos" pitchFamily="34" charset="-120"/>
              </a:rPr>
              <a:t>04</a:t>
            </a:r>
            <a:endParaRPr lang="en-US" sz="2800" dirty="0"/>
          </a:p>
        </p:txBody>
      </p:sp>
      <p:sp>
        <p:nvSpPr>
          <p:cNvPr id="26" name="Text 24"/>
          <p:cNvSpPr/>
          <p:nvPr/>
        </p:nvSpPr>
        <p:spPr>
          <a:xfrm>
            <a:off x="7278624" y="3840480"/>
            <a:ext cx="4160520" cy="320040"/>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What is unusual?</a:t>
            </a:r>
            <a:endParaRPr lang="en-US" sz="1700" dirty="0"/>
          </a:p>
        </p:txBody>
      </p:sp>
      <p:sp>
        <p:nvSpPr>
          <p:cNvPr id="27" name="Text 25"/>
          <p:cNvSpPr/>
          <p:nvPr/>
        </p:nvSpPr>
        <p:spPr>
          <a:xfrm>
            <a:off x="7278624" y="4270248"/>
            <a:ext cx="4114800" cy="265176"/>
          </a:xfrm>
          <a:prstGeom prst="rect">
            <a:avLst/>
          </a:prstGeom>
          <a:noFill/>
          <a:ln/>
        </p:spPr>
        <p:txBody>
          <a:bodyPr wrap="square" lIns="0" tIns="0" rIns="0" bIns="0" rtlCol="0" anchor="ctr">
            <a:normAutofit/>
          </a:bodyPr>
          <a:lstStyle/>
          <a:p>
            <a:pPr indent="0" marL="0">
              <a:buNone/>
            </a:pPr>
            <a:r>
              <a:rPr lang="en-US" sz="1300" b="1" dirty="0">
                <a:solidFill>
                  <a:srgbClr val="E76C60"/>
                </a:solidFill>
                <a:latin typeface="Aptos" pitchFamily="34" charset="0"/>
                <a:ea typeface="Aptos" pitchFamily="34" charset="-122"/>
                <a:cs typeface="Aptos" pitchFamily="34" charset="-120"/>
              </a:rPr>
              <a:t>Anomaly detection</a:t>
            </a:r>
            <a:endParaRPr lang="en-US" sz="1300" dirty="0"/>
          </a:p>
        </p:txBody>
      </p:sp>
      <p:sp>
        <p:nvSpPr>
          <p:cNvPr id="28" name="Text 26"/>
          <p:cNvSpPr/>
          <p:nvPr/>
        </p:nvSpPr>
        <p:spPr>
          <a:xfrm>
            <a:off x="7278624" y="4672584"/>
            <a:ext cx="4114800" cy="292608"/>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Rare transactions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FOUNDATION</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Supervised vs. unsupervised learning</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The difference is the target—not whether we can ever validate results.</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03</a:t>
            </a:r>
            <a:endParaRPr lang="en-US" sz="900" dirty="0"/>
          </a:p>
        </p:txBody>
      </p:sp>
      <p:sp>
        <p:nvSpPr>
          <p:cNvPr id="9" name="Shape 7"/>
          <p:cNvSpPr/>
          <p:nvPr/>
        </p:nvSpPr>
        <p:spPr>
          <a:xfrm>
            <a:off x="640080" y="1783080"/>
            <a:ext cx="5257800" cy="3337560"/>
          </a:xfrm>
          <a:prstGeom prst="roundRect">
            <a:avLst>
              <a:gd name="adj" fmla="val 4110"/>
            </a:avLst>
          </a:prstGeom>
          <a:solidFill>
            <a:srgbClr val="FFFFFF"/>
          </a:solidFill>
          <a:ln w="12700">
            <a:solidFill>
              <a:srgbClr val="FFFFFF"/>
            </a:solidFill>
            <a:prstDash val="solid"/>
          </a:ln>
        </p:spPr>
      </p:sp>
      <p:sp>
        <p:nvSpPr>
          <p:cNvPr id="10" name="Shape 8"/>
          <p:cNvSpPr/>
          <p:nvPr/>
        </p:nvSpPr>
        <p:spPr>
          <a:xfrm>
            <a:off x="640080" y="1783080"/>
            <a:ext cx="59436" cy="3337560"/>
          </a:xfrm>
          <a:prstGeom prst="rect">
            <a:avLst/>
          </a:prstGeom>
          <a:solidFill>
            <a:srgbClr val="5169D8"/>
          </a:solidFill>
          <a:ln w="12700">
            <a:solidFill>
              <a:srgbClr val="5169D8"/>
            </a:solidFill>
            <a:prstDash val="solid"/>
          </a:ln>
        </p:spPr>
      </p:sp>
      <p:sp>
        <p:nvSpPr>
          <p:cNvPr id="11" name="Text 9"/>
          <p:cNvSpPr/>
          <p:nvPr/>
        </p:nvSpPr>
        <p:spPr>
          <a:xfrm>
            <a:off x="841248" y="1947672"/>
            <a:ext cx="4892040"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SUPERVISED</a:t>
            </a:r>
            <a:endParaRPr lang="en-US" sz="1700" dirty="0"/>
          </a:p>
        </p:txBody>
      </p:sp>
      <p:sp>
        <p:nvSpPr>
          <p:cNvPr id="12" name="Text 10"/>
          <p:cNvSpPr/>
          <p:nvPr/>
        </p:nvSpPr>
        <p:spPr>
          <a:xfrm>
            <a:off x="841248" y="2468880"/>
            <a:ext cx="4846320" cy="256032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Training input: X and known target y</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Learns a mapping X → y</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Examples: churn prediction, house prices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Metrics: accuracy, F1, RMSE</a:t>
            </a:r>
            <a:endParaRPr lang="en-US" sz="1200" dirty="0"/>
          </a:p>
        </p:txBody>
      </p:sp>
      <p:sp>
        <p:nvSpPr>
          <p:cNvPr id="13" name="Shape 11"/>
          <p:cNvSpPr/>
          <p:nvPr/>
        </p:nvSpPr>
        <p:spPr>
          <a:xfrm>
            <a:off x="6126480" y="1783080"/>
            <a:ext cx="5349240" cy="3337560"/>
          </a:xfrm>
          <a:prstGeom prst="roundRect">
            <a:avLst>
              <a:gd name="adj" fmla="val 4110"/>
            </a:avLst>
          </a:prstGeom>
          <a:solidFill>
            <a:srgbClr val="FFFFFF"/>
          </a:solidFill>
          <a:ln w="12700">
            <a:solidFill>
              <a:srgbClr val="FFFFFF"/>
            </a:solidFill>
            <a:prstDash val="solid"/>
          </a:ln>
        </p:spPr>
      </p:sp>
      <p:sp>
        <p:nvSpPr>
          <p:cNvPr id="14" name="Shape 12"/>
          <p:cNvSpPr/>
          <p:nvPr/>
        </p:nvSpPr>
        <p:spPr>
          <a:xfrm>
            <a:off x="6126480" y="1783080"/>
            <a:ext cx="59436" cy="3337560"/>
          </a:xfrm>
          <a:prstGeom prst="rect">
            <a:avLst/>
          </a:prstGeom>
          <a:solidFill>
            <a:srgbClr val="087F8C"/>
          </a:solidFill>
          <a:ln w="12700">
            <a:solidFill>
              <a:srgbClr val="087F8C"/>
            </a:solidFill>
            <a:prstDash val="solid"/>
          </a:ln>
        </p:spPr>
      </p:sp>
      <p:sp>
        <p:nvSpPr>
          <p:cNvPr id="15" name="Text 13"/>
          <p:cNvSpPr/>
          <p:nvPr/>
        </p:nvSpPr>
        <p:spPr>
          <a:xfrm>
            <a:off x="6327648" y="1947672"/>
            <a:ext cx="4983480"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UNSUPERVISED</a:t>
            </a:r>
            <a:endParaRPr lang="en-US" sz="1700" dirty="0"/>
          </a:p>
        </p:txBody>
      </p:sp>
      <p:sp>
        <p:nvSpPr>
          <p:cNvPr id="16" name="Text 14"/>
          <p:cNvSpPr/>
          <p:nvPr/>
        </p:nvSpPr>
        <p:spPr>
          <a:xfrm>
            <a:off x="6327648" y="2468880"/>
            <a:ext cx="4937760" cy="256032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Training input: X only</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Finds structure or regularities in X</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Examples: customer groups, basket affinities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Metrics depend on task and ground truth</a:t>
            </a:r>
            <a:endParaRPr lang="en-US" sz="1200" dirty="0"/>
          </a:p>
        </p:txBody>
      </p:sp>
      <p:sp>
        <p:nvSpPr>
          <p:cNvPr id="17" name="Shape 15"/>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8" name="Text 16"/>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No labels for training ≠ no way to evaluate.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FOUNDATION</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The end-to-end unsupervised workflow</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Most quality failures happen before model fitting—or during interpretation.</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04</a:t>
            </a:r>
            <a:endParaRPr lang="en-US" sz="900" dirty="0"/>
          </a:p>
        </p:txBody>
      </p:sp>
      <p:sp>
        <p:nvSpPr>
          <p:cNvPr id="9" name="Shape 7"/>
          <p:cNvSpPr/>
          <p:nvPr/>
        </p:nvSpPr>
        <p:spPr>
          <a:xfrm>
            <a:off x="640080" y="1847088"/>
            <a:ext cx="3529584" cy="1207008"/>
          </a:xfrm>
          <a:prstGeom prst="roundRect">
            <a:avLst>
              <a:gd name="adj" fmla="val 11364"/>
            </a:avLst>
          </a:prstGeom>
          <a:solidFill>
            <a:srgbClr val="FFFFFF"/>
          </a:solidFill>
          <a:ln w="12700">
            <a:solidFill>
              <a:srgbClr val="FFFFFF"/>
            </a:solidFill>
            <a:prstDash val="solid"/>
          </a:ln>
        </p:spPr>
      </p:sp>
      <p:sp>
        <p:nvSpPr>
          <p:cNvPr id="10" name="Shape 8"/>
          <p:cNvSpPr/>
          <p:nvPr/>
        </p:nvSpPr>
        <p:spPr>
          <a:xfrm>
            <a:off x="822960" y="2048256"/>
            <a:ext cx="594360" cy="347472"/>
          </a:xfrm>
          <a:prstGeom prst="roundRect">
            <a:avLst>
              <a:gd name="adj" fmla="val 39474"/>
            </a:avLst>
          </a:prstGeom>
          <a:solidFill>
            <a:srgbClr val="087F8C"/>
          </a:solidFill>
          <a:ln w="12700">
            <a:solidFill>
              <a:srgbClr val="087F8C"/>
            </a:solidFill>
            <a:prstDash val="solid"/>
          </a:ln>
        </p:spPr>
      </p:sp>
      <p:sp>
        <p:nvSpPr>
          <p:cNvPr id="11" name="Text 9"/>
          <p:cNvSpPr/>
          <p:nvPr/>
        </p:nvSpPr>
        <p:spPr>
          <a:xfrm>
            <a:off x="932688" y="2066544"/>
            <a:ext cx="374904"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12" name="Text 10"/>
          <p:cNvSpPr/>
          <p:nvPr/>
        </p:nvSpPr>
        <p:spPr>
          <a:xfrm>
            <a:off x="1517904" y="2093976"/>
            <a:ext cx="2423160" cy="365760"/>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Define question</a:t>
            </a:r>
            <a:endParaRPr lang="en-US" sz="1700" dirty="0"/>
          </a:p>
        </p:txBody>
      </p:sp>
      <p:sp>
        <p:nvSpPr>
          <p:cNvPr id="13" name="Text 11"/>
          <p:cNvSpPr/>
          <p:nvPr/>
        </p:nvSpPr>
        <p:spPr>
          <a:xfrm>
            <a:off x="4187952" y="2221992"/>
            <a:ext cx="329184" cy="292608"/>
          </a:xfrm>
          <a:prstGeom prst="rect">
            <a:avLst/>
          </a:prstGeom>
          <a:noFill/>
          <a:ln/>
        </p:spPr>
        <p:txBody>
          <a:bodyPr wrap="square" lIns="0" tIns="0" rIns="0" bIns="0" rtlCol="0" anchor="ctr">
            <a:normAutofit/>
          </a:bodyPr>
          <a:lstStyle/>
          <a:p>
            <a:pPr algn="ctr" indent="0" marL="0">
              <a:buNone/>
            </a:pPr>
            <a:r>
              <a:rPr lang="en-US" sz="2200" b="1" dirty="0">
                <a:solidFill>
                  <a:srgbClr val="8795A9"/>
                </a:solidFill>
                <a:latin typeface="Aptos" pitchFamily="34" charset="0"/>
                <a:ea typeface="Aptos" pitchFamily="34" charset="-122"/>
                <a:cs typeface="Aptos" pitchFamily="34" charset="-120"/>
              </a:rPr>
              <a:t>→</a:t>
            </a:r>
            <a:endParaRPr lang="en-US" sz="2200" dirty="0"/>
          </a:p>
        </p:txBody>
      </p:sp>
      <p:sp>
        <p:nvSpPr>
          <p:cNvPr id="14" name="Shape 12"/>
          <p:cNvSpPr/>
          <p:nvPr/>
        </p:nvSpPr>
        <p:spPr>
          <a:xfrm>
            <a:off x="4480560" y="1847088"/>
            <a:ext cx="3529584" cy="1207008"/>
          </a:xfrm>
          <a:prstGeom prst="roundRect">
            <a:avLst>
              <a:gd name="adj" fmla="val 11364"/>
            </a:avLst>
          </a:prstGeom>
          <a:solidFill>
            <a:srgbClr val="FFFFFF"/>
          </a:solidFill>
          <a:ln w="12700">
            <a:solidFill>
              <a:srgbClr val="FFFFFF"/>
            </a:solidFill>
            <a:prstDash val="solid"/>
          </a:ln>
        </p:spPr>
      </p:sp>
      <p:sp>
        <p:nvSpPr>
          <p:cNvPr id="15" name="Shape 13"/>
          <p:cNvSpPr/>
          <p:nvPr/>
        </p:nvSpPr>
        <p:spPr>
          <a:xfrm>
            <a:off x="4663440" y="2048256"/>
            <a:ext cx="594360" cy="347472"/>
          </a:xfrm>
          <a:prstGeom prst="roundRect">
            <a:avLst>
              <a:gd name="adj" fmla="val 39474"/>
            </a:avLst>
          </a:prstGeom>
          <a:solidFill>
            <a:srgbClr val="5169D8"/>
          </a:solidFill>
          <a:ln w="12700">
            <a:solidFill>
              <a:srgbClr val="5169D8"/>
            </a:solidFill>
            <a:prstDash val="solid"/>
          </a:ln>
        </p:spPr>
      </p:sp>
      <p:sp>
        <p:nvSpPr>
          <p:cNvPr id="16" name="Text 14"/>
          <p:cNvSpPr/>
          <p:nvPr/>
        </p:nvSpPr>
        <p:spPr>
          <a:xfrm>
            <a:off x="4773168" y="2066544"/>
            <a:ext cx="374904"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7" name="Text 15"/>
          <p:cNvSpPr/>
          <p:nvPr/>
        </p:nvSpPr>
        <p:spPr>
          <a:xfrm>
            <a:off x="5358384" y="2093976"/>
            <a:ext cx="2423160" cy="365760"/>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Audit + clean</a:t>
            </a:r>
            <a:endParaRPr lang="en-US" sz="1700" dirty="0"/>
          </a:p>
        </p:txBody>
      </p:sp>
      <p:sp>
        <p:nvSpPr>
          <p:cNvPr id="18" name="Text 16"/>
          <p:cNvSpPr/>
          <p:nvPr/>
        </p:nvSpPr>
        <p:spPr>
          <a:xfrm>
            <a:off x="8028432" y="2221992"/>
            <a:ext cx="329184" cy="292608"/>
          </a:xfrm>
          <a:prstGeom prst="rect">
            <a:avLst/>
          </a:prstGeom>
          <a:noFill/>
          <a:ln/>
        </p:spPr>
        <p:txBody>
          <a:bodyPr wrap="square" lIns="0" tIns="0" rIns="0" bIns="0" rtlCol="0" anchor="ctr">
            <a:normAutofit/>
          </a:bodyPr>
          <a:lstStyle/>
          <a:p>
            <a:pPr algn="ctr" indent="0" marL="0">
              <a:buNone/>
            </a:pPr>
            <a:r>
              <a:rPr lang="en-US" sz="2200" b="1" dirty="0">
                <a:solidFill>
                  <a:srgbClr val="8795A9"/>
                </a:solidFill>
                <a:latin typeface="Aptos" pitchFamily="34" charset="0"/>
                <a:ea typeface="Aptos" pitchFamily="34" charset="-122"/>
                <a:cs typeface="Aptos" pitchFamily="34" charset="-120"/>
              </a:rPr>
              <a:t>→</a:t>
            </a:r>
            <a:endParaRPr lang="en-US" sz="2200" dirty="0"/>
          </a:p>
        </p:txBody>
      </p:sp>
      <p:sp>
        <p:nvSpPr>
          <p:cNvPr id="19" name="Shape 17"/>
          <p:cNvSpPr/>
          <p:nvPr/>
        </p:nvSpPr>
        <p:spPr>
          <a:xfrm>
            <a:off x="8321040" y="1847088"/>
            <a:ext cx="3529584" cy="1207008"/>
          </a:xfrm>
          <a:prstGeom prst="roundRect">
            <a:avLst>
              <a:gd name="adj" fmla="val 11364"/>
            </a:avLst>
          </a:prstGeom>
          <a:solidFill>
            <a:srgbClr val="FFFFFF"/>
          </a:solidFill>
          <a:ln w="12700">
            <a:solidFill>
              <a:srgbClr val="FFFFFF"/>
            </a:solidFill>
            <a:prstDash val="solid"/>
          </a:ln>
        </p:spPr>
      </p:sp>
      <p:sp>
        <p:nvSpPr>
          <p:cNvPr id="20" name="Shape 18"/>
          <p:cNvSpPr/>
          <p:nvPr/>
        </p:nvSpPr>
        <p:spPr>
          <a:xfrm>
            <a:off x="8503920" y="2048256"/>
            <a:ext cx="594360" cy="347472"/>
          </a:xfrm>
          <a:prstGeom prst="roundRect">
            <a:avLst>
              <a:gd name="adj" fmla="val 39474"/>
            </a:avLst>
          </a:prstGeom>
          <a:solidFill>
            <a:srgbClr val="D99B35"/>
          </a:solidFill>
          <a:ln w="12700">
            <a:solidFill>
              <a:srgbClr val="D99B35"/>
            </a:solidFill>
            <a:prstDash val="solid"/>
          </a:ln>
        </p:spPr>
      </p:sp>
      <p:sp>
        <p:nvSpPr>
          <p:cNvPr id="21" name="Text 19"/>
          <p:cNvSpPr/>
          <p:nvPr/>
        </p:nvSpPr>
        <p:spPr>
          <a:xfrm>
            <a:off x="8613648" y="2066544"/>
            <a:ext cx="374904"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2" name="Text 20"/>
          <p:cNvSpPr/>
          <p:nvPr/>
        </p:nvSpPr>
        <p:spPr>
          <a:xfrm>
            <a:off x="9198864" y="2093976"/>
            <a:ext cx="2423160" cy="365760"/>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Encode + scale</a:t>
            </a:r>
            <a:endParaRPr lang="en-US" sz="1700" dirty="0"/>
          </a:p>
        </p:txBody>
      </p:sp>
      <p:sp>
        <p:nvSpPr>
          <p:cNvPr id="23" name="Shape 21"/>
          <p:cNvSpPr/>
          <p:nvPr/>
        </p:nvSpPr>
        <p:spPr>
          <a:xfrm>
            <a:off x="640080" y="3447288"/>
            <a:ext cx="3529584" cy="1207008"/>
          </a:xfrm>
          <a:prstGeom prst="roundRect">
            <a:avLst>
              <a:gd name="adj" fmla="val 11364"/>
            </a:avLst>
          </a:prstGeom>
          <a:solidFill>
            <a:srgbClr val="FFFFFF"/>
          </a:solidFill>
          <a:ln w="12700">
            <a:solidFill>
              <a:srgbClr val="FFFFFF"/>
            </a:solidFill>
            <a:prstDash val="solid"/>
          </a:ln>
        </p:spPr>
      </p:sp>
      <p:sp>
        <p:nvSpPr>
          <p:cNvPr id="24" name="Shape 22"/>
          <p:cNvSpPr/>
          <p:nvPr/>
        </p:nvSpPr>
        <p:spPr>
          <a:xfrm>
            <a:off x="822960" y="3648456"/>
            <a:ext cx="594360" cy="347472"/>
          </a:xfrm>
          <a:prstGeom prst="roundRect">
            <a:avLst>
              <a:gd name="adj" fmla="val 39474"/>
            </a:avLst>
          </a:prstGeom>
          <a:solidFill>
            <a:srgbClr val="087F8C"/>
          </a:solidFill>
          <a:ln w="12700">
            <a:solidFill>
              <a:srgbClr val="087F8C"/>
            </a:solidFill>
            <a:prstDash val="solid"/>
          </a:ln>
        </p:spPr>
      </p:sp>
      <p:sp>
        <p:nvSpPr>
          <p:cNvPr id="25" name="Text 23"/>
          <p:cNvSpPr/>
          <p:nvPr/>
        </p:nvSpPr>
        <p:spPr>
          <a:xfrm>
            <a:off x="932688" y="3666744"/>
            <a:ext cx="374904"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04</a:t>
            </a:r>
            <a:endParaRPr lang="en-US" sz="1000" dirty="0"/>
          </a:p>
        </p:txBody>
      </p:sp>
      <p:sp>
        <p:nvSpPr>
          <p:cNvPr id="26" name="Text 24"/>
          <p:cNvSpPr/>
          <p:nvPr/>
        </p:nvSpPr>
        <p:spPr>
          <a:xfrm>
            <a:off x="1517904" y="3694176"/>
            <a:ext cx="2423160" cy="365760"/>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Select method</a:t>
            </a:r>
            <a:endParaRPr lang="en-US" sz="1700" dirty="0"/>
          </a:p>
        </p:txBody>
      </p:sp>
      <p:sp>
        <p:nvSpPr>
          <p:cNvPr id="27" name="Text 25"/>
          <p:cNvSpPr/>
          <p:nvPr/>
        </p:nvSpPr>
        <p:spPr>
          <a:xfrm>
            <a:off x="4187952" y="3822192"/>
            <a:ext cx="329184" cy="292608"/>
          </a:xfrm>
          <a:prstGeom prst="rect">
            <a:avLst/>
          </a:prstGeom>
          <a:noFill/>
          <a:ln/>
        </p:spPr>
        <p:txBody>
          <a:bodyPr wrap="square" lIns="0" tIns="0" rIns="0" bIns="0" rtlCol="0" anchor="ctr">
            <a:normAutofit/>
          </a:bodyPr>
          <a:lstStyle/>
          <a:p>
            <a:pPr algn="ctr" indent="0" marL="0">
              <a:buNone/>
            </a:pPr>
            <a:r>
              <a:rPr lang="en-US" sz="2200" b="1" dirty="0">
                <a:solidFill>
                  <a:srgbClr val="8795A9"/>
                </a:solidFill>
                <a:latin typeface="Aptos" pitchFamily="34" charset="0"/>
                <a:ea typeface="Aptos" pitchFamily="34" charset="-122"/>
                <a:cs typeface="Aptos" pitchFamily="34" charset="-120"/>
              </a:rPr>
              <a:t>→</a:t>
            </a:r>
            <a:endParaRPr lang="en-US" sz="2200" dirty="0"/>
          </a:p>
        </p:txBody>
      </p:sp>
      <p:sp>
        <p:nvSpPr>
          <p:cNvPr id="28" name="Shape 26"/>
          <p:cNvSpPr/>
          <p:nvPr/>
        </p:nvSpPr>
        <p:spPr>
          <a:xfrm>
            <a:off x="4480560" y="3447288"/>
            <a:ext cx="3529584" cy="1207008"/>
          </a:xfrm>
          <a:prstGeom prst="roundRect">
            <a:avLst>
              <a:gd name="adj" fmla="val 11364"/>
            </a:avLst>
          </a:prstGeom>
          <a:solidFill>
            <a:srgbClr val="FFFFFF"/>
          </a:solidFill>
          <a:ln w="12700">
            <a:solidFill>
              <a:srgbClr val="FFFFFF"/>
            </a:solidFill>
            <a:prstDash val="solid"/>
          </a:ln>
        </p:spPr>
      </p:sp>
      <p:sp>
        <p:nvSpPr>
          <p:cNvPr id="29" name="Shape 27"/>
          <p:cNvSpPr/>
          <p:nvPr/>
        </p:nvSpPr>
        <p:spPr>
          <a:xfrm>
            <a:off x="4663440" y="3648456"/>
            <a:ext cx="594360" cy="347472"/>
          </a:xfrm>
          <a:prstGeom prst="roundRect">
            <a:avLst>
              <a:gd name="adj" fmla="val 39474"/>
            </a:avLst>
          </a:prstGeom>
          <a:solidFill>
            <a:srgbClr val="5169D8"/>
          </a:solidFill>
          <a:ln w="12700">
            <a:solidFill>
              <a:srgbClr val="5169D8"/>
            </a:solidFill>
            <a:prstDash val="solid"/>
          </a:ln>
        </p:spPr>
      </p:sp>
      <p:sp>
        <p:nvSpPr>
          <p:cNvPr id="30" name="Text 28"/>
          <p:cNvSpPr/>
          <p:nvPr/>
        </p:nvSpPr>
        <p:spPr>
          <a:xfrm>
            <a:off x="4773168" y="3666744"/>
            <a:ext cx="374904"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05</a:t>
            </a:r>
            <a:endParaRPr lang="en-US" sz="1000" dirty="0"/>
          </a:p>
        </p:txBody>
      </p:sp>
      <p:sp>
        <p:nvSpPr>
          <p:cNvPr id="31" name="Text 29"/>
          <p:cNvSpPr/>
          <p:nvPr/>
        </p:nvSpPr>
        <p:spPr>
          <a:xfrm>
            <a:off x="5358384" y="3694176"/>
            <a:ext cx="2423160" cy="365760"/>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Fit + visualize</a:t>
            </a:r>
            <a:endParaRPr lang="en-US" sz="1700" dirty="0"/>
          </a:p>
        </p:txBody>
      </p:sp>
      <p:sp>
        <p:nvSpPr>
          <p:cNvPr id="32" name="Text 30"/>
          <p:cNvSpPr/>
          <p:nvPr/>
        </p:nvSpPr>
        <p:spPr>
          <a:xfrm>
            <a:off x="8028432" y="3822192"/>
            <a:ext cx="329184" cy="292608"/>
          </a:xfrm>
          <a:prstGeom prst="rect">
            <a:avLst/>
          </a:prstGeom>
          <a:noFill/>
          <a:ln/>
        </p:spPr>
        <p:txBody>
          <a:bodyPr wrap="square" lIns="0" tIns="0" rIns="0" bIns="0" rtlCol="0" anchor="ctr">
            <a:normAutofit/>
          </a:bodyPr>
          <a:lstStyle/>
          <a:p>
            <a:pPr algn="ctr" indent="0" marL="0">
              <a:buNone/>
            </a:pPr>
            <a:r>
              <a:rPr lang="en-US" sz="2200" b="1" dirty="0">
                <a:solidFill>
                  <a:srgbClr val="8795A9"/>
                </a:solidFill>
                <a:latin typeface="Aptos" pitchFamily="34" charset="0"/>
                <a:ea typeface="Aptos" pitchFamily="34" charset="-122"/>
                <a:cs typeface="Aptos" pitchFamily="34" charset="-120"/>
              </a:rPr>
              <a:t>→</a:t>
            </a:r>
            <a:endParaRPr lang="en-US" sz="2200" dirty="0"/>
          </a:p>
        </p:txBody>
      </p:sp>
      <p:sp>
        <p:nvSpPr>
          <p:cNvPr id="33" name="Shape 31"/>
          <p:cNvSpPr/>
          <p:nvPr/>
        </p:nvSpPr>
        <p:spPr>
          <a:xfrm>
            <a:off x="8321040" y="3447288"/>
            <a:ext cx="3529584" cy="1207008"/>
          </a:xfrm>
          <a:prstGeom prst="roundRect">
            <a:avLst>
              <a:gd name="adj" fmla="val 11364"/>
            </a:avLst>
          </a:prstGeom>
          <a:solidFill>
            <a:srgbClr val="FFFFFF"/>
          </a:solidFill>
          <a:ln w="12700">
            <a:solidFill>
              <a:srgbClr val="FFFFFF"/>
            </a:solidFill>
            <a:prstDash val="solid"/>
          </a:ln>
        </p:spPr>
      </p:sp>
      <p:sp>
        <p:nvSpPr>
          <p:cNvPr id="34" name="Shape 32"/>
          <p:cNvSpPr/>
          <p:nvPr/>
        </p:nvSpPr>
        <p:spPr>
          <a:xfrm>
            <a:off x="8503920" y="3648456"/>
            <a:ext cx="594360" cy="347472"/>
          </a:xfrm>
          <a:prstGeom prst="roundRect">
            <a:avLst>
              <a:gd name="adj" fmla="val 39474"/>
            </a:avLst>
          </a:prstGeom>
          <a:solidFill>
            <a:srgbClr val="E76C60"/>
          </a:solidFill>
          <a:ln w="12700">
            <a:solidFill>
              <a:srgbClr val="E76C60"/>
            </a:solidFill>
            <a:prstDash val="solid"/>
          </a:ln>
        </p:spPr>
      </p:sp>
      <p:sp>
        <p:nvSpPr>
          <p:cNvPr id="35" name="Text 33"/>
          <p:cNvSpPr/>
          <p:nvPr/>
        </p:nvSpPr>
        <p:spPr>
          <a:xfrm>
            <a:off x="8613648" y="3666744"/>
            <a:ext cx="374904"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06</a:t>
            </a:r>
            <a:endParaRPr lang="en-US" sz="1000" dirty="0"/>
          </a:p>
        </p:txBody>
      </p:sp>
      <p:sp>
        <p:nvSpPr>
          <p:cNvPr id="36" name="Text 34"/>
          <p:cNvSpPr/>
          <p:nvPr/>
        </p:nvSpPr>
        <p:spPr>
          <a:xfrm>
            <a:off x="9198864" y="3694176"/>
            <a:ext cx="2423160" cy="365760"/>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Validate + act</a:t>
            </a:r>
            <a:endParaRPr lang="en-US" sz="1700" dirty="0"/>
          </a:p>
        </p:txBody>
      </p:sp>
      <p:sp>
        <p:nvSpPr>
          <p:cNvPr id="37" name="Shape 35"/>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38" name="Text 36"/>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Scale distance-based features; avoid ID leakage; interpret groups with domain experts.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CLUSTERING</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Five major clustering families</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Different assumptions lead to different shapes, outputs and trade-offs.</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05</a:t>
            </a:r>
            <a:endParaRPr lang="en-US" sz="900" dirty="0"/>
          </a:p>
        </p:txBody>
      </p:sp>
      <p:sp>
        <p:nvSpPr>
          <p:cNvPr id="9" name="Shape 7"/>
          <p:cNvSpPr/>
          <p:nvPr/>
        </p:nvSpPr>
        <p:spPr>
          <a:xfrm>
            <a:off x="685800" y="1746504"/>
            <a:ext cx="3566160" cy="1627632"/>
          </a:xfrm>
          <a:prstGeom prst="roundRect">
            <a:avLst>
              <a:gd name="adj" fmla="val 8427"/>
            </a:avLst>
          </a:prstGeom>
          <a:solidFill>
            <a:srgbClr val="FFFFFF"/>
          </a:solidFill>
          <a:ln w="12700">
            <a:solidFill>
              <a:srgbClr val="FFFFFF"/>
            </a:solidFill>
            <a:prstDash val="solid"/>
          </a:ln>
        </p:spPr>
      </p:sp>
      <p:sp>
        <p:nvSpPr>
          <p:cNvPr id="10" name="Shape 8"/>
          <p:cNvSpPr/>
          <p:nvPr/>
        </p:nvSpPr>
        <p:spPr>
          <a:xfrm>
            <a:off x="685800" y="1746504"/>
            <a:ext cx="59436" cy="1627632"/>
          </a:xfrm>
          <a:prstGeom prst="rect">
            <a:avLst/>
          </a:prstGeom>
          <a:solidFill>
            <a:srgbClr val="087F8C"/>
          </a:solidFill>
          <a:ln w="12700">
            <a:solidFill>
              <a:srgbClr val="087F8C"/>
            </a:solidFill>
            <a:prstDash val="solid"/>
          </a:ln>
        </p:spPr>
      </p:sp>
      <p:sp>
        <p:nvSpPr>
          <p:cNvPr id="11" name="Text 9"/>
          <p:cNvSpPr/>
          <p:nvPr/>
        </p:nvSpPr>
        <p:spPr>
          <a:xfrm>
            <a:off x="886968" y="1911096"/>
            <a:ext cx="3200400"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Partitioning</a:t>
            </a:r>
            <a:endParaRPr lang="en-US" sz="1700" dirty="0"/>
          </a:p>
        </p:txBody>
      </p:sp>
      <p:sp>
        <p:nvSpPr>
          <p:cNvPr id="12" name="Text 10"/>
          <p:cNvSpPr/>
          <p:nvPr/>
        </p:nvSpPr>
        <p:spPr>
          <a:xfrm>
            <a:off x="886968" y="2432304"/>
            <a:ext cx="3154680" cy="850392"/>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K-Means, K-Medoids</a:t>
            </a: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Prototype-centred</a:t>
            </a:r>
            <a:endParaRPr lang="en-US" sz="1200" dirty="0"/>
          </a:p>
        </p:txBody>
      </p:sp>
      <p:sp>
        <p:nvSpPr>
          <p:cNvPr id="13" name="Shape 11"/>
          <p:cNvSpPr/>
          <p:nvPr/>
        </p:nvSpPr>
        <p:spPr>
          <a:xfrm>
            <a:off x="4507992" y="1746504"/>
            <a:ext cx="3566160" cy="1627632"/>
          </a:xfrm>
          <a:prstGeom prst="roundRect">
            <a:avLst>
              <a:gd name="adj" fmla="val 8427"/>
            </a:avLst>
          </a:prstGeom>
          <a:solidFill>
            <a:srgbClr val="FFFFFF"/>
          </a:solidFill>
          <a:ln w="12700">
            <a:solidFill>
              <a:srgbClr val="FFFFFF"/>
            </a:solidFill>
            <a:prstDash val="solid"/>
          </a:ln>
        </p:spPr>
      </p:sp>
      <p:sp>
        <p:nvSpPr>
          <p:cNvPr id="14" name="Shape 12"/>
          <p:cNvSpPr/>
          <p:nvPr/>
        </p:nvSpPr>
        <p:spPr>
          <a:xfrm>
            <a:off x="4507992" y="1746504"/>
            <a:ext cx="59436" cy="1627632"/>
          </a:xfrm>
          <a:prstGeom prst="rect">
            <a:avLst/>
          </a:prstGeom>
          <a:solidFill>
            <a:srgbClr val="5169D8"/>
          </a:solidFill>
          <a:ln w="12700">
            <a:solidFill>
              <a:srgbClr val="5169D8"/>
            </a:solidFill>
            <a:prstDash val="solid"/>
          </a:ln>
        </p:spPr>
      </p:sp>
      <p:sp>
        <p:nvSpPr>
          <p:cNvPr id="15" name="Text 13"/>
          <p:cNvSpPr/>
          <p:nvPr/>
        </p:nvSpPr>
        <p:spPr>
          <a:xfrm>
            <a:off x="4709160" y="1911096"/>
            <a:ext cx="3200400"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Hierarchical</a:t>
            </a:r>
            <a:endParaRPr lang="en-US" sz="1700" dirty="0"/>
          </a:p>
        </p:txBody>
      </p:sp>
      <p:sp>
        <p:nvSpPr>
          <p:cNvPr id="16" name="Text 14"/>
          <p:cNvSpPr/>
          <p:nvPr/>
        </p:nvSpPr>
        <p:spPr>
          <a:xfrm>
            <a:off x="4709160" y="2432304"/>
            <a:ext cx="3154680" cy="850392"/>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Agglomerative, divisive</a:t>
            </a: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Nested groups</a:t>
            </a:r>
            <a:endParaRPr lang="en-US" sz="1200" dirty="0"/>
          </a:p>
        </p:txBody>
      </p:sp>
      <p:sp>
        <p:nvSpPr>
          <p:cNvPr id="17" name="Shape 15"/>
          <p:cNvSpPr/>
          <p:nvPr/>
        </p:nvSpPr>
        <p:spPr>
          <a:xfrm>
            <a:off x="8330184" y="1746504"/>
            <a:ext cx="3566160" cy="1627632"/>
          </a:xfrm>
          <a:prstGeom prst="roundRect">
            <a:avLst>
              <a:gd name="adj" fmla="val 8427"/>
            </a:avLst>
          </a:prstGeom>
          <a:solidFill>
            <a:srgbClr val="FFFFFF"/>
          </a:solidFill>
          <a:ln w="12700">
            <a:solidFill>
              <a:srgbClr val="FFFFFF"/>
            </a:solidFill>
            <a:prstDash val="solid"/>
          </a:ln>
        </p:spPr>
      </p:sp>
      <p:sp>
        <p:nvSpPr>
          <p:cNvPr id="18" name="Shape 16"/>
          <p:cNvSpPr/>
          <p:nvPr/>
        </p:nvSpPr>
        <p:spPr>
          <a:xfrm>
            <a:off x="8330184" y="1746504"/>
            <a:ext cx="59436" cy="1627632"/>
          </a:xfrm>
          <a:prstGeom prst="rect">
            <a:avLst/>
          </a:prstGeom>
          <a:solidFill>
            <a:srgbClr val="E76C60"/>
          </a:solidFill>
          <a:ln w="12700">
            <a:solidFill>
              <a:srgbClr val="E76C60"/>
            </a:solidFill>
            <a:prstDash val="solid"/>
          </a:ln>
        </p:spPr>
      </p:sp>
      <p:sp>
        <p:nvSpPr>
          <p:cNvPr id="19" name="Text 17"/>
          <p:cNvSpPr/>
          <p:nvPr/>
        </p:nvSpPr>
        <p:spPr>
          <a:xfrm>
            <a:off x="8531352" y="1911096"/>
            <a:ext cx="3200400"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Density-based</a:t>
            </a:r>
            <a:endParaRPr lang="en-US" sz="1700" dirty="0"/>
          </a:p>
        </p:txBody>
      </p:sp>
      <p:sp>
        <p:nvSpPr>
          <p:cNvPr id="20" name="Text 18"/>
          <p:cNvSpPr/>
          <p:nvPr/>
        </p:nvSpPr>
        <p:spPr>
          <a:xfrm>
            <a:off x="8531352" y="2432304"/>
            <a:ext cx="3154680" cy="850392"/>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DBSCAN, OPTICS, HDBSCAN</a:t>
            </a: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Dense regions + noise</a:t>
            </a:r>
            <a:endParaRPr lang="en-US" sz="1200" dirty="0"/>
          </a:p>
        </p:txBody>
      </p:sp>
      <p:sp>
        <p:nvSpPr>
          <p:cNvPr id="21" name="Shape 19"/>
          <p:cNvSpPr/>
          <p:nvPr/>
        </p:nvSpPr>
        <p:spPr>
          <a:xfrm>
            <a:off x="685800" y="3621024"/>
            <a:ext cx="3566160" cy="1627632"/>
          </a:xfrm>
          <a:prstGeom prst="roundRect">
            <a:avLst>
              <a:gd name="adj" fmla="val 8427"/>
            </a:avLst>
          </a:prstGeom>
          <a:solidFill>
            <a:srgbClr val="FFFFFF"/>
          </a:solidFill>
          <a:ln w="12700">
            <a:solidFill>
              <a:srgbClr val="FFFFFF"/>
            </a:solidFill>
            <a:prstDash val="solid"/>
          </a:ln>
        </p:spPr>
      </p:sp>
      <p:sp>
        <p:nvSpPr>
          <p:cNvPr id="22" name="Shape 20"/>
          <p:cNvSpPr/>
          <p:nvPr/>
        </p:nvSpPr>
        <p:spPr>
          <a:xfrm>
            <a:off x="685800" y="3621024"/>
            <a:ext cx="59436" cy="1627632"/>
          </a:xfrm>
          <a:prstGeom prst="rect">
            <a:avLst/>
          </a:prstGeom>
          <a:solidFill>
            <a:srgbClr val="D99B35"/>
          </a:solidFill>
          <a:ln w="12700">
            <a:solidFill>
              <a:srgbClr val="D99B35"/>
            </a:solidFill>
            <a:prstDash val="solid"/>
          </a:ln>
        </p:spPr>
      </p:sp>
      <p:sp>
        <p:nvSpPr>
          <p:cNvPr id="23" name="Text 21"/>
          <p:cNvSpPr/>
          <p:nvPr/>
        </p:nvSpPr>
        <p:spPr>
          <a:xfrm>
            <a:off x="886968" y="3785616"/>
            <a:ext cx="3200400"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Grid-based</a:t>
            </a:r>
            <a:endParaRPr lang="en-US" sz="1700" dirty="0"/>
          </a:p>
        </p:txBody>
      </p:sp>
      <p:sp>
        <p:nvSpPr>
          <p:cNvPr id="24" name="Text 22"/>
          <p:cNvSpPr/>
          <p:nvPr/>
        </p:nvSpPr>
        <p:spPr>
          <a:xfrm>
            <a:off x="886968" y="4306824"/>
            <a:ext cx="3154680" cy="850392"/>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STING, CLIQUE, WaveCluster</a:t>
            </a: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Spatial cells</a:t>
            </a:r>
            <a:endParaRPr lang="en-US" sz="1200" dirty="0"/>
          </a:p>
        </p:txBody>
      </p:sp>
      <p:sp>
        <p:nvSpPr>
          <p:cNvPr id="25" name="Shape 23"/>
          <p:cNvSpPr/>
          <p:nvPr/>
        </p:nvSpPr>
        <p:spPr>
          <a:xfrm>
            <a:off x="4507992" y="3621024"/>
            <a:ext cx="3566160" cy="1627632"/>
          </a:xfrm>
          <a:prstGeom prst="roundRect">
            <a:avLst>
              <a:gd name="adj" fmla="val 8427"/>
            </a:avLst>
          </a:prstGeom>
          <a:solidFill>
            <a:srgbClr val="FFFFFF"/>
          </a:solidFill>
          <a:ln w="12700">
            <a:solidFill>
              <a:srgbClr val="FFFFFF"/>
            </a:solidFill>
            <a:prstDash val="solid"/>
          </a:ln>
        </p:spPr>
      </p:sp>
      <p:sp>
        <p:nvSpPr>
          <p:cNvPr id="26" name="Shape 24"/>
          <p:cNvSpPr/>
          <p:nvPr/>
        </p:nvSpPr>
        <p:spPr>
          <a:xfrm>
            <a:off x="4507992" y="3621024"/>
            <a:ext cx="59436" cy="1627632"/>
          </a:xfrm>
          <a:prstGeom prst="rect">
            <a:avLst/>
          </a:prstGeom>
          <a:solidFill>
            <a:srgbClr val="087F8C"/>
          </a:solidFill>
          <a:ln w="12700">
            <a:solidFill>
              <a:srgbClr val="087F8C"/>
            </a:solidFill>
            <a:prstDash val="solid"/>
          </a:ln>
        </p:spPr>
      </p:sp>
      <p:sp>
        <p:nvSpPr>
          <p:cNvPr id="27" name="Text 25"/>
          <p:cNvSpPr/>
          <p:nvPr/>
        </p:nvSpPr>
        <p:spPr>
          <a:xfrm>
            <a:off x="4709160" y="3785616"/>
            <a:ext cx="3200400"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Model-based</a:t>
            </a:r>
            <a:endParaRPr lang="en-US" sz="1700" dirty="0"/>
          </a:p>
        </p:txBody>
      </p:sp>
      <p:sp>
        <p:nvSpPr>
          <p:cNvPr id="28" name="Text 26"/>
          <p:cNvSpPr/>
          <p:nvPr/>
        </p:nvSpPr>
        <p:spPr>
          <a:xfrm>
            <a:off x="4709160" y="4306824"/>
            <a:ext cx="3154680" cy="850392"/>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Gaussian Mixture Models</a:t>
            </a: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Probabilistic memberships</a:t>
            </a:r>
            <a:endParaRPr lang="en-US" sz="1200" dirty="0"/>
          </a:p>
        </p:txBody>
      </p:sp>
      <p:sp>
        <p:nvSpPr>
          <p:cNvPr id="29" name="Shape 27"/>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30" name="Text 28"/>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Choose a method based on cluster geometry, scale, outliers and interpretability.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CLUSTERING</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K-Means: assign → update → repeat</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Minimizes within-cluster squared distance to centroids.</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06</a:t>
            </a:r>
            <a:endParaRPr lang="en-US" sz="900" dirty="0"/>
          </a:p>
        </p:txBody>
      </p:sp>
      <p:pic>
        <p:nvPicPr>
          <p:cNvPr id="9" name="Image 0" descr="/mnt/data/unsup_rebuild_v3/assets/kmeans.png">    </p:cNvPr>
          <p:cNvPicPr>
            <a:picLocks noChangeAspect="1"/>
          </p:cNvPicPr>
          <p:nvPr/>
        </p:nvPicPr>
        <p:blipFill>
          <a:blip r:embed="rId1"/>
          <a:stretch>
            <a:fillRect/>
          </a:stretch>
        </p:blipFill>
        <p:spPr>
          <a:xfrm>
            <a:off x="640080" y="1600200"/>
            <a:ext cx="6537960" cy="4133088"/>
          </a:xfrm>
          <a:prstGeom prst="rect">
            <a:avLst/>
          </a:prstGeom>
        </p:spPr>
      </p:pic>
      <p:sp>
        <p:nvSpPr>
          <p:cNvPr id="10" name="Shape 7"/>
          <p:cNvSpPr/>
          <p:nvPr/>
        </p:nvSpPr>
        <p:spPr>
          <a:xfrm>
            <a:off x="7360920" y="1682496"/>
            <a:ext cx="4114800" cy="3044952"/>
          </a:xfrm>
          <a:prstGeom prst="roundRect">
            <a:avLst>
              <a:gd name="adj" fmla="val 4505"/>
            </a:avLst>
          </a:prstGeom>
          <a:solidFill>
            <a:srgbClr val="FFFFFF"/>
          </a:solidFill>
          <a:ln w="12700">
            <a:solidFill>
              <a:srgbClr val="FFFFFF"/>
            </a:solidFill>
            <a:prstDash val="solid"/>
          </a:ln>
        </p:spPr>
      </p:sp>
      <p:sp>
        <p:nvSpPr>
          <p:cNvPr id="11" name="Shape 8"/>
          <p:cNvSpPr/>
          <p:nvPr/>
        </p:nvSpPr>
        <p:spPr>
          <a:xfrm>
            <a:off x="7360920" y="1682496"/>
            <a:ext cx="59436" cy="3044952"/>
          </a:xfrm>
          <a:prstGeom prst="rect">
            <a:avLst/>
          </a:prstGeom>
          <a:solidFill>
            <a:srgbClr val="087F8C"/>
          </a:solidFill>
          <a:ln w="12700">
            <a:solidFill>
              <a:srgbClr val="087F8C"/>
            </a:solidFill>
            <a:prstDash val="solid"/>
          </a:ln>
        </p:spPr>
      </p:sp>
      <p:sp>
        <p:nvSpPr>
          <p:cNvPr id="12" name="Text 9"/>
          <p:cNvSpPr/>
          <p:nvPr/>
        </p:nvSpPr>
        <p:spPr>
          <a:xfrm>
            <a:off x="7562088" y="1847088"/>
            <a:ext cx="3749040"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OBJECTIVE</a:t>
            </a:r>
            <a:endParaRPr lang="en-US" sz="1700" dirty="0"/>
          </a:p>
        </p:txBody>
      </p:sp>
      <p:sp>
        <p:nvSpPr>
          <p:cNvPr id="13" name="Text 10"/>
          <p:cNvSpPr/>
          <p:nvPr/>
        </p:nvSpPr>
        <p:spPr>
          <a:xfrm>
            <a:off x="7562088" y="2368296"/>
            <a:ext cx="3703320" cy="2267712"/>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J = Σₖ Σₓ∈Cₖ ||x − μₖ||²</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μₖ = mean of points in Cₖ</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Centroids move until assignments stabilize.</a:t>
            </a:r>
            <a:endParaRPr lang="en-US" sz="1200" dirty="0"/>
          </a:p>
        </p:txBody>
      </p:sp>
      <p:sp>
        <p:nvSpPr>
          <p:cNvPr id="14" name="Shape 11"/>
          <p:cNvSpPr/>
          <p:nvPr/>
        </p:nvSpPr>
        <p:spPr>
          <a:xfrm>
            <a:off x="7424928" y="4965192"/>
            <a:ext cx="2240280" cy="347472"/>
          </a:xfrm>
          <a:prstGeom prst="roundRect">
            <a:avLst>
              <a:gd name="adj" fmla="val 39474"/>
            </a:avLst>
          </a:prstGeom>
          <a:solidFill>
            <a:srgbClr val="5169D8"/>
          </a:solidFill>
          <a:ln w="12700">
            <a:solidFill>
              <a:srgbClr val="5169D8"/>
            </a:solidFill>
            <a:prstDash val="solid"/>
          </a:ln>
        </p:spPr>
      </p:sp>
      <p:sp>
        <p:nvSpPr>
          <p:cNvPr id="15" name="Text 12"/>
          <p:cNvSpPr/>
          <p:nvPr/>
        </p:nvSpPr>
        <p:spPr>
          <a:xfrm>
            <a:off x="7534656" y="4983480"/>
            <a:ext cx="2020824"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HARD MEMBERSHIP</a:t>
            </a:r>
            <a:endParaRPr lang="en-US" sz="1000" dirty="0"/>
          </a:p>
        </p:txBody>
      </p:sp>
      <p:sp>
        <p:nvSpPr>
          <p:cNvPr id="16" name="Shape 13"/>
          <p:cNvSpPr/>
          <p:nvPr/>
        </p:nvSpPr>
        <p:spPr>
          <a:xfrm>
            <a:off x="9774936" y="4965192"/>
            <a:ext cx="1691640" cy="347472"/>
          </a:xfrm>
          <a:prstGeom prst="roundRect">
            <a:avLst>
              <a:gd name="adj" fmla="val 39474"/>
            </a:avLst>
          </a:prstGeom>
          <a:solidFill>
            <a:srgbClr val="087F8C"/>
          </a:solidFill>
          <a:ln w="12700">
            <a:solidFill>
              <a:srgbClr val="087F8C"/>
            </a:solidFill>
            <a:prstDash val="solid"/>
          </a:ln>
        </p:spPr>
      </p:sp>
      <p:sp>
        <p:nvSpPr>
          <p:cNvPr id="17" name="Text 14"/>
          <p:cNvSpPr/>
          <p:nvPr/>
        </p:nvSpPr>
        <p:spPr>
          <a:xfrm>
            <a:off x="9884664" y="4983480"/>
            <a:ext cx="1472184"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EUCLIDEAN GEOMETRY</a:t>
            </a:r>
            <a:endParaRPr lang="en-US" sz="1000" dirty="0"/>
          </a:p>
        </p:txBody>
      </p:sp>
      <p:sp>
        <p:nvSpPr>
          <p:cNvPr id="18" name="Shape 15"/>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9" name="Text 16"/>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K-Means is efficient, but sensitive to initialization, scaling and non-spherical clusters.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CLUSTERING</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Choosing K: elbow + silhouette</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Neither chart is a universal truth; both are diagnostics.</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07</a:t>
            </a:r>
            <a:endParaRPr lang="en-US" sz="900" dirty="0"/>
          </a:p>
        </p:txBody>
      </p:sp>
      <p:pic>
        <p:nvPicPr>
          <p:cNvPr id="9" name="Image 0" descr="/mnt/data/unsup_rebuild_v3/assets/elbow.png">    </p:cNvPr>
          <p:cNvPicPr>
            <a:picLocks noChangeAspect="1"/>
          </p:cNvPicPr>
          <p:nvPr/>
        </p:nvPicPr>
        <p:blipFill>
          <a:blip r:embed="rId1"/>
          <a:stretch>
            <a:fillRect/>
          </a:stretch>
        </p:blipFill>
        <p:spPr>
          <a:xfrm>
            <a:off x="585216" y="1627632"/>
            <a:ext cx="5458968" cy="3950208"/>
          </a:xfrm>
          <a:prstGeom prst="rect">
            <a:avLst/>
          </a:prstGeom>
        </p:spPr>
      </p:pic>
      <p:pic>
        <p:nvPicPr>
          <p:cNvPr id="10" name="Image 1" descr="/mnt/data/unsup_rebuild_v3/assets/silhouette.png">    </p:cNvPr>
          <p:cNvPicPr>
            <a:picLocks noChangeAspect="1"/>
          </p:cNvPicPr>
          <p:nvPr/>
        </p:nvPicPr>
        <p:blipFill>
          <a:blip r:embed="rId2"/>
          <a:stretch>
            <a:fillRect/>
          </a:stretch>
        </p:blipFill>
        <p:spPr>
          <a:xfrm>
            <a:off x="6181344" y="1627632"/>
            <a:ext cx="5404104" cy="3950208"/>
          </a:xfrm>
          <a:prstGeom prst="rect">
            <a:avLst/>
          </a:prstGeom>
        </p:spPr>
      </p:pic>
      <p:sp>
        <p:nvSpPr>
          <p:cNvPr id="11" name="Shape 7"/>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2" name="Text 8"/>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Combine quantitative scores, cluster stability and business interpretability.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CLUSTERING</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Hierarchical: merge, split, inspect</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A dendrogram represents a hierarchy—not necessarily one correct K.</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08</a:t>
            </a:r>
            <a:endParaRPr lang="en-US" sz="900" dirty="0"/>
          </a:p>
        </p:txBody>
      </p:sp>
      <p:pic>
        <p:nvPicPr>
          <p:cNvPr id="9" name="Image 0" descr="/mnt/data/unsup_rebuild_v3/assets/dendrogram.png">    </p:cNvPr>
          <p:cNvPicPr>
            <a:picLocks noChangeAspect="1"/>
          </p:cNvPicPr>
          <p:nvPr/>
        </p:nvPicPr>
        <p:blipFill>
          <a:blip r:embed="rId1"/>
          <a:stretch>
            <a:fillRect/>
          </a:stretch>
        </p:blipFill>
        <p:spPr>
          <a:xfrm>
            <a:off x="685800" y="1673352"/>
            <a:ext cx="6675120" cy="4005072"/>
          </a:xfrm>
          <a:prstGeom prst="rect">
            <a:avLst/>
          </a:prstGeom>
        </p:spPr>
      </p:pic>
      <p:sp>
        <p:nvSpPr>
          <p:cNvPr id="10" name="Shape 7"/>
          <p:cNvSpPr/>
          <p:nvPr/>
        </p:nvSpPr>
        <p:spPr>
          <a:xfrm>
            <a:off x="7571232" y="1773936"/>
            <a:ext cx="3822192" cy="3063240"/>
          </a:xfrm>
          <a:prstGeom prst="roundRect">
            <a:avLst>
              <a:gd name="adj" fmla="val 4478"/>
            </a:avLst>
          </a:prstGeom>
          <a:solidFill>
            <a:srgbClr val="FFFFFF"/>
          </a:solidFill>
          <a:ln w="12700">
            <a:solidFill>
              <a:srgbClr val="FFFFFF"/>
            </a:solidFill>
            <a:prstDash val="solid"/>
          </a:ln>
        </p:spPr>
      </p:sp>
      <p:sp>
        <p:nvSpPr>
          <p:cNvPr id="11" name="Shape 8"/>
          <p:cNvSpPr/>
          <p:nvPr/>
        </p:nvSpPr>
        <p:spPr>
          <a:xfrm>
            <a:off x="7571232" y="1773936"/>
            <a:ext cx="59436" cy="3063240"/>
          </a:xfrm>
          <a:prstGeom prst="rect">
            <a:avLst/>
          </a:prstGeom>
          <a:solidFill>
            <a:srgbClr val="5169D8"/>
          </a:solidFill>
          <a:ln w="12700">
            <a:solidFill>
              <a:srgbClr val="5169D8"/>
            </a:solidFill>
            <a:prstDash val="solid"/>
          </a:ln>
        </p:spPr>
      </p:sp>
      <p:sp>
        <p:nvSpPr>
          <p:cNvPr id="12" name="Text 9"/>
          <p:cNvSpPr/>
          <p:nvPr/>
        </p:nvSpPr>
        <p:spPr>
          <a:xfrm>
            <a:off x="7772400" y="1938528"/>
            <a:ext cx="3456432"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TWO DIRECTIONS</a:t>
            </a:r>
            <a:endParaRPr lang="en-US" sz="1700" dirty="0"/>
          </a:p>
        </p:txBody>
      </p:sp>
      <p:sp>
        <p:nvSpPr>
          <p:cNvPr id="13" name="Text 10"/>
          <p:cNvSpPr/>
          <p:nvPr/>
        </p:nvSpPr>
        <p:spPr>
          <a:xfrm>
            <a:off x="7772400" y="2459736"/>
            <a:ext cx="3410712" cy="228600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Agglomerative: bottom-up merges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Divisive: top-down splits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Linkage: single, complete, average, Ward</a:t>
            </a:r>
            <a:endParaRPr lang="en-US" sz="1200" dirty="0"/>
          </a:p>
        </p:txBody>
      </p:sp>
      <p:sp>
        <p:nvSpPr>
          <p:cNvPr id="14" name="Shape 11"/>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5" name="Text 12"/>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A horizontal cut produces a partition at one chosen granularity.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CLUSTERING</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DBSCAN: density determines clusters</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Dense chains form groups; sparse observations become noise.</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09</a:t>
            </a:r>
            <a:endParaRPr lang="en-US" sz="900" dirty="0"/>
          </a:p>
        </p:txBody>
      </p:sp>
      <p:pic>
        <p:nvPicPr>
          <p:cNvPr id="9" name="Image 0" descr="/mnt/data/unsup_rebuild_v3/assets/dbscan.png">    </p:cNvPr>
          <p:cNvPicPr>
            <a:picLocks noChangeAspect="1"/>
          </p:cNvPicPr>
          <p:nvPr/>
        </p:nvPicPr>
        <p:blipFill>
          <a:blip r:embed="rId1"/>
          <a:stretch>
            <a:fillRect/>
          </a:stretch>
        </p:blipFill>
        <p:spPr>
          <a:xfrm>
            <a:off x="640080" y="1618488"/>
            <a:ext cx="6492240" cy="4133088"/>
          </a:xfrm>
          <a:prstGeom prst="rect">
            <a:avLst/>
          </a:prstGeom>
        </p:spPr>
      </p:pic>
      <p:sp>
        <p:nvSpPr>
          <p:cNvPr id="10" name="Shape 7"/>
          <p:cNvSpPr/>
          <p:nvPr/>
        </p:nvSpPr>
        <p:spPr>
          <a:xfrm>
            <a:off x="7351776" y="1737360"/>
            <a:ext cx="4105656" cy="3337560"/>
          </a:xfrm>
          <a:prstGeom prst="roundRect">
            <a:avLst>
              <a:gd name="adj" fmla="val 4110"/>
            </a:avLst>
          </a:prstGeom>
          <a:solidFill>
            <a:srgbClr val="FFFFFF"/>
          </a:solidFill>
          <a:ln w="12700">
            <a:solidFill>
              <a:srgbClr val="FFFFFF"/>
            </a:solidFill>
            <a:prstDash val="solid"/>
          </a:ln>
        </p:spPr>
      </p:sp>
      <p:sp>
        <p:nvSpPr>
          <p:cNvPr id="11" name="Shape 8"/>
          <p:cNvSpPr/>
          <p:nvPr/>
        </p:nvSpPr>
        <p:spPr>
          <a:xfrm>
            <a:off x="7351776" y="1737360"/>
            <a:ext cx="59436" cy="3337560"/>
          </a:xfrm>
          <a:prstGeom prst="rect">
            <a:avLst/>
          </a:prstGeom>
          <a:solidFill>
            <a:srgbClr val="E76C60"/>
          </a:solidFill>
          <a:ln w="12700">
            <a:solidFill>
              <a:srgbClr val="E76C60"/>
            </a:solidFill>
            <a:prstDash val="solid"/>
          </a:ln>
        </p:spPr>
      </p:sp>
      <p:sp>
        <p:nvSpPr>
          <p:cNvPr id="12" name="Text 9"/>
          <p:cNvSpPr/>
          <p:nvPr/>
        </p:nvSpPr>
        <p:spPr>
          <a:xfrm>
            <a:off x="7552944" y="1901952"/>
            <a:ext cx="3739896"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TWO PARAMETERS</a:t>
            </a:r>
            <a:endParaRPr lang="en-US" sz="1700" dirty="0"/>
          </a:p>
        </p:txBody>
      </p:sp>
      <p:sp>
        <p:nvSpPr>
          <p:cNvPr id="13" name="Text 10"/>
          <p:cNvSpPr/>
          <p:nvPr/>
        </p:nvSpPr>
        <p:spPr>
          <a:xfrm>
            <a:off x="7552944" y="2423160"/>
            <a:ext cx="3694176" cy="256032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eps — neighborhood radius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min_samples — density threshold</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Core • border • noise</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No need to provide number of clusters</a:t>
            </a:r>
            <a:endParaRPr lang="en-US" sz="1200" dirty="0"/>
          </a:p>
        </p:txBody>
      </p:sp>
      <p:sp>
        <p:nvSpPr>
          <p:cNvPr id="14" name="Shape 11"/>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5" name="Text 12"/>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Good for irregular shapes; sensitive to density variation and feature scale.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CLUSTERING</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Grid-based clustering: partition space first</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A data-space grid enables fast region-level reasoning.</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10</a:t>
            </a:r>
            <a:endParaRPr lang="en-US" sz="900" dirty="0"/>
          </a:p>
        </p:txBody>
      </p:sp>
      <p:pic>
        <p:nvPicPr>
          <p:cNvPr id="9" name="Image 0" descr="/mnt/data/unsup_rebuild_v3/assets/grid.png">    </p:cNvPr>
          <p:cNvPicPr>
            <a:picLocks noChangeAspect="1"/>
          </p:cNvPicPr>
          <p:nvPr/>
        </p:nvPicPr>
        <p:blipFill>
          <a:blip r:embed="rId1"/>
          <a:stretch>
            <a:fillRect/>
          </a:stretch>
        </p:blipFill>
        <p:spPr>
          <a:xfrm>
            <a:off x="658368" y="1600200"/>
            <a:ext cx="6419088" cy="4133088"/>
          </a:xfrm>
          <a:prstGeom prst="rect">
            <a:avLst/>
          </a:prstGeom>
        </p:spPr>
      </p:pic>
      <p:sp>
        <p:nvSpPr>
          <p:cNvPr id="10" name="Shape 7"/>
          <p:cNvSpPr/>
          <p:nvPr/>
        </p:nvSpPr>
        <p:spPr>
          <a:xfrm>
            <a:off x="7296912" y="1737360"/>
            <a:ext cx="4178808" cy="3346704"/>
          </a:xfrm>
          <a:prstGeom prst="roundRect">
            <a:avLst>
              <a:gd name="adj" fmla="val 4098"/>
            </a:avLst>
          </a:prstGeom>
          <a:solidFill>
            <a:srgbClr val="FFFFFF"/>
          </a:solidFill>
          <a:ln w="12700">
            <a:solidFill>
              <a:srgbClr val="FFFFFF"/>
            </a:solidFill>
            <a:prstDash val="solid"/>
          </a:ln>
        </p:spPr>
      </p:sp>
      <p:sp>
        <p:nvSpPr>
          <p:cNvPr id="11" name="Shape 8"/>
          <p:cNvSpPr/>
          <p:nvPr/>
        </p:nvSpPr>
        <p:spPr>
          <a:xfrm>
            <a:off x="7296912" y="1737360"/>
            <a:ext cx="59436" cy="3346704"/>
          </a:xfrm>
          <a:prstGeom prst="rect">
            <a:avLst/>
          </a:prstGeom>
          <a:solidFill>
            <a:srgbClr val="D99B35"/>
          </a:solidFill>
          <a:ln w="12700">
            <a:solidFill>
              <a:srgbClr val="D99B35"/>
            </a:solidFill>
            <a:prstDash val="solid"/>
          </a:ln>
        </p:spPr>
      </p:sp>
      <p:sp>
        <p:nvSpPr>
          <p:cNvPr id="12" name="Text 9"/>
          <p:cNvSpPr/>
          <p:nvPr/>
        </p:nvSpPr>
        <p:spPr>
          <a:xfrm>
            <a:off x="7498080" y="1901952"/>
            <a:ext cx="3813048"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DENSITY ON CELLS</a:t>
            </a:r>
            <a:endParaRPr lang="en-US" sz="1700" dirty="0"/>
          </a:p>
        </p:txBody>
      </p:sp>
      <p:sp>
        <p:nvSpPr>
          <p:cNvPr id="13" name="Text 10"/>
          <p:cNvSpPr/>
          <p:nvPr/>
        </p:nvSpPr>
        <p:spPr>
          <a:xfrm>
            <a:off x="7498080" y="2423160"/>
            <a:ext cx="3767328" cy="2569464"/>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1. Divide feature space into cells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2. Estimate occupancy or density</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3. Merge neighboring dense cells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Examples: STING, CLIQUE, WaveCluster</a:t>
            </a:r>
            <a:endParaRPr lang="en-US" sz="1200" dirty="0"/>
          </a:p>
        </p:txBody>
      </p:sp>
      <p:sp>
        <p:nvSpPr>
          <p:cNvPr id="14" name="Shape 11"/>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5" name="Text 12"/>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Grid resolution matters; the classic grid view differs from point-neighborhood DBSCAN.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CLUSTERING</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Model-based clustering: soft assignments</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Gaussian mixture models estimate probabilities of belonging to each component.</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11</a:t>
            </a:r>
            <a:endParaRPr lang="en-US" sz="900" dirty="0"/>
          </a:p>
        </p:txBody>
      </p:sp>
      <p:pic>
        <p:nvPicPr>
          <p:cNvPr id="9" name="Image 0" descr="/mnt/data/unsup_rebuild_v3/assets/gmm.png">    </p:cNvPr>
          <p:cNvPicPr>
            <a:picLocks noChangeAspect="1"/>
          </p:cNvPicPr>
          <p:nvPr/>
        </p:nvPicPr>
        <p:blipFill>
          <a:blip r:embed="rId1"/>
          <a:stretch>
            <a:fillRect/>
          </a:stretch>
        </p:blipFill>
        <p:spPr>
          <a:xfrm>
            <a:off x="621792" y="1618488"/>
            <a:ext cx="6556248" cy="4114800"/>
          </a:xfrm>
          <a:prstGeom prst="rect">
            <a:avLst/>
          </a:prstGeom>
        </p:spPr>
      </p:pic>
      <p:sp>
        <p:nvSpPr>
          <p:cNvPr id="10" name="Shape 7"/>
          <p:cNvSpPr/>
          <p:nvPr/>
        </p:nvSpPr>
        <p:spPr>
          <a:xfrm>
            <a:off x="7370064" y="1728216"/>
            <a:ext cx="4114800" cy="3300984"/>
          </a:xfrm>
          <a:prstGeom prst="roundRect">
            <a:avLst>
              <a:gd name="adj" fmla="val 4155"/>
            </a:avLst>
          </a:prstGeom>
          <a:solidFill>
            <a:srgbClr val="FFFFFF"/>
          </a:solidFill>
          <a:ln w="12700">
            <a:solidFill>
              <a:srgbClr val="FFFFFF"/>
            </a:solidFill>
            <a:prstDash val="solid"/>
          </a:ln>
        </p:spPr>
      </p:sp>
      <p:sp>
        <p:nvSpPr>
          <p:cNvPr id="11" name="Shape 8"/>
          <p:cNvSpPr/>
          <p:nvPr/>
        </p:nvSpPr>
        <p:spPr>
          <a:xfrm>
            <a:off x="7370064" y="1728216"/>
            <a:ext cx="59436" cy="3300984"/>
          </a:xfrm>
          <a:prstGeom prst="rect">
            <a:avLst/>
          </a:prstGeom>
          <a:solidFill>
            <a:srgbClr val="5169D8"/>
          </a:solidFill>
          <a:ln w="12700">
            <a:solidFill>
              <a:srgbClr val="5169D8"/>
            </a:solidFill>
            <a:prstDash val="solid"/>
          </a:ln>
        </p:spPr>
      </p:sp>
      <p:sp>
        <p:nvSpPr>
          <p:cNvPr id="12" name="Text 9"/>
          <p:cNvSpPr/>
          <p:nvPr/>
        </p:nvSpPr>
        <p:spPr>
          <a:xfrm>
            <a:off x="7571232" y="1892808"/>
            <a:ext cx="3749040"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GMM / EM</a:t>
            </a:r>
            <a:endParaRPr lang="en-US" sz="1700" dirty="0"/>
          </a:p>
        </p:txBody>
      </p:sp>
      <p:sp>
        <p:nvSpPr>
          <p:cNvPr id="13" name="Text 10"/>
          <p:cNvSpPr/>
          <p:nvPr/>
        </p:nvSpPr>
        <p:spPr>
          <a:xfrm>
            <a:off x="7571232" y="2414016"/>
            <a:ext cx="3703320" cy="2523744"/>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E-step: estimate membership responsibilities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M-step: update distribution parameters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Select complexity using BIC/AIC</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Elliptical overlapping clusters</a:t>
            </a:r>
            <a:endParaRPr lang="en-US" sz="1200" dirty="0"/>
          </a:p>
        </p:txBody>
      </p:sp>
      <p:sp>
        <p:nvSpPr>
          <p:cNvPr id="14" name="Shape 11"/>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5" name="Text 12"/>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Components are statistical distributions; they are not always distinct real-world segments.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CLUSTERING</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Compare clustering families in one view</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The best algorithm depends on the structure being searched for.</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12</a:t>
            </a:r>
            <a:endParaRPr lang="en-US" sz="900" dirty="0"/>
          </a:p>
        </p:txBody>
      </p:sp>
      <p:sp>
        <p:nvSpPr>
          <p:cNvPr id="9" name="Text 7"/>
          <p:cNvSpPr/>
          <p:nvPr/>
        </p:nvSpPr>
        <p:spPr>
          <a:xfrm>
            <a:off x="667512" y="1792224"/>
            <a:ext cx="2606040" cy="365760"/>
          </a:xfrm>
          <a:prstGeom prst="rect">
            <a:avLst/>
          </a:prstGeom>
          <a:noFill/>
          <a:ln/>
        </p:spPr>
        <p:txBody>
          <a:bodyPr wrap="square" lIns="0" tIns="0" rIns="0" bIns="0" rtlCol="0" anchor="ctr">
            <a:normAutofit/>
          </a:bodyPr>
          <a:lstStyle/>
          <a:p>
            <a:pPr indent="0" marL="0">
              <a:buNone/>
            </a:pPr>
            <a:r>
              <a:rPr lang="en-US" sz="1100" b="1" dirty="0">
                <a:solidFill>
                  <a:srgbClr val="087F8C"/>
                </a:solidFill>
                <a:latin typeface="Aptos" pitchFamily="34" charset="0"/>
                <a:ea typeface="Aptos" pitchFamily="34" charset="-122"/>
                <a:cs typeface="Aptos" pitchFamily="34" charset="-120"/>
              </a:rPr>
              <a:t>FAMILY</a:t>
            </a:r>
            <a:endParaRPr lang="en-US" sz="1100" dirty="0"/>
          </a:p>
        </p:txBody>
      </p:sp>
      <p:sp>
        <p:nvSpPr>
          <p:cNvPr id="10" name="Text 8"/>
          <p:cNvSpPr/>
          <p:nvPr/>
        </p:nvSpPr>
        <p:spPr>
          <a:xfrm>
            <a:off x="3291840" y="1792224"/>
            <a:ext cx="2624328" cy="365760"/>
          </a:xfrm>
          <a:prstGeom prst="rect">
            <a:avLst/>
          </a:prstGeom>
          <a:noFill/>
          <a:ln/>
        </p:spPr>
        <p:txBody>
          <a:bodyPr wrap="square" lIns="0" tIns="0" rIns="0" bIns="0" rtlCol="0" anchor="ctr">
            <a:normAutofit/>
          </a:bodyPr>
          <a:lstStyle/>
          <a:p>
            <a:pPr indent="0" marL="0">
              <a:buNone/>
            </a:pPr>
            <a:r>
              <a:rPr lang="en-US" sz="1100" b="1" dirty="0">
                <a:solidFill>
                  <a:srgbClr val="087F8C"/>
                </a:solidFill>
                <a:latin typeface="Aptos" pitchFamily="34" charset="0"/>
                <a:ea typeface="Aptos" pitchFamily="34" charset="-122"/>
                <a:cs typeface="Aptos" pitchFamily="34" charset="-120"/>
              </a:rPr>
              <a:t>STRUCTURE</a:t>
            </a:r>
            <a:endParaRPr lang="en-US" sz="1100" dirty="0"/>
          </a:p>
        </p:txBody>
      </p:sp>
      <p:sp>
        <p:nvSpPr>
          <p:cNvPr id="11" name="Text 9"/>
          <p:cNvSpPr/>
          <p:nvPr/>
        </p:nvSpPr>
        <p:spPr>
          <a:xfrm>
            <a:off x="5971032" y="1792224"/>
            <a:ext cx="2560320" cy="365760"/>
          </a:xfrm>
          <a:prstGeom prst="rect">
            <a:avLst/>
          </a:prstGeom>
          <a:noFill/>
          <a:ln/>
        </p:spPr>
        <p:txBody>
          <a:bodyPr wrap="square" lIns="0" tIns="0" rIns="0" bIns="0" rtlCol="0" anchor="ctr">
            <a:normAutofit/>
          </a:bodyPr>
          <a:lstStyle/>
          <a:p>
            <a:pPr indent="0" marL="0">
              <a:buNone/>
            </a:pPr>
            <a:r>
              <a:rPr lang="en-US" sz="1100" b="1" dirty="0">
                <a:solidFill>
                  <a:srgbClr val="087F8C"/>
                </a:solidFill>
                <a:latin typeface="Aptos" pitchFamily="34" charset="0"/>
                <a:ea typeface="Aptos" pitchFamily="34" charset="-122"/>
                <a:cs typeface="Aptos" pitchFamily="34" charset="-120"/>
              </a:rPr>
              <a:t>KEY CONTROL</a:t>
            </a:r>
            <a:endParaRPr lang="en-US" sz="1100" dirty="0"/>
          </a:p>
        </p:txBody>
      </p:sp>
      <p:sp>
        <p:nvSpPr>
          <p:cNvPr id="12" name="Text 10"/>
          <p:cNvSpPr/>
          <p:nvPr/>
        </p:nvSpPr>
        <p:spPr>
          <a:xfrm>
            <a:off x="8622792" y="1792224"/>
            <a:ext cx="2871216" cy="365760"/>
          </a:xfrm>
          <a:prstGeom prst="rect">
            <a:avLst/>
          </a:prstGeom>
          <a:noFill/>
          <a:ln/>
        </p:spPr>
        <p:txBody>
          <a:bodyPr wrap="square" lIns="0" tIns="0" rIns="0" bIns="0" rtlCol="0" anchor="ctr">
            <a:normAutofit/>
          </a:bodyPr>
          <a:lstStyle/>
          <a:p>
            <a:pPr indent="0" marL="0">
              <a:buNone/>
            </a:pPr>
            <a:r>
              <a:rPr lang="en-US" sz="1100" b="1" dirty="0">
                <a:solidFill>
                  <a:srgbClr val="087F8C"/>
                </a:solidFill>
                <a:latin typeface="Aptos" pitchFamily="34" charset="0"/>
                <a:ea typeface="Aptos" pitchFamily="34" charset="-122"/>
                <a:cs typeface="Aptos" pitchFamily="34" charset="-120"/>
              </a:rPr>
              <a:t>TRADE-OFF</a:t>
            </a:r>
            <a:endParaRPr lang="en-US" sz="1100" dirty="0"/>
          </a:p>
        </p:txBody>
      </p:sp>
      <p:sp>
        <p:nvSpPr>
          <p:cNvPr id="13" name="Shape 11"/>
          <p:cNvSpPr/>
          <p:nvPr/>
        </p:nvSpPr>
        <p:spPr>
          <a:xfrm>
            <a:off x="640080" y="2240280"/>
            <a:ext cx="10927080" cy="576072"/>
          </a:xfrm>
          <a:prstGeom prst="roundRect">
            <a:avLst>
              <a:gd name="adj" fmla="val 23810"/>
            </a:avLst>
          </a:prstGeom>
          <a:solidFill>
            <a:srgbClr val="EDF1F6"/>
          </a:solidFill>
          <a:ln w="12700">
            <a:solidFill>
              <a:srgbClr val="EDF1F6"/>
            </a:solidFill>
            <a:prstDash val="solid"/>
          </a:ln>
        </p:spPr>
      </p:sp>
      <p:sp>
        <p:nvSpPr>
          <p:cNvPr id="14" name="Text 12"/>
          <p:cNvSpPr/>
          <p:nvPr/>
        </p:nvSpPr>
        <p:spPr>
          <a:xfrm>
            <a:off x="667512" y="2313432"/>
            <a:ext cx="2606040" cy="393192"/>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K-Means</a:t>
            </a:r>
            <a:endParaRPr lang="en-US" sz="1200" dirty="0"/>
          </a:p>
        </p:txBody>
      </p:sp>
      <p:sp>
        <p:nvSpPr>
          <p:cNvPr id="15" name="Text 13"/>
          <p:cNvSpPr/>
          <p:nvPr/>
        </p:nvSpPr>
        <p:spPr>
          <a:xfrm>
            <a:off x="3291840" y="2313432"/>
            <a:ext cx="2624328"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Centroid</a:t>
            </a:r>
            <a:endParaRPr lang="en-US" sz="1200" dirty="0"/>
          </a:p>
        </p:txBody>
      </p:sp>
      <p:sp>
        <p:nvSpPr>
          <p:cNvPr id="16" name="Text 14"/>
          <p:cNvSpPr/>
          <p:nvPr/>
        </p:nvSpPr>
        <p:spPr>
          <a:xfrm>
            <a:off x="5971032" y="2313432"/>
            <a:ext cx="2560320"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K required</a:t>
            </a:r>
            <a:endParaRPr lang="en-US" sz="1200" dirty="0"/>
          </a:p>
        </p:txBody>
      </p:sp>
      <p:sp>
        <p:nvSpPr>
          <p:cNvPr id="17" name="Text 15"/>
          <p:cNvSpPr/>
          <p:nvPr/>
        </p:nvSpPr>
        <p:spPr>
          <a:xfrm>
            <a:off x="8622792" y="2313432"/>
            <a:ext cx="2871216"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Fast / scalable</a:t>
            </a:r>
            <a:endParaRPr lang="en-US" sz="1200" dirty="0"/>
          </a:p>
        </p:txBody>
      </p:sp>
      <p:sp>
        <p:nvSpPr>
          <p:cNvPr id="18" name="Shape 16"/>
          <p:cNvSpPr/>
          <p:nvPr/>
        </p:nvSpPr>
        <p:spPr>
          <a:xfrm>
            <a:off x="640080" y="2898648"/>
            <a:ext cx="10927080" cy="576072"/>
          </a:xfrm>
          <a:prstGeom prst="roundRect">
            <a:avLst>
              <a:gd name="adj" fmla="val 23810"/>
            </a:avLst>
          </a:prstGeom>
          <a:solidFill>
            <a:srgbClr val="FFFFFF"/>
          </a:solidFill>
          <a:ln w="12700">
            <a:solidFill>
              <a:srgbClr val="FFFFFF"/>
            </a:solidFill>
            <a:prstDash val="solid"/>
          </a:ln>
        </p:spPr>
      </p:sp>
      <p:sp>
        <p:nvSpPr>
          <p:cNvPr id="19" name="Text 17"/>
          <p:cNvSpPr/>
          <p:nvPr/>
        </p:nvSpPr>
        <p:spPr>
          <a:xfrm>
            <a:off x="667512" y="2971800"/>
            <a:ext cx="2606040" cy="393192"/>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Hierarchical</a:t>
            </a:r>
            <a:endParaRPr lang="en-US" sz="1200" dirty="0"/>
          </a:p>
        </p:txBody>
      </p:sp>
      <p:sp>
        <p:nvSpPr>
          <p:cNvPr id="20" name="Text 18"/>
          <p:cNvSpPr/>
          <p:nvPr/>
        </p:nvSpPr>
        <p:spPr>
          <a:xfrm>
            <a:off x="3291840" y="2971800"/>
            <a:ext cx="2624328"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Nested linkage</a:t>
            </a:r>
            <a:endParaRPr lang="en-US" sz="1200" dirty="0"/>
          </a:p>
        </p:txBody>
      </p:sp>
      <p:sp>
        <p:nvSpPr>
          <p:cNvPr id="21" name="Text 19"/>
          <p:cNvSpPr/>
          <p:nvPr/>
        </p:nvSpPr>
        <p:spPr>
          <a:xfrm>
            <a:off x="5971032" y="2971800"/>
            <a:ext cx="2560320"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Tree / cut</a:t>
            </a:r>
            <a:endParaRPr lang="en-US" sz="1200" dirty="0"/>
          </a:p>
        </p:txBody>
      </p:sp>
      <p:sp>
        <p:nvSpPr>
          <p:cNvPr id="22" name="Text 20"/>
          <p:cNvSpPr/>
          <p:nvPr/>
        </p:nvSpPr>
        <p:spPr>
          <a:xfrm>
            <a:off x="8622792" y="2971800"/>
            <a:ext cx="2871216"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Explains relationships</a:t>
            </a:r>
            <a:endParaRPr lang="en-US" sz="1200" dirty="0"/>
          </a:p>
        </p:txBody>
      </p:sp>
      <p:sp>
        <p:nvSpPr>
          <p:cNvPr id="23" name="Shape 21"/>
          <p:cNvSpPr/>
          <p:nvPr/>
        </p:nvSpPr>
        <p:spPr>
          <a:xfrm>
            <a:off x="640080" y="3557016"/>
            <a:ext cx="10927080" cy="576072"/>
          </a:xfrm>
          <a:prstGeom prst="roundRect">
            <a:avLst>
              <a:gd name="adj" fmla="val 23810"/>
            </a:avLst>
          </a:prstGeom>
          <a:solidFill>
            <a:srgbClr val="EDF1F6"/>
          </a:solidFill>
          <a:ln w="12700">
            <a:solidFill>
              <a:srgbClr val="EDF1F6"/>
            </a:solidFill>
            <a:prstDash val="solid"/>
          </a:ln>
        </p:spPr>
      </p:sp>
      <p:sp>
        <p:nvSpPr>
          <p:cNvPr id="24" name="Text 22"/>
          <p:cNvSpPr/>
          <p:nvPr/>
        </p:nvSpPr>
        <p:spPr>
          <a:xfrm>
            <a:off x="667512" y="3630168"/>
            <a:ext cx="2606040" cy="393192"/>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DBSCAN</a:t>
            </a:r>
            <a:endParaRPr lang="en-US" sz="1200" dirty="0"/>
          </a:p>
        </p:txBody>
      </p:sp>
      <p:sp>
        <p:nvSpPr>
          <p:cNvPr id="25" name="Text 23"/>
          <p:cNvSpPr/>
          <p:nvPr/>
        </p:nvSpPr>
        <p:spPr>
          <a:xfrm>
            <a:off x="3291840" y="3630168"/>
            <a:ext cx="2624328"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Point density</a:t>
            </a:r>
            <a:endParaRPr lang="en-US" sz="1200" dirty="0"/>
          </a:p>
        </p:txBody>
      </p:sp>
      <p:sp>
        <p:nvSpPr>
          <p:cNvPr id="26" name="Text 24"/>
          <p:cNvSpPr/>
          <p:nvPr/>
        </p:nvSpPr>
        <p:spPr>
          <a:xfrm>
            <a:off x="5971032" y="3630168"/>
            <a:ext cx="2560320"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eps + minPts</a:t>
            </a:r>
            <a:endParaRPr lang="en-US" sz="1200" dirty="0"/>
          </a:p>
        </p:txBody>
      </p:sp>
      <p:sp>
        <p:nvSpPr>
          <p:cNvPr id="27" name="Text 25"/>
          <p:cNvSpPr/>
          <p:nvPr/>
        </p:nvSpPr>
        <p:spPr>
          <a:xfrm>
            <a:off x="8622792" y="3630168"/>
            <a:ext cx="2871216"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Irregular clusters + noise</a:t>
            </a:r>
            <a:endParaRPr lang="en-US" sz="1200" dirty="0"/>
          </a:p>
        </p:txBody>
      </p:sp>
      <p:sp>
        <p:nvSpPr>
          <p:cNvPr id="28" name="Shape 26"/>
          <p:cNvSpPr/>
          <p:nvPr/>
        </p:nvSpPr>
        <p:spPr>
          <a:xfrm>
            <a:off x="640080" y="4215384"/>
            <a:ext cx="10927080" cy="576072"/>
          </a:xfrm>
          <a:prstGeom prst="roundRect">
            <a:avLst>
              <a:gd name="adj" fmla="val 23810"/>
            </a:avLst>
          </a:prstGeom>
          <a:solidFill>
            <a:srgbClr val="FFFFFF"/>
          </a:solidFill>
          <a:ln w="12700">
            <a:solidFill>
              <a:srgbClr val="FFFFFF"/>
            </a:solidFill>
            <a:prstDash val="solid"/>
          </a:ln>
        </p:spPr>
      </p:sp>
      <p:sp>
        <p:nvSpPr>
          <p:cNvPr id="29" name="Text 27"/>
          <p:cNvSpPr/>
          <p:nvPr/>
        </p:nvSpPr>
        <p:spPr>
          <a:xfrm>
            <a:off x="667512" y="4288536"/>
            <a:ext cx="2606040" cy="393192"/>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Grid-based</a:t>
            </a:r>
            <a:endParaRPr lang="en-US" sz="1200" dirty="0"/>
          </a:p>
        </p:txBody>
      </p:sp>
      <p:sp>
        <p:nvSpPr>
          <p:cNvPr id="30" name="Text 28"/>
          <p:cNvSpPr/>
          <p:nvPr/>
        </p:nvSpPr>
        <p:spPr>
          <a:xfrm>
            <a:off x="3291840" y="4288536"/>
            <a:ext cx="2624328"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Cell statistics</a:t>
            </a:r>
            <a:endParaRPr lang="en-US" sz="1200" dirty="0"/>
          </a:p>
        </p:txBody>
      </p:sp>
      <p:sp>
        <p:nvSpPr>
          <p:cNvPr id="31" name="Text 29"/>
          <p:cNvSpPr/>
          <p:nvPr/>
        </p:nvSpPr>
        <p:spPr>
          <a:xfrm>
            <a:off x="5971032" y="4288536"/>
            <a:ext cx="2560320"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Resolution</a:t>
            </a:r>
            <a:endParaRPr lang="en-US" sz="1200" dirty="0"/>
          </a:p>
        </p:txBody>
      </p:sp>
      <p:sp>
        <p:nvSpPr>
          <p:cNvPr id="32" name="Text 30"/>
          <p:cNvSpPr/>
          <p:nvPr/>
        </p:nvSpPr>
        <p:spPr>
          <a:xfrm>
            <a:off x="8622792" y="4288536"/>
            <a:ext cx="2871216"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Spatial / subspace patterns</a:t>
            </a:r>
            <a:endParaRPr lang="en-US" sz="1200" dirty="0"/>
          </a:p>
        </p:txBody>
      </p:sp>
      <p:sp>
        <p:nvSpPr>
          <p:cNvPr id="33" name="Shape 31"/>
          <p:cNvSpPr/>
          <p:nvPr/>
        </p:nvSpPr>
        <p:spPr>
          <a:xfrm>
            <a:off x="640080" y="4873752"/>
            <a:ext cx="10927080" cy="576072"/>
          </a:xfrm>
          <a:prstGeom prst="roundRect">
            <a:avLst>
              <a:gd name="adj" fmla="val 23810"/>
            </a:avLst>
          </a:prstGeom>
          <a:solidFill>
            <a:srgbClr val="EDF1F6"/>
          </a:solidFill>
          <a:ln w="12700">
            <a:solidFill>
              <a:srgbClr val="EDF1F6"/>
            </a:solidFill>
            <a:prstDash val="solid"/>
          </a:ln>
        </p:spPr>
      </p:sp>
      <p:sp>
        <p:nvSpPr>
          <p:cNvPr id="34" name="Text 32"/>
          <p:cNvSpPr/>
          <p:nvPr/>
        </p:nvSpPr>
        <p:spPr>
          <a:xfrm>
            <a:off x="667512" y="4946904"/>
            <a:ext cx="2606040" cy="393192"/>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GMM</a:t>
            </a:r>
            <a:endParaRPr lang="en-US" sz="1200" dirty="0"/>
          </a:p>
        </p:txBody>
      </p:sp>
      <p:sp>
        <p:nvSpPr>
          <p:cNvPr id="35" name="Text 33"/>
          <p:cNvSpPr/>
          <p:nvPr/>
        </p:nvSpPr>
        <p:spPr>
          <a:xfrm>
            <a:off x="3291840" y="4946904"/>
            <a:ext cx="2624328"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Probability model</a:t>
            </a:r>
            <a:endParaRPr lang="en-US" sz="1200" dirty="0"/>
          </a:p>
        </p:txBody>
      </p:sp>
      <p:sp>
        <p:nvSpPr>
          <p:cNvPr id="36" name="Text 34"/>
          <p:cNvSpPr/>
          <p:nvPr/>
        </p:nvSpPr>
        <p:spPr>
          <a:xfrm>
            <a:off x="5971032" y="4946904"/>
            <a:ext cx="2560320"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Components</a:t>
            </a:r>
            <a:endParaRPr lang="en-US" sz="1200" dirty="0"/>
          </a:p>
        </p:txBody>
      </p:sp>
      <p:sp>
        <p:nvSpPr>
          <p:cNvPr id="37" name="Text 35"/>
          <p:cNvSpPr/>
          <p:nvPr/>
        </p:nvSpPr>
        <p:spPr>
          <a:xfrm>
            <a:off x="8622792" y="4946904"/>
            <a:ext cx="2871216" cy="393192"/>
          </a:xfrm>
          <a:prstGeom prst="rect">
            <a:avLst/>
          </a:prstGeom>
          <a:noFill/>
          <a:ln/>
        </p:spPr>
        <p:txBody>
          <a:bodyPr wrap="square" lIns="0" tIns="0" rIns="0" bIns="0" rtlCol="0" anchor="ctr">
            <a:normAutofit/>
          </a:bodyPr>
          <a:lstStyle/>
          <a:p>
            <a:pPr indent="0" marL="0">
              <a:buNone/>
            </a:pPr>
            <a:r>
              <a:rPr lang="en-US" sz="1200" dirty="0">
                <a:solidFill>
                  <a:srgbClr val="58667B"/>
                </a:solidFill>
                <a:latin typeface="Aptos" pitchFamily="34" charset="0"/>
                <a:ea typeface="Aptos" pitchFamily="34" charset="-122"/>
                <a:cs typeface="Aptos" pitchFamily="34" charset="-120"/>
              </a:rPr>
              <a:t>Overlapping groups</a:t>
            </a:r>
            <a:endParaRPr lang="en-US" sz="1200" dirty="0"/>
          </a:p>
        </p:txBody>
      </p:sp>
      <p:sp>
        <p:nvSpPr>
          <p:cNvPr id="38" name="Shape 36"/>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39" name="Text 37"/>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Use scores to support decisions—not to replace understanding of the data.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DIMENSIONALITY REDUCTION</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Why compress features?</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High-dimensional distances and visualizations can become hard to interpret.</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13</a:t>
            </a:r>
            <a:endParaRPr lang="en-US" sz="900" dirty="0"/>
          </a:p>
        </p:txBody>
      </p:sp>
      <p:sp>
        <p:nvSpPr>
          <p:cNvPr id="9" name="Shape 7"/>
          <p:cNvSpPr/>
          <p:nvPr/>
        </p:nvSpPr>
        <p:spPr>
          <a:xfrm>
            <a:off x="685800" y="1737360"/>
            <a:ext cx="6766560" cy="3611880"/>
          </a:xfrm>
          <a:prstGeom prst="roundRect">
            <a:avLst>
              <a:gd name="adj" fmla="val 3797"/>
            </a:avLst>
          </a:prstGeom>
          <a:solidFill>
            <a:srgbClr val="FFFFFF"/>
          </a:solidFill>
          <a:ln w="12700">
            <a:solidFill>
              <a:srgbClr val="FFFFFF"/>
            </a:solidFill>
            <a:prstDash val="solid"/>
          </a:ln>
        </p:spPr>
      </p:sp>
      <p:sp>
        <p:nvSpPr>
          <p:cNvPr id="10" name="Text 8"/>
          <p:cNvSpPr/>
          <p:nvPr/>
        </p:nvSpPr>
        <p:spPr>
          <a:xfrm>
            <a:off x="1051560" y="2066544"/>
            <a:ext cx="3154680" cy="530352"/>
          </a:xfrm>
          <a:prstGeom prst="rect">
            <a:avLst/>
          </a:prstGeom>
          <a:noFill/>
          <a:ln/>
        </p:spPr>
        <p:txBody>
          <a:bodyPr wrap="square" lIns="0" tIns="0" rIns="0" bIns="0" rtlCol="0" anchor="ctr">
            <a:normAutofit/>
          </a:bodyPr>
          <a:lstStyle/>
          <a:p>
            <a:pPr indent="0" marL="0">
              <a:buNone/>
            </a:pPr>
            <a:r>
              <a:rPr lang="en-US" sz="2600" b="1" dirty="0">
                <a:solidFill>
                  <a:srgbClr val="15233B"/>
                </a:solidFill>
                <a:latin typeface="Aptos" pitchFamily="34" charset="0"/>
                <a:ea typeface="Aptos" pitchFamily="34" charset="-122"/>
                <a:cs typeface="Aptos" pitchFamily="34" charset="-120"/>
              </a:rPr>
              <a:t>100 FEATURES</a:t>
            </a:r>
            <a:endParaRPr lang="en-US" sz="2600" dirty="0"/>
          </a:p>
        </p:txBody>
      </p:sp>
      <p:sp>
        <p:nvSpPr>
          <p:cNvPr id="11" name="Text 9"/>
          <p:cNvSpPr/>
          <p:nvPr/>
        </p:nvSpPr>
        <p:spPr>
          <a:xfrm>
            <a:off x="4005072" y="2121408"/>
            <a:ext cx="685800" cy="502920"/>
          </a:xfrm>
          <a:prstGeom prst="rect">
            <a:avLst/>
          </a:prstGeom>
          <a:noFill/>
          <a:ln/>
        </p:spPr>
        <p:txBody>
          <a:bodyPr wrap="square" lIns="0" tIns="0" rIns="0" bIns="0" rtlCol="0" anchor="ctr">
            <a:normAutofit/>
          </a:bodyPr>
          <a:lstStyle/>
          <a:p>
            <a:pPr indent="0" marL="0">
              <a:buNone/>
            </a:pPr>
            <a:r>
              <a:rPr lang="en-US" sz="4000" b="1" dirty="0">
                <a:solidFill>
                  <a:srgbClr val="087F8C"/>
                </a:solidFill>
                <a:latin typeface="Aptos" pitchFamily="34" charset="0"/>
                <a:ea typeface="Aptos" pitchFamily="34" charset="-122"/>
                <a:cs typeface="Aptos" pitchFamily="34" charset="-120"/>
              </a:rPr>
              <a:t>→</a:t>
            </a:r>
            <a:endParaRPr lang="en-US" sz="4000" dirty="0"/>
          </a:p>
        </p:txBody>
      </p:sp>
      <p:sp>
        <p:nvSpPr>
          <p:cNvPr id="12" name="Text 10"/>
          <p:cNvSpPr/>
          <p:nvPr/>
        </p:nvSpPr>
        <p:spPr>
          <a:xfrm>
            <a:off x="4809744" y="2048256"/>
            <a:ext cx="2148840" cy="1024128"/>
          </a:xfrm>
          <a:prstGeom prst="rect">
            <a:avLst/>
          </a:prstGeom>
          <a:noFill/>
          <a:ln/>
        </p:spPr>
        <p:txBody>
          <a:bodyPr wrap="square" lIns="0" tIns="0" rIns="0" bIns="0" rtlCol="0" anchor="ctr">
            <a:normAutofit/>
          </a:bodyPr>
          <a:lstStyle/>
          <a:p>
            <a:pPr indent="0" marL="0">
              <a:buNone/>
            </a:pPr>
            <a:r>
              <a:rPr lang="en-US" sz="2400" b="1" dirty="0">
                <a:solidFill>
                  <a:srgbClr val="5169D8"/>
                </a:solidFill>
                <a:latin typeface="Aptos" pitchFamily="34" charset="0"/>
                <a:ea typeface="Aptos" pitchFamily="34" charset="-122"/>
                <a:cs typeface="Aptos" pitchFamily="34" charset="-120"/>
              </a:rPr>
              <a:t>2–10</a:t>
            </a:r>
            <a:endParaRPr lang="en-US" sz="2400" dirty="0"/>
          </a:p>
          <a:p>
            <a:pPr indent="0" marL="0">
              <a:buNone/>
            </a:pPr>
            <a:r>
              <a:rPr lang="en-US" sz="2400" b="1" dirty="0">
                <a:solidFill>
                  <a:srgbClr val="5169D8"/>
                </a:solidFill>
                <a:latin typeface="Aptos" pitchFamily="34" charset="0"/>
                <a:ea typeface="Aptos" pitchFamily="34" charset="-122"/>
                <a:cs typeface="Aptos" pitchFamily="34" charset="-120"/>
              </a:rPr>
              <a:t>DIMENSIONS</a:t>
            </a:r>
            <a:endParaRPr lang="en-US" sz="2400" dirty="0"/>
          </a:p>
        </p:txBody>
      </p:sp>
      <p:sp>
        <p:nvSpPr>
          <p:cNvPr id="13" name="Text 11"/>
          <p:cNvSpPr/>
          <p:nvPr/>
        </p:nvSpPr>
        <p:spPr>
          <a:xfrm>
            <a:off x="1078992" y="3712464"/>
            <a:ext cx="5715000" cy="466344"/>
          </a:xfrm>
          <a:prstGeom prst="rect">
            <a:avLst/>
          </a:prstGeom>
          <a:noFill/>
          <a:ln/>
        </p:spPr>
        <p:txBody>
          <a:bodyPr wrap="square" lIns="0" tIns="0" rIns="0" bIns="0" rtlCol="0" anchor="ctr">
            <a:normAutofit/>
          </a:bodyPr>
          <a:lstStyle/>
          <a:p>
            <a:pPr indent="0" marL="0">
              <a:buNone/>
            </a:pPr>
            <a:r>
              <a:rPr lang="en-US" sz="1800" dirty="0">
                <a:solidFill>
                  <a:srgbClr val="58667B"/>
                </a:solidFill>
                <a:latin typeface="Aptos" pitchFamily="34" charset="0"/>
                <a:ea typeface="Aptos" pitchFamily="34" charset="-122"/>
                <a:cs typeface="Aptos" pitchFamily="34" charset="-120"/>
              </a:rPr>
              <a:t>Keep a useful representation of the signal</a:t>
            </a:r>
            <a:endParaRPr lang="en-US" sz="1800" dirty="0"/>
          </a:p>
        </p:txBody>
      </p:sp>
      <p:sp>
        <p:nvSpPr>
          <p:cNvPr id="14" name="Shape 12"/>
          <p:cNvSpPr/>
          <p:nvPr/>
        </p:nvSpPr>
        <p:spPr>
          <a:xfrm>
            <a:off x="7644384" y="1737360"/>
            <a:ext cx="3831336" cy="3611880"/>
          </a:xfrm>
          <a:prstGeom prst="roundRect">
            <a:avLst>
              <a:gd name="adj" fmla="val 3797"/>
            </a:avLst>
          </a:prstGeom>
          <a:solidFill>
            <a:srgbClr val="FFFFFF"/>
          </a:solidFill>
          <a:ln w="12700">
            <a:solidFill>
              <a:srgbClr val="FFFFFF"/>
            </a:solidFill>
            <a:prstDash val="solid"/>
          </a:ln>
        </p:spPr>
      </p:sp>
      <p:sp>
        <p:nvSpPr>
          <p:cNvPr id="15" name="Shape 13"/>
          <p:cNvSpPr/>
          <p:nvPr/>
        </p:nvSpPr>
        <p:spPr>
          <a:xfrm>
            <a:off x="7644384" y="1737360"/>
            <a:ext cx="59436" cy="3611880"/>
          </a:xfrm>
          <a:prstGeom prst="rect">
            <a:avLst/>
          </a:prstGeom>
          <a:solidFill>
            <a:srgbClr val="5169D8"/>
          </a:solidFill>
          <a:ln w="12700">
            <a:solidFill>
              <a:srgbClr val="5169D8"/>
            </a:solidFill>
            <a:prstDash val="solid"/>
          </a:ln>
        </p:spPr>
      </p:sp>
      <p:sp>
        <p:nvSpPr>
          <p:cNvPr id="16" name="Text 14"/>
          <p:cNvSpPr/>
          <p:nvPr/>
        </p:nvSpPr>
        <p:spPr>
          <a:xfrm>
            <a:off x="7845552" y="1901952"/>
            <a:ext cx="3465576"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TWO PURPOSES</a:t>
            </a:r>
            <a:endParaRPr lang="en-US" sz="1700" dirty="0"/>
          </a:p>
        </p:txBody>
      </p:sp>
      <p:sp>
        <p:nvSpPr>
          <p:cNvPr id="17" name="Text 15"/>
          <p:cNvSpPr/>
          <p:nvPr/>
        </p:nvSpPr>
        <p:spPr>
          <a:xfrm>
            <a:off x="7845552" y="2423160"/>
            <a:ext cx="3419856" cy="283464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Visualization: inspect structure in 2D / 3D</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Representation: remove redundancy and noise</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Trade-off: some information is lost</a:t>
            </a:r>
            <a:endParaRPr lang="en-US" sz="1200" dirty="0"/>
          </a:p>
        </p:txBody>
      </p:sp>
      <p:sp>
        <p:nvSpPr>
          <p:cNvPr id="18" name="Shape 16"/>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9" name="Text 17"/>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Dimensionality reduction does not automatically improve every downstream task.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DIMENSIONALITY REDUCTION</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PCA: rotate toward maximum variance</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Linear components are orthogonal directions ordered by explained variance.</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14</a:t>
            </a:r>
            <a:endParaRPr lang="en-US" sz="900" dirty="0"/>
          </a:p>
        </p:txBody>
      </p:sp>
      <p:sp>
        <p:nvSpPr>
          <p:cNvPr id="9" name="Shape 7"/>
          <p:cNvSpPr/>
          <p:nvPr/>
        </p:nvSpPr>
        <p:spPr>
          <a:xfrm>
            <a:off x="685800" y="1920240"/>
            <a:ext cx="2606040" cy="1417320"/>
          </a:xfrm>
          <a:prstGeom prst="roundRect">
            <a:avLst>
              <a:gd name="adj" fmla="val 9677"/>
            </a:avLst>
          </a:prstGeom>
          <a:solidFill>
            <a:srgbClr val="FFFFFF"/>
          </a:solidFill>
          <a:ln w="12700">
            <a:solidFill>
              <a:srgbClr val="FFFFFF"/>
            </a:solidFill>
            <a:prstDash val="solid"/>
          </a:ln>
        </p:spPr>
      </p:sp>
      <p:sp>
        <p:nvSpPr>
          <p:cNvPr id="10" name="Shape 8"/>
          <p:cNvSpPr/>
          <p:nvPr/>
        </p:nvSpPr>
        <p:spPr>
          <a:xfrm>
            <a:off x="832104" y="2103120"/>
            <a:ext cx="530352" cy="347472"/>
          </a:xfrm>
          <a:prstGeom prst="roundRect">
            <a:avLst>
              <a:gd name="adj" fmla="val 39474"/>
            </a:avLst>
          </a:prstGeom>
          <a:solidFill>
            <a:srgbClr val="5169D8"/>
          </a:solidFill>
          <a:ln w="12700">
            <a:solidFill>
              <a:srgbClr val="5169D8"/>
            </a:solidFill>
            <a:prstDash val="solid"/>
          </a:ln>
        </p:spPr>
      </p:sp>
      <p:sp>
        <p:nvSpPr>
          <p:cNvPr id="11" name="Text 9"/>
          <p:cNvSpPr/>
          <p:nvPr/>
        </p:nvSpPr>
        <p:spPr>
          <a:xfrm>
            <a:off x="941832" y="2121408"/>
            <a:ext cx="310896"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12" name="Text 10"/>
          <p:cNvSpPr/>
          <p:nvPr/>
        </p:nvSpPr>
        <p:spPr>
          <a:xfrm>
            <a:off x="841248" y="2624328"/>
            <a:ext cx="2331720" cy="411480"/>
          </a:xfrm>
          <a:prstGeom prst="rect">
            <a:avLst/>
          </a:prstGeom>
          <a:noFill/>
          <a:ln/>
        </p:spPr>
        <p:txBody>
          <a:bodyPr wrap="square" lIns="0" tIns="0" rIns="0" bIns="0" rtlCol="0" anchor="ctr">
            <a:normAutofit/>
          </a:bodyPr>
          <a:lstStyle/>
          <a:p>
            <a:pPr indent="0" marL="0">
              <a:buNone/>
            </a:pPr>
            <a:r>
              <a:rPr lang="en-US" sz="1400" b="1" dirty="0">
                <a:solidFill>
                  <a:srgbClr val="15233B"/>
                </a:solidFill>
                <a:latin typeface="Aptos" pitchFamily="34" charset="0"/>
                <a:ea typeface="Aptos" pitchFamily="34" charset="-122"/>
                <a:cs typeface="Aptos" pitchFamily="34" charset="-120"/>
              </a:rPr>
              <a:t>Center / scale</a:t>
            </a:r>
            <a:endParaRPr lang="en-US" sz="1400" dirty="0"/>
          </a:p>
        </p:txBody>
      </p:sp>
      <p:sp>
        <p:nvSpPr>
          <p:cNvPr id="13" name="Text 11"/>
          <p:cNvSpPr/>
          <p:nvPr/>
        </p:nvSpPr>
        <p:spPr>
          <a:xfrm>
            <a:off x="3319272" y="2359152"/>
            <a:ext cx="274320" cy="320040"/>
          </a:xfrm>
          <a:prstGeom prst="rect">
            <a:avLst/>
          </a:prstGeom>
          <a:noFill/>
          <a:ln/>
        </p:spPr>
        <p:txBody>
          <a:bodyPr wrap="square" lIns="0" tIns="0" rIns="0" bIns="0" rtlCol="0" anchor="ctr">
            <a:normAutofit/>
          </a:bodyPr>
          <a:lstStyle/>
          <a:p>
            <a:pPr indent="0" marL="0">
              <a:buNone/>
            </a:pPr>
            <a:r>
              <a:rPr lang="en-US" sz="1900" b="1" dirty="0">
                <a:solidFill>
                  <a:srgbClr val="8795A9"/>
                </a:solidFill>
                <a:latin typeface="Aptos" pitchFamily="34" charset="0"/>
                <a:ea typeface="Aptos" pitchFamily="34" charset="-122"/>
                <a:cs typeface="Aptos" pitchFamily="34" charset="-120"/>
              </a:rPr>
              <a:t>→</a:t>
            </a:r>
            <a:endParaRPr lang="en-US" sz="1900" dirty="0"/>
          </a:p>
        </p:txBody>
      </p:sp>
      <p:sp>
        <p:nvSpPr>
          <p:cNvPr id="14" name="Shape 12"/>
          <p:cNvSpPr/>
          <p:nvPr/>
        </p:nvSpPr>
        <p:spPr>
          <a:xfrm>
            <a:off x="3557016" y="1920240"/>
            <a:ext cx="2606040" cy="1417320"/>
          </a:xfrm>
          <a:prstGeom prst="roundRect">
            <a:avLst>
              <a:gd name="adj" fmla="val 9677"/>
            </a:avLst>
          </a:prstGeom>
          <a:solidFill>
            <a:srgbClr val="FFFFFF"/>
          </a:solidFill>
          <a:ln w="12700">
            <a:solidFill>
              <a:srgbClr val="FFFFFF"/>
            </a:solidFill>
            <a:prstDash val="solid"/>
          </a:ln>
        </p:spPr>
      </p:sp>
      <p:sp>
        <p:nvSpPr>
          <p:cNvPr id="15" name="Shape 13"/>
          <p:cNvSpPr/>
          <p:nvPr/>
        </p:nvSpPr>
        <p:spPr>
          <a:xfrm>
            <a:off x="3703320" y="2103120"/>
            <a:ext cx="530352" cy="347472"/>
          </a:xfrm>
          <a:prstGeom prst="roundRect">
            <a:avLst>
              <a:gd name="adj" fmla="val 39474"/>
            </a:avLst>
          </a:prstGeom>
          <a:solidFill>
            <a:srgbClr val="5169D8"/>
          </a:solidFill>
          <a:ln w="12700">
            <a:solidFill>
              <a:srgbClr val="5169D8"/>
            </a:solidFill>
            <a:prstDash val="solid"/>
          </a:ln>
        </p:spPr>
      </p:sp>
      <p:sp>
        <p:nvSpPr>
          <p:cNvPr id="16" name="Text 14"/>
          <p:cNvSpPr/>
          <p:nvPr/>
        </p:nvSpPr>
        <p:spPr>
          <a:xfrm>
            <a:off x="3813048" y="2121408"/>
            <a:ext cx="310896"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7" name="Text 15"/>
          <p:cNvSpPr/>
          <p:nvPr/>
        </p:nvSpPr>
        <p:spPr>
          <a:xfrm>
            <a:off x="3712464" y="2624328"/>
            <a:ext cx="2331720" cy="411480"/>
          </a:xfrm>
          <a:prstGeom prst="rect">
            <a:avLst/>
          </a:prstGeom>
          <a:noFill/>
          <a:ln/>
        </p:spPr>
        <p:txBody>
          <a:bodyPr wrap="square" lIns="0" tIns="0" rIns="0" bIns="0" rtlCol="0" anchor="ctr">
            <a:normAutofit/>
          </a:bodyPr>
          <a:lstStyle/>
          <a:p>
            <a:pPr indent="0" marL="0">
              <a:buNone/>
            </a:pPr>
            <a:r>
              <a:rPr lang="en-US" sz="1400" b="1" dirty="0">
                <a:solidFill>
                  <a:srgbClr val="15233B"/>
                </a:solidFill>
                <a:latin typeface="Aptos" pitchFamily="34" charset="0"/>
                <a:ea typeface="Aptos" pitchFamily="34" charset="-122"/>
                <a:cs typeface="Aptos" pitchFamily="34" charset="-120"/>
              </a:rPr>
              <a:t>Covariance / SVD</a:t>
            </a:r>
            <a:endParaRPr lang="en-US" sz="1400" dirty="0"/>
          </a:p>
        </p:txBody>
      </p:sp>
      <p:sp>
        <p:nvSpPr>
          <p:cNvPr id="18" name="Text 16"/>
          <p:cNvSpPr/>
          <p:nvPr/>
        </p:nvSpPr>
        <p:spPr>
          <a:xfrm>
            <a:off x="6190488" y="2359152"/>
            <a:ext cx="274320" cy="320040"/>
          </a:xfrm>
          <a:prstGeom prst="rect">
            <a:avLst/>
          </a:prstGeom>
          <a:noFill/>
          <a:ln/>
        </p:spPr>
        <p:txBody>
          <a:bodyPr wrap="square" lIns="0" tIns="0" rIns="0" bIns="0" rtlCol="0" anchor="ctr">
            <a:normAutofit/>
          </a:bodyPr>
          <a:lstStyle/>
          <a:p>
            <a:pPr indent="0" marL="0">
              <a:buNone/>
            </a:pPr>
            <a:r>
              <a:rPr lang="en-US" sz="1900" b="1" dirty="0">
                <a:solidFill>
                  <a:srgbClr val="8795A9"/>
                </a:solidFill>
                <a:latin typeface="Aptos" pitchFamily="34" charset="0"/>
                <a:ea typeface="Aptos" pitchFamily="34" charset="-122"/>
                <a:cs typeface="Aptos" pitchFamily="34" charset="-120"/>
              </a:rPr>
              <a:t>→</a:t>
            </a:r>
            <a:endParaRPr lang="en-US" sz="1900" dirty="0"/>
          </a:p>
        </p:txBody>
      </p:sp>
      <p:sp>
        <p:nvSpPr>
          <p:cNvPr id="19" name="Shape 17"/>
          <p:cNvSpPr/>
          <p:nvPr/>
        </p:nvSpPr>
        <p:spPr>
          <a:xfrm>
            <a:off x="6428232" y="1920240"/>
            <a:ext cx="2606040" cy="1417320"/>
          </a:xfrm>
          <a:prstGeom prst="roundRect">
            <a:avLst>
              <a:gd name="adj" fmla="val 9677"/>
            </a:avLst>
          </a:prstGeom>
          <a:solidFill>
            <a:srgbClr val="FFFFFF"/>
          </a:solidFill>
          <a:ln w="12700">
            <a:solidFill>
              <a:srgbClr val="FFFFFF"/>
            </a:solidFill>
            <a:prstDash val="solid"/>
          </a:ln>
        </p:spPr>
      </p:sp>
      <p:sp>
        <p:nvSpPr>
          <p:cNvPr id="20" name="Shape 18"/>
          <p:cNvSpPr/>
          <p:nvPr/>
        </p:nvSpPr>
        <p:spPr>
          <a:xfrm>
            <a:off x="6574536" y="2103120"/>
            <a:ext cx="530352" cy="347472"/>
          </a:xfrm>
          <a:prstGeom prst="roundRect">
            <a:avLst>
              <a:gd name="adj" fmla="val 39474"/>
            </a:avLst>
          </a:prstGeom>
          <a:solidFill>
            <a:srgbClr val="5169D8"/>
          </a:solidFill>
          <a:ln w="12700">
            <a:solidFill>
              <a:srgbClr val="5169D8"/>
            </a:solidFill>
            <a:prstDash val="solid"/>
          </a:ln>
        </p:spPr>
      </p:sp>
      <p:sp>
        <p:nvSpPr>
          <p:cNvPr id="21" name="Text 19"/>
          <p:cNvSpPr/>
          <p:nvPr/>
        </p:nvSpPr>
        <p:spPr>
          <a:xfrm>
            <a:off x="6684264" y="2121408"/>
            <a:ext cx="310896"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22" name="Text 20"/>
          <p:cNvSpPr/>
          <p:nvPr/>
        </p:nvSpPr>
        <p:spPr>
          <a:xfrm>
            <a:off x="6583680" y="2624328"/>
            <a:ext cx="2331720" cy="411480"/>
          </a:xfrm>
          <a:prstGeom prst="rect">
            <a:avLst/>
          </a:prstGeom>
          <a:noFill/>
          <a:ln/>
        </p:spPr>
        <p:txBody>
          <a:bodyPr wrap="square" lIns="0" tIns="0" rIns="0" bIns="0" rtlCol="0" anchor="ctr">
            <a:normAutofit/>
          </a:bodyPr>
          <a:lstStyle/>
          <a:p>
            <a:pPr indent="0" marL="0">
              <a:buNone/>
            </a:pPr>
            <a:r>
              <a:rPr lang="en-US" sz="1400" b="1" dirty="0">
                <a:solidFill>
                  <a:srgbClr val="15233B"/>
                </a:solidFill>
                <a:latin typeface="Aptos" pitchFamily="34" charset="0"/>
                <a:ea typeface="Aptos" pitchFamily="34" charset="-122"/>
                <a:cs typeface="Aptos" pitchFamily="34" charset="-120"/>
              </a:rPr>
              <a:t>Eigenvectors</a:t>
            </a:r>
            <a:endParaRPr lang="en-US" sz="1400" dirty="0"/>
          </a:p>
        </p:txBody>
      </p:sp>
      <p:sp>
        <p:nvSpPr>
          <p:cNvPr id="23" name="Text 21"/>
          <p:cNvSpPr/>
          <p:nvPr/>
        </p:nvSpPr>
        <p:spPr>
          <a:xfrm>
            <a:off x="9061704" y="2359152"/>
            <a:ext cx="274320" cy="320040"/>
          </a:xfrm>
          <a:prstGeom prst="rect">
            <a:avLst/>
          </a:prstGeom>
          <a:noFill/>
          <a:ln/>
        </p:spPr>
        <p:txBody>
          <a:bodyPr wrap="square" lIns="0" tIns="0" rIns="0" bIns="0" rtlCol="0" anchor="ctr">
            <a:normAutofit/>
          </a:bodyPr>
          <a:lstStyle/>
          <a:p>
            <a:pPr indent="0" marL="0">
              <a:buNone/>
            </a:pPr>
            <a:r>
              <a:rPr lang="en-US" sz="1900" b="1" dirty="0">
                <a:solidFill>
                  <a:srgbClr val="8795A9"/>
                </a:solidFill>
                <a:latin typeface="Aptos" pitchFamily="34" charset="0"/>
                <a:ea typeface="Aptos" pitchFamily="34" charset="-122"/>
                <a:cs typeface="Aptos" pitchFamily="34" charset="-120"/>
              </a:rPr>
              <a:t>→</a:t>
            </a:r>
            <a:endParaRPr lang="en-US" sz="1900" dirty="0"/>
          </a:p>
        </p:txBody>
      </p:sp>
      <p:sp>
        <p:nvSpPr>
          <p:cNvPr id="24" name="Shape 22"/>
          <p:cNvSpPr/>
          <p:nvPr/>
        </p:nvSpPr>
        <p:spPr>
          <a:xfrm>
            <a:off x="9299448" y="1920240"/>
            <a:ext cx="2606040" cy="1417320"/>
          </a:xfrm>
          <a:prstGeom prst="roundRect">
            <a:avLst>
              <a:gd name="adj" fmla="val 9677"/>
            </a:avLst>
          </a:prstGeom>
          <a:solidFill>
            <a:srgbClr val="FFFFFF"/>
          </a:solidFill>
          <a:ln w="12700">
            <a:solidFill>
              <a:srgbClr val="FFFFFF"/>
            </a:solidFill>
            <a:prstDash val="solid"/>
          </a:ln>
        </p:spPr>
      </p:sp>
      <p:sp>
        <p:nvSpPr>
          <p:cNvPr id="25" name="Shape 23"/>
          <p:cNvSpPr/>
          <p:nvPr/>
        </p:nvSpPr>
        <p:spPr>
          <a:xfrm>
            <a:off x="9445752" y="2103120"/>
            <a:ext cx="530352" cy="347472"/>
          </a:xfrm>
          <a:prstGeom prst="roundRect">
            <a:avLst>
              <a:gd name="adj" fmla="val 39474"/>
            </a:avLst>
          </a:prstGeom>
          <a:solidFill>
            <a:srgbClr val="5169D8"/>
          </a:solidFill>
          <a:ln w="12700">
            <a:solidFill>
              <a:srgbClr val="5169D8"/>
            </a:solidFill>
            <a:prstDash val="solid"/>
          </a:ln>
        </p:spPr>
      </p:sp>
      <p:sp>
        <p:nvSpPr>
          <p:cNvPr id="26" name="Text 24"/>
          <p:cNvSpPr/>
          <p:nvPr/>
        </p:nvSpPr>
        <p:spPr>
          <a:xfrm>
            <a:off x="9555480" y="2121408"/>
            <a:ext cx="310896" cy="292608"/>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04</a:t>
            </a:r>
            <a:endParaRPr lang="en-US" sz="1000" dirty="0"/>
          </a:p>
        </p:txBody>
      </p:sp>
      <p:sp>
        <p:nvSpPr>
          <p:cNvPr id="27" name="Text 25"/>
          <p:cNvSpPr/>
          <p:nvPr/>
        </p:nvSpPr>
        <p:spPr>
          <a:xfrm>
            <a:off x="9454896" y="2624328"/>
            <a:ext cx="2331720" cy="411480"/>
          </a:xfrm>
          <a:prstGeom prst="rect">
            <a:avLst/>
          </a:prstGeom>
          <a:noFill/>
          <a:ln/>
        </p:spPr>
        <p:txBody>
          <a:bodyPr wrap="square" lIns="0" tIns="0" rIns="0" bIns="0" rtlCol="0" anchor="ctr">
            <a:normAutofit/>
          </a:bodyPr>
          <a:lstStyle/>
          <a:p>
            <a:pPr indent="0" marL="0">
              <a:buNone/>
            </a:pPr>
            <a:r>
              <a:rPr lang="en-US" sz="1400" b="1" dirty="0">
                <a:solidFill>
                  <a:srgbClr val="15233B"/>
                </a:solidFill>
                <a:latin typeface="Aptos" pitchFamily="34" charset="0"/>
                <a:ea typeface="Aptos" pitchFamily="34" charset="-122"/>
                <a:cs typeface="Aptos" pitchFamily="34" charset="-120"/>
              </a:rPr>
              <a:t>Project data</a:t>
            </a:r>
            <a:endParaRPr lang="en-US" sz="1400" dirty="0"/>
          </a:p>
        </p:txBody>
      </p:sp>
      <p:sp>
        <p:nvSpPr>
          <p:cNvPr id="28" name="Shape 26"/>
          <p:cNvSpPr/>
          <p:nvPr/>
        </p:nvSpPr>
        <p:spPr>
          <a:xfrm>
            <a:off x="786384" y="3849624"/>
            <a:ext cx="10625328" cy="1234440"/>
          </a:xfrm>
          <a:prstGeom prst="roundRect">
            <a:avLst>
              <a:gd name="adj" fmla="val 11111"/>
            </a:avLst>
          </a:prstGeom>
          <a:solidFill>
            <a:srgbClr val="ECEDFB"/>
          </a:solidFill>
          <a:ln w="12700">
            <a:solidFill>
              <a:srgbClr val="ECEDFB"/>
            </a:solidFill>
            <a:prstDash val="solid"/>
          </a:ln>
        </p:spPr>
      </p:sp>
      <p:sp>
        <p:nvSpPr>
          <p:cNvPr id="29" name="Text 27"/>
          <p:cNvSpPr/>
          <p:nvPr/>
        </p:nvSpPr>
        <p:spPr>
          <a:xfrm>
            <a:off x="1042416" y="4114800"/>
            <a:ext cx="10012680" cy="438912"/>
          </a:xfrm>
          <a:prstGeom prst="rect">
            <a:avLst/>
          </a:prstGeom>
          <a:noFill/>
          <a:ln/>
        </p:spPr>
        <p:txBody>
          <a:bodyPr wrap="square" lIns="0" tIns="0" rIns="0" bIns="0" rtlCol="0" anchor="ctr">
            <a:normAutofit/>
          </a:bodyPr>
          <a:lstStyle/>
          <a:p>
            <a:pPr algn="ctr" indent="0" marL="0">
              <a:buNone/>
            </a:pPr>
            <a:r>
              <a:rPr lang="en-US" sz="2400" b="1" dirty="0">
                <a:solidFill>
                  <a:srgbClr val="15233B"/>
                </a:solidFill>
                <a:latin typeface="Aptos" pitchFamily="34" charset="0"/>
                <a:ea typeface="Aptos" pitchFamily="34" charset="-122"/>
                <a:cs typeface="Aptos" pitchFamily="34" charset="-120"/>
              </a:rPr>
              <a:t>Explained variance ratio = λᵢ / Σⱼ λⱼ</a:t>
            </a:r>
            <a:endParaRPr lang="en-US" sz="2400" dirty="0"/>
          </a:p>
        </p:txBody>
      </p:sp>
      <p:sp>
        <p:nvSpPr>
          <p:cNvPr id="30" name="Shape 28"/>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31" name="Text 29"/>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PCA preserves directions of maximum variance—not necessarily class or cluster separation.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DIMENSIONALITY REDUCTION</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PCA vs t-SNE vs UMAP: what each preserves</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Three views of high-dimensional relationships—not interchangeable algorithms.</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15</a:t>
            </a:r>
            <a:endParaRPr lang="en-US" sz="900" dirty="0"/>
          </a:p>
        </p:txBody>
      </p:sp>
      <p:sp>
        <p:nvSpPr>
          <p:cNvPr id="9" name="Shape 7"/>
          <p:cNvSpPr/>
          <p:nvPr/>
        </p:nvSpPr>
        <p:spPr>
          <a:xfrm>
            <a:off x="621792" y="1755648"/>
            <a:ext cx="3639312" cy="3858768"/>
          </a:xfrm>
          <a:prstGeom prst="roundRect">
            <a:avLst>
              <a:gd name="adj" fmla="val 3769"/>
            </a:avLst>
          </a:prstGeom>
          <a:solidFill>
            <a:srgbClr val="FFFFFF"/>
          </a:solidFill>
          <a:ln w="12700">
            <a:solidFill>
              <a:srgbClr val="FFFFFF"/>
            </a:solidFill>
            <a:prstDash val="solid"/>
          </a:ln>
        </p:spPr>
      </p:sp>
      <p:sp>
        <p:nvSpPr>
          <p:cNvPr id="10" name="Text 8"/>
          <p:cNvSpPr/>
          <p:nvPr/>
        </p:nvSpPr>
        <p:spPr>
          <a:xfrm>
            <a:off x="786384" y="1920240"/>
            <a:ext cx="3246120" cy="310896"/>
          </a:xfrm>
          <a:prstGeom prst="rect">
            <a:avLst/>
          </a:prstGeom>
          <a:noFill/>
          <a:ln/>
        </p:spPr>
        <p:txBody>
          <a:bodyPr wrap="square" lIns="0" tIns="0" rIns="0" bIns="0" rtlCol="0" anchor="ctr">
            <a:normAutofit/>
          </a:bodyPr>
          <a:lstStyle/>
          <a:p>
            <a:pPr indent="0" marL="0">
              <a:buNone/>
            </a:pPr>
            <a:r>
              <a:rPr lang="en-US" sz="2000" b="1" dirty="0">
                <a:solidFill>
                  <a:srgbClr val="15233B"/>
                </a:solidFill>
                <a:latin typeface="Aptos" pitchFamily="34" charset="0"/>
                <a:ea typeface="Aptos" pitchFamily="34" charset="-122"/>
                <a:cs typeface="Aptos" pitchFamily="34" charset="-120"/>
              </a:rPr>
              <a:t>PCA</a:t>
            </a:r>
            <a:endParaRPr lang="en-US" sz="2000" dirty="0"/>
          </a:p>
        </p:txBody>
      </p:sp>
      <p:pic>
        <p:nvPicPr>
          <p:cNvPr id="11" name="Image 0" descr="/mnt/data/unsup_rebuild_v3/assets/pca.png">    </p:cNvPr>
          <p:cNvPicPr>
            <a:picLocks noChangeAspect="1"/>
          </p:cNvPicPr>
          <p:nvPr/>
        </p:nvPicPr>
        <p:blipFill>
          <a:blip r:embed="rId1"/>
          <a:stretch>
            <a:fillRect/>
          </a:stretch>
        </p:blipFill>
        <p:spPr>
          <a:xfrm>
            <a:off x="841248" y="2340864"/>
            <a:ext cx="3182112" cy="2551176"/>
          </a:xfrm>
          <a:prstGeom prst="rect">
            <a:avLst/>
          </a:prstGeom>
        </p:spPr>
      </p:pic>
      <p:sp>
        <p:nvSpPr>
          <p:cNvPr id="12" name="Text 9"/>
          <p:cNvSpPr/>
          <p:nvPr/>
        </p:nvSpPr>
        <p:spPr>
          <a:xfrm>
            <a:off x="804672" y="5093208"/>
            <a:ext cx="3337560" cy="292608"/>
          </a:xfrm>
          <a:prstGeom prst="rect">
            <a:avLst/>
          </a:prstGeom>
          <a:noFill/>
          <a:ln/>
        </p:spPr>
        <p:txBody>
          <a:bodyPr wrap="square" lIns="0" tIns="0" rIns="0" bIns="0" rtlCol="0" anchor="ctr">
            <a:normAutofit/>
          </a:bodyPr>
          <a:lstStyle/>
          <a:p>
            <a:pPr algn="ctr" indent="0" marL="0">
              <a:buNone/>
            </a:pPr>
            <a:r>
              <a:rPr lang="en-US" sz="900" b="1" dirty="0">
                <a:solidFill>
                  <a:srgbClr val="087F8C"/>
                </a:solidFill>
                <a:latin typeface="Aptos" pitchFamily="34" charset="0"/>
                <a:ea typeface="Aptos" pitchFamily="34" charset="-122"/>
                <a:cs typeface="Aptos" pitchFamily="34" charset="-120"/>
              </a:rPr>
              <a:t>LINEAR / GLOBAL VARIANCE</a:t>
            </a:r>
            <a:endParaRPr lang="en-US" sz="900" dirty="0"/>
          </a:p>
        </p:txBody>
      </p:sp>
      <p:sp>
        <p:nvSpPr>
          <p:cNvPr id="13" name="Shape 10"/>
          <p:cNvSpPr/>
          <p:nvPr/>
        </p:nvSpPr>
        <p:spPr>
          <a:xfrm>
            <a:off x="4462272" y="1755648"/>
            <a:ext cx="3639312" cy="3858768"/>
          </a:xfrm>
          <a:prstGeom prst="roundRect">
            <a:avLst>
              <a:gd name="adj" fmla="val 3769"/>
            </a:avLst>
          </a:prstGeom>
          <a:solidFill>
            <a:srgbClr val="FFFFFF"/>
          </a:solidFill>
          <a:ln w="12700">
            <a:solidFill>
              <a:srgbClr val="FFFFFF"/>
            </a:solidFill>
            <a:prstDash val="solid"/>
          </a:ln>
        </p:spPr>
      </p:sp>
      <p:sp>
        <p:nvSpPr>
          <p:cNvPr id="14" name="Text 11"/>
          <p:cNvSpPr/>
          <p:nvPr/>
        </p:nvSpPr>
        <p:spPr>
          <a:xfrm>
            <a:off x="4626864" y="1920240"/>
            <a:ext cx="3246120" cy="310896"/>
          </a:xfrm>
          <a:prstGeom prst="rect">
            <a:avLst/>
          </a:prstGeom>
          <a:noFill/>
          <a:ln/>
        </p:spPr>
        <p:txBody>
          <a:bodyPr wrap="square" lIns="0" tIns="0" rIns="0" bIns="0" rtlCol="0" anchor="ctr">
            <a:normAutofit/>
          </a:bodyPr>
          <a:lstStyle/>
          <a:p>
            <a:pPr indent="0" marL="0">
              <a:buNone/>
            </a:pPr>
            <a:r>
              <a:rPr lang="en-US" sz="2000" b="1" dirty="0">
                <a:solidFill>
                  <a:srgbClr val="15233B"/>
                </a:solidFill>
                <a:latin typeface="Aptos" pitchFamily="34" charset="0"/>
                <a:ea typeface="Aptos" pitchFamily="34" charset="-122"/>
                <a:cs typeface="Aptos" pitchFamily="34" charset="-120"/>
              </a:rPr>
              <a:t>t-SNE</a:t>
            </a:r>
            <a:endParaRPr lang="en-US" sz="2000" dirty="0"/>
          </a:p>
        </p:txBody>
      </p:sp>
      <p:pic>
        <p:nvPicPr>
          <p:cNvPr id="15" name="Image 1" descr="/mnt/data/unsup_rebuild_v3/assets/tsne.png">    </p:cNvPr>
          <p:cNvPicPr>
            <a:picLocks noChangeAspect="1"/>
          </p:cNvPicPr>
          <p:nvPr/>
        </p:nvPicPr>
        <p:blipFill>
          <a:blip r:embed="rId2"/>
          <a:stretch>
            <a:fillRect/>
          </a:stretch>
        </p:blipFill>
        <p:spPr>
          <a:xfrm>
            <a:off x="4681728" y="2340864"/>
            <a:ext cx="3182112" cy="2551176"/>
          </a:xfrm>
          <a:prstGeom prst="rect">
            <a:avLst/>
          </a:prstGeom>
        </p:spPr>
      </p:pic>
      <p:sp>
        <p:nvSpPr>
          <p:cNvPr id="16" name="Text 12"/>
          <p:cNvSpPr/>
          <p:nvPr/>
        </p:nvSpPr>
        <p:spPr>
          <a:xfrm>
            <a:off x="4645152" y="5093208"/>
            <a:ext cx="3337560" cy="292608"/>
          </a:xfrm>
          <a:prstGeom prst="rect">
            <a:avLst/>
          </a:prstGeom>
          <a:noFill/>
          <a:ln/>
        </p:spPr>
        <p:txBody>
          <a:bodyPr wrap="square" lIns="0" tIns="0" rIns="0" bIns="0" rtlCol="0" anchor="ctr">
            <a:normAutofit/>
          </a:bodyPr>
          <a:lstStyle/>
          <a:p>
            <a:pPr algn="ctr" indent="0" marL="0">
              <a:buNone/>
            </a:pPr>
            <a:r>
              <a:rPr lang="en-US" sz="900" b="1" dirty="0">
                <a:solidFill>
                  <a:srgbClr val="087F8C"/>
                </a:solidFill>
                <a:latin typeface="Aptos" pitchFamily="34" charset="0"/>
                <a:ea typeface="Aptos" pitchFamily="34" charset="-122"/>
                <a:cs typeface="Aptos" pitchFamily="34" charset="-120"/>
              </a:rPr>
              <a:t>LOCAL NEIGHBORHOODS</a:t>
            </a:r>
            <a:endParaRPr lang="en-US" sz="900" dirty="0"/>
          </a:p>
        </p:txBody>
      </p:sp>
      <p:sp>
        <p:nvSpPr>
          <p:cNvPr id="17" name="Shape 13"/>
          <p:cNvSpPr/>
          <p:nvPr/>
        </p:nvSpPr>
        <p:spPr>
          <a:xfrm>
            <a:off x="8302752" y="1755648"/>
            <a:ext cx="3639312" cy="3858768"/>
          </a:xfrm>
          <a:prstGeom prst="roundRect">
            <a:avLst>
              <a:gd name="adj" fmla="val 3769"/>
            </a:avLst>
          </a:prstGeom>
          <a:solidFill>
            <a:srgbClr val="FFFFFF"/>
          </a:solidFill>
          <a:ln w="12700">
            <a:solidFill>
              <a:srgbClr val="FFFFFF"/>
            </a:solidFill>
            <a:prstDash val="solid"/>
          </a:ln>
        </p:spPr>
      </p:sp>
      <p:sp>
        <p:nvSpPr>
          <p:cNvPr id="18" name="Text 14"/>
          <p:cNvSpPr/>
          <p:nvPr/>
        </p:nvSpPr>
        <p:spPr>
          <a:xfrm>
            <a:off x="8467344" y="1920240"/>
            <a:ext cx="3246120" cy="310896"/>
          </a:xfrm>
          <a:prstGeom prst="rect">
            <a:avLst/>
          </a:prstGeom>
          <a:noFill/>
          <a:ln/>
        </p:spPr>
        <p:txBody>
          <a:bodyPr wrap="square" lIns="0" tIns="0" rIns="0" bIns="0" rtlCol="0" anchor="ctr">
            <a:normAutofit/>
          </a:bodyPr>
          <a:lstStyle/>
          <a:p>
            <a:pPr indent="0" marL="0">
              <a:buNone/>
            </a:pPr>
            <a:r>
              <a:rPr lang="en-US" sz="2000" b="1" dirty="0">
                <a:solidFill>
                  <a:srgbClr val="15233B"/>
                </a:solidFill>
                <a:latin typeface="Aptos" pitchFamily="34" charset="0"/>
                <a:ea typeface="Aptos" pitchFamily="34" charset="-122"/>
                <a:cs typeface="Aptos" pitchFamily="34" charset="-120"/>
              </a:rPr>
              <a:t>UMAP</a:t>
            </a:r>
            <a:endParaRPr lang="en-US" sz="2000" dirty="0"/>
          </a:p>
        </p:txBody>
      </p:sp>
      <p:pic>
        <p:nvPicPr>
          <p:cNvPr id="19" name="Image 2" descr="/mnt/data/unsup_rebuild_v3/assets/umap_schematic.png">    </p:cNvPr>
          <p:cNvPicPr>
            <a:picLocks noChangeAspect="1"/>
          </p:cNvPicPr>
          <p:nvPr/>
        </p:nvPicPr>
        <p:blipFill>
          <a:blip r:embed="rId3"/>
          <a:stretch>
            <a:fillRect/>
          </a:stretch>
        </p:blipFill>
        <p:spPr>
          <a:xfrm>
            <a:off x="8522208" y="2340864"/>
            <a:ext cx="3182112" cy="2551176"/>
          </a:xfrm>
          <a:prstGeom prst="rect">
            <a:avLst/>
          </a:prstGeom>
        </p:spPr>
      </p:pic>
      <p:sp>
        <p:nvSpPr>
          <p:cNvPr id="20" name="Text 15"/>
          <p:cNvSpPr/>
          <p:nvPr/>
        </p:nvSpPr>
        <p:spPr>
          <a:xfrm>
            <a:off x="8485632" y="5093208"/>
            <a:ext cx="3337560" cy="292608"/>
          </a:xfrm>
          <a:prstGeom prst="rect">
            <a:avLst/>
          </a:prstGeom>
          <a:noFill/>
          <a:ln/>
        </p:spPr>
        <p:txBody>
          <a:bodyPr wrap="square" lIns="0" tIns="0" rIns="0" bIns="0" rtlCol="0" anchor="ctr">
            <a:normAutofit/>
          </a:bodyPr>
          <a:lstStyle/>
          <a:p>
            <a:pPr algn="ctr" indent="0" marL="0">
              <a:buNone/>
            </a:pPr>
            <a:r>
              <a:rPr lang="en-US" sz="900" b="1" dirty="0">
                <a:solidFill>
                  <a:srgbClr val="E76C60"/>
                </a:solidFill>
                <a:latin typeface="Aptos" pitchFamily="34" charset="0"/>
                <a:ea typeface="Aptos" pitchFamily="34" charset="-122"/>
                <a:cs typeface="Aptos" pitchFamily="34" charset="-120"/>
              </a:rPr>
              <a:t>LOCAL GRAPH + BROADER TOPOLOGY</a:t>
            </a:r>
            <a:endParaRPr lang="en-US" sz="900" dirty="0"/>
          </a:p>
        </p:txBody>
      </p:sp>
      <p:sp>
        <p:nvSpPr>
          <p:cNvPr id="21" name="Text 16"/>
          <p:cNvSpPr/>
          <p:nvPr/>
        </p:nvSpPr>
        <p:spPr>
          <a:xfrm>
            <a:off x="740664" y="5724144"/>
            <a:ext cx="10881360" cy="301752"/>
          </a:xfrm>
          <a:prstGeom prst="rect">
            <a:avLst/>
          </a:prstGeom>
          <a:noFill/>
          <a:ln/>
        </p:spPr>
        <p:txBody>
          <a:bodyPr wrap="square" lIns="0" tIns="0" rIns="0" bIns="0" rtlCol="0" anchor="ctr">
            <a:normAutofit/>
          </a:bodyPr>
          <a:lstStyle/>
          <a:p>
            <a:pPr indent="0" marL="0">
              <a:buNone/>
            </a:pPr>
            <a:r>
              <a:rPr lang="en-US" sz="1000" dirty="0">
                <a:solidFill>
                  <a:srgbClr val="58667B"/>
                </a:solidFill>
                <a:latin typeface="Aptos" pitchFamily="34" charset="0"/>
                <a:ea typeface="Aptos" pitchFamily="34" charset="-122"/>
                <a:cs typeface="Aptos" pitchFamily="34" charset="-120"/>
              </a:rPr>
              <a:t>PCA and t-SNE: computed embeddings of synthetic data. UMAP: labeled conceptual graph schematic (not a fitted embedding).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DIMENSIONALITY REDUCTION</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How to interpret UMAP responsibly</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Graph structure is informative; visual distance is not a guaranteed business metric.</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16</a:t>
            </a:r>
            <a:endParaRPr lang="en-US" sz="900" dirty="0"/>
          </a:p>
        </p:txBody>
      </p:sp>
      <p:pic>
        <p:nvPicPr>
          <p:cNvPr id="9" name="Image 0" descr="/mnt/data/unsup_rebuild_v3/assets/umap_schematic.png">    </p:cNvPr>
          <p:cNvPicPr>
            <a:picLocks noChangeAspect="1"/>
          </p:cNvPicPr>
          <p:nvPr/>
        </p:nvPicPr>
        <p:blipFill>
          <a:blip r:embed="rId1"/>
          <a:stretch>
            <a:fillRect/>
          </a:stretch>
        </p:blipFill>
        <p:spPr>
          <a:xfrm>
            <a:off x="676656" y="1673352"/>
            <a:ext cx="6080760" cy="4105656"/>
          </a:xfrm>
          <a:prstGeom prst="rect">
            <a:avLst/>
          </a:prstGeom>
        </p:spPr>
      </p:pic>
      <p:sp>
        <p:nvSpPr>
          <p:cNvPr id="10" name="Shape 7"/>
          <p:cNvSpPr/>
          <p:nvPr/>
        </p:nvSpPr>
        <p:spPr>
          <a:xfrm>
            <a:off x="7013448" y="1746504"/>
            <a:ext cx="4416552" cy="3593592"/>
          </a:xfrm>
          <a:prstGeom prst="roundRect">
            <a:avLst>
              <a:gd name="adj" fmla="val 3817"/>
            </a:avLst>
          </a:prstGeom>
          <a:solidFill>
            <a:srgbClr val="FFFFFF"/>
          </a:solidFill>
          <a:ln w="12700">
            <a:solidFill>
              <a:srgbClr val="FFFFFF"/>
            </a:solidFill>
            <a:prstDash val="solid"/>
          </a:ln>
        </p:spPr>
      </p:sp>
      <p:sp>
        <p:nvSpPr>
          <p:cNvPr id="11" name="Shape 8"/>
          <p:cNvSpPr/>
          <p:nvPr/>
        </p:nvSpPr>
        <p:spPr>
          <a:xfrm>
            <a:off x="7013448" y="1746504"/>
            <a:ext cx="59436" cy="3593592"/>
          </a:xfrm>
          <a:prstGeom prst="rect">
            <a:avLst/>
          </a:prstGeom>
          <a:solidFill>
            <a:srgbClr val="087F8C"/>
          </a:solidFill>
          <a:ln w="12700">
            <a:solidFill>
              <a:srgbClr val="087F8C"/>
            </a:solidFill>
            <a:prstDash val="solid"/>
          </a:ln>
        </p:spPr>
      </p:sp>
      <p:sp>
        <p:nvSpPr>
          <p:cNvPr id="12" name="Text 9"/>
          <p:cNvSpPr/>
          <p:nvPr/>
        </p:nvSpPr>
        <p:spPr>
          <a:xfrm>
            <a:off x="7214616" y="1911096"/>
            <a:ext cx="4050792"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READ THIS VISUAL</a:t>
            </a:r>
            <a:endParaRPr lang="en-US" sz="1700" dirty="0"/>
          </a:p>
        </p:txBody>
      </p:sp>
      <p:sp>
        <p:nvSpPr>
          <p:cNvPr id="13" name="Text 10"/>
          <p:cNvSpPr/>
          <p:nvPr/>
        </p:nvSpPr>
        <p:spPr>
          <a:xfrm>
            <a:off x="7214616" y="2432304"/>
            <a:ext cx="4005072" cy="2816352"/>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Local links: nearest-neighbor relations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Nearby clusters: possible shared structure</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Distant clusters: do not assume proportional original-space distances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n_neighbors and min_dist change the view</a:t>
            </a:r>
            <a:endParaRPr lang="en-US" sz="1200" dirty="0"/>
          </a:p>
        </p:txBody>
      </p:sp>
      <p:sp>
        <p:nvSpPr>
          <p:cNvPr id="14" name="Shape 11"/>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5" name="Text 12"/>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UMAP is nonlinear and graph-based; neither topology nor global distances are perfectly preserved.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ASSOCIATION RULES</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Market-basket analysis discovers co-occurrence</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Transactions—not class labels—are the starting point.</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17</a:t>
            </a:r>
            <a:endParaRPr lang="en-US" sz="900" dirty="0"/>
          </a:p>
        </p:txBody>
      </p:sp>
      <p:sp>
        <p:nvSpPr>
          <p:cNvPr id="9" name="Text 7"/>
          <p:cNvSpPr/>
          <p:nvPr/>
        </p:nvSpPr>
        <p:spPr>
          <a:xfrm>
            <a:off x="713232" y="1755648"/>
            <a:ext cx="2029968" cy="384048"/>
          </a:xfrm>
          <a:prstGeom prst="rect">
            <a:avLst/>
          </a:prstGeom>
          <a:noFill/>
          <a:ln/>
        </p:spPr>
        <p:txBody>
          <a:bodyPr wrap="square" lIns="0" tIns="0" rIns="0" bIns="0" rtlCol="0" anchor="ctr">
            <a:normAutofit/>
          </a:bodyPr>
          <a:lstStyle/>
          <a:p>
            <a:pPr algn="ctr" indent="0" marL="0">
              <a:buNone/>
            </a:pPr>
            <a:r>
              <a:rPr lang="en-US" sz="1100" b="1" dirty="0">
                <a:solidFill>
                  <a:srgbClr val="087F8C"/>
                </a:solidFill>
                <a:latin typeface="Aptos" pitchFamily="34" charset="0"/>
                <a:ea typeface="Aptos" pitchFamily="34" charset="-122"/>
                <a:cs typeface="Aptos" pitchFamily="34" charset="-120"/>
              </a:rPr>
              <a:t>TRANSACTION</a:t>
            </a:r>
            <a:endParaRPr lang="en-US" sz="1100" dirty="0"/>
          </a:p>
        </p:txBody>
      </p:sp>
      <p:sp>
        <p:nvSpPr>
          <p:cNvPr id="10" name="Text 8"/>
          <p:cNvSpPr/>
          <p:nvPr/>
        </p:nvSpPr>
        <p:spPr>
          <a:xfrm>
            <a:off x="2852928" y="1755648"/>
            <a:ext cx="2029968" cy="384048"/>
          </a:xfrm>
          <a:prstGeom prst="rect">
            <a:avLst/>
          </a:prstGeom>
          <a:noFill/>
          <a:ln/>
        </p:spPr>
        <p:txBody>
          <a:bodyPr wrap="square" lIns="0" tIns="0" rIns="0" bIns="0" rtlCol="0" anchor="ctr">
            <a:normAutofit/>
          </a:bodyPr>
          <a:lstStyle/>
          <a:p>
            <a:pPr algn="ctr" indent="0" marL="0">
              <a:buNone/>
            </a:pPr>
            <a:r>
              <a:rPr lang="en-US" sz="1100" b="1" dirty="0">
                <a:solidFill>
                  <a:srgbClr val="087F8C"/>
                </a:solidFill>
                <a:latin typeface="Aptos" pitchFamily="34" charset="0"/>
                <a:ea typeface="Aptos" pitchFamily="34" charset="-122"/>
                <a:cs typeface="Aptos" pitchFamily="34" charset="-120"/>
              </a:rPr>
              <a:t>BREAD</a:t>
            </a:r>
            <a:endParaRPr lang="en-US" sz="1100" dirty="0"/>
          </a:p>
        </p:txBody>
      </p:sp>
      <p:sp>
        <p:nvSpPr>
          <p:cNvPr id="11" name="Text 9"/>
          <p:cNvSpPr/>
          <p:nvPr/>
        </p:nvSpPr>
        <p:spPr>
          <a:xfrm>
            <a:off x="4992624" y="1755648"/>
            <a:ext cx="2029968" cy="384048"/>
          </a:xfrm>
          <a:prstGeom prst="rect">
            <a:avLst/>
          </a:prstGeom>
          <a:noFill/>
          <a:ln/>
        </p:spPr>
        <p:txBody>
          <a:bodyPr wrap="square" lIns="0" tIns="0" rIns="0" bIns="0" rtlCol="0" anchor="ctr">
            <a:normAutofit/>
          </a:bodyPr>
          <a:lstStyle/>
          <a:p>
            <a:pPr algn="ctr" indent="0" marL="0">
              <a:buNone/>
            </a:pPr>
            <a:r>
              <a:rPr lang="en-US" sz="1100" b="1" dirty="0">
                <a:solidFill>
                  <a:srgbClr val="087F8C"/>
                </a:solidFill>
                <a:latin typeface="Aptos" pitchFamily="34" charset="0"/>
                <a:ea typeface="Aptos" pitchFamily="34" charset="-122"/>
                <a:cs typeface="Aptos" pitchFamily="34" charset="-120"/>
              </a:rPr>
              <a:t>MILK</a:t>
            </a:r>
            <a:endParaRPr lang="en-US" sz="1100" dirty="0"/>
          </a:p>
        </p:txBody>
      </p:sp>
      <p:sp>
        <p:nvSpPr>
          <p:cNvPr id="12" name="Text 10"/>
          <p:cNvSpPr/>
          <p:nvPr/>
        </p:nvSpPr>
        <p:spPr>
          <a:xfrm>
            <a:off x="7132320" y="1755648"/>
            <a:ext cx="2029968" cy="384048"/>
          </a:xfrm>
          <a:prstGeom prst="rect">
            <a:avLst/>
          </a:prstGeom>
          <a:noFill/>
          <a:ln/>
        </p:spPr>
        <p:txBody>
          <a:bodyPr wrap="square" lIns="0" tIns="0" rIns="0" bIns="0" rtlCol="0" anchor="ctr">
            <a:normAutofit/>
          </a:bodyPr>
          <a:lstStyle/>
          <a:p>
            <a:pPr algn="ctr" indent="0" marL="0">
              <a:buNone/>
            </a:pPr>
            <a:r>
              <a:rPr lang="en-US" sz="1100" b="1" dirty="0">
                <a:solidFill>
                  <a:srgbClr val="087F8C"/>
                </a:solidFill>
                <a:latin typeface="Aptos" pitchFamily="34" charset="0"/>
                <a:ea typeface="Aptos" pitchFamily="34" charset="-122"/>
                <a:cs typeface="Aptos" pitchFamily="34" charset="-120"/>
              </a:rPr>
              <a:t>BUTTER</a:t>
            </a:r>
            <a:endParaRPr lang="en-US" sz="1100" dirty="0"/>
          </a:p>
        </p:txBody>
      </p:sp>
      <p:sp>
        <p:nvSpPr>
          <p:cNvPr id="13" name="Text 11"/>
          <p:cNvSpPr/>
          <p:nvPr/>
        </p:nvSpPr>
        <p:spPr>
          <a:xfrm>
            <a:off x="9272016" y="1755648"/>
            <a:ext cx="2029968" cy="384048"/>
          </a:xfrm>
          <a:prstGeom prst="rect">
            <a:avLst/>
          </a:prstGeom>
          <a:noFill/>
          <a:ln/>
        </p:spPr>
        <p:txBody>
          <a:bodyPr wrap="square" lIns="0" tIns="0" rIns="0" bIns="0" rtlCol="0" anchor="ctr">
            <a:normAutofit/>
          </a:bodyPr>
          <a:lstStyle/>
          <a:p>
            <a:pPr algn="ctr" indent="0" marL="0">
              <a:buNone/>
            </a:pPr>
            <a:r>
              <a:rPr lang="en-US" sz="1100" b="1" dirty="0">
                <a:solidFill>
                  <a:srgbClr val="087F8C"/>
                </a:solidFill>
                <a:latin typeface="Aptos" pitchFamily="34" charset="0"/>
                <a:ea typeface="Aptos" pitchFamily="34" charset="-122"/>
                <a:cs typeface="Aptos" pitchFamily="34" charset="-120"/>
              </a:rPr>
              <a:t>EGGS</a:t>
            </a:r>
            <a:endParaRPr lang="en-US" sz="1100" dirty="0"/>
          </a:p>
        </p:txBody>
      </p:sp>
      <p:sp>
        <p:nvSpPr>
          <p:cNvPr id="14" name="Shape 12"/>
          <p:cNvSpPr/>
          <p:nvPr/>
        </p:nvSpPr>
        <p:spPr>
          <a:xfrm>
            <a:off x="658368" y="2249424"/>
            <a:ext cx="10890504" cy="557784"/>
          </a:xfrm>
          <a:prstGeom prst="roundRect">
            <a:avLst>
              <a:gd name="adj" fmla="val 24590"/>
            </a:avLst>
          </a:prstGeom>
          <a:solidFill>
            <a:srgbClr val="EDF1F6"/>
          </a:solidFill>
          <a:ln w="12700">
            <a:solidFill>
              <a:srgbClr val="EDF1F6"/>
            </a:solidFill>
            <a:prstDash val="solid"/>
          </a:ln>
        </p:spPr>
      </p:sp>
      <p:sp>
        <p:nvSpPr>
          <p:cNvPr id="15" name="Text 13"/>
          <p:cNvSpPr/>
          <p:nvPr/>
        </p:nvSpPr>
        <p:spPr>
          <a:xfrm>
            <a:off x="731520" y="2304288"/>
            <a:ext cx="2011680" cy="393192"/>
          </a:xfrm>
          <a:prstGeom prst="rect">
            <a:avLst/>
          </a:prstGeom>
          <a:noFill/>
          <a:ln/>
        </p:spPr>
        <p:txBody>
          <a:bodyPr wrap="square" lIns="0" tIns="0" rIns="0" bIns="0" rtlCol="0" anchor="ctr">
            <a:normAutofit/>
          </a:bodyPr>
          <a:lstStyle/>
          <a:p>
            <a:pPr algn="ctr" indent="0" marL="0">
              <a:buNone/>
            </a:pPr>
            <a:r>
              <a:rPr lang="en-US" sz="1300" b="1" dirty="0">
                <a:solidFill>
                  <a:srgbClr val="15233B"/>
                </a:solidFill>
                <a:latin typeface="Aptos" pitchFamily="34" charset="0"/>
                <a:ea typeface="Aptos" pitchFamily="34" charset="-122"/>
                <a:cs typeface="Aptos" pitchFamily="34" charset="-120"/>
              </a:rPr>
              <a:t>T1</a:t>
            </a:r>
            <a:endParaRPr lang="en-US" sz="1300" dirty="0"/>
          </a:p>
        </p:txBody>
      </p:sp>
      <p:sp>
        <p:nvSpPr>
          <p:cNvPr id="16" name="Text 14"/>
          <p:cNvSpPr/>
          <p:nvPr/>
        </p:nvSpPr>
        <p:spPr>
          <a:xfrm>
            <a:off x="2871216" y="2304288"/>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17" name="Text 15"/>
          <p:cNvSpPr/>
          <p:nvPr/>
        </p:nvSpPr>
        <p:spPr>
          <a:xfrm>
            <a:off x="5010912" y="2304288"/>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18" name="Text 16"/>
          <p:cNvSpPr/>
          <p:nvPr/>
        </p:nvSpPr>
        <p:spPr>
          <a:xfrm>
            <a:off x="7150608" y="2304288"/>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19" name="Text 17"/>
          <p:cNvSpPr/>
          <p:nvPr/>
        </p:nvSpPr>
        <p:spPr>
          <a:xfrm>
            <a:off x="9290304" y="2304288"/>
            <a:ext cx="2011680" cy="393192"/>
          </a:xfrm>
          <a:prstGeom prst="rect">
            <a:avLst/>
          </a:prstGeom>
          <a:noFill/>
          <a:ln/>
        </p:spPr>
        <p:txBody>
          <a:bodyPr wrap="square" lIns="0" tIns="0" rIns="0" bIns="0" rtlCol="0" anchor="ctr">
            <a:normAutofit/>
          </a:bodyPr>
          <a:lstStyle/>
          <a:p>
            <a:pPr algn="ctr" indent="0" marL="0">
              <a:buNone/>
            </a:pPr>
            <a:endParaRPr lang="en-US" sz="2000" dirty="0"/>
          </a:p>
        </p:txBody>
      </p:sp>
      <p:sp>
        <p:nvSpPr>
          <p:cNvPr id="20" name="Shape 18"/>
          <p:cNvSpPr/>
          <p:nvPr/>
        </p:nvSpPr>
        <p:spPr>
          <a:xfrm>
            <a:off x="658368" y="2898648"/>
            <a:ext cx="10890504" cy="557784"/>
          </a:xfrm>
          <a:prstGeom prst="roundRect">
            <a:avLst>
              <a:gd name="adj" fmla="val 24590"/>
            </a:avLst>
          </a:prstGeom>
          <a:solidFill>
            <a:srgbClr val="FFFFFF"/>
          </a:solidFill>
          <a:ln w="12700">
            <a:solidFill>
              <a:srgbClr val="FFFFFF"/>
            </a:solidFill>
            <a:prstDash val="solid"/>
          </a:ln>
        </p:spPr>
      </p:sp>
      <p:sp>
        <p:nvSpPr>
          <p:cNvPr id="21" name="Text 19"/>
          <p:cNvSpPr/>
          <p:nvPr/>
        </p:nvSpPr>
        <p:spPr>
          <a:xfrm>
            <a:off x="731520" y="2953512"/>
            <a:ext cx="2011680" cy="393192"/>
          </a:xfrm>
          <a:prstGeom prst="rect">
            <a:avLst/>
          </a:prstGeom>
          <a:noFill/>
          <a:ln/>
        </p:spPr>
        <p:txBody>
          <a:bodyPr wrap="square" lIns="0" tIns="0" rIns="0" bIns="0" rtlCol="0" anchor="ctr">
            <a:normAutofit/>
          </a:bodyPr>
          <a:lstStyle/>
          <a:p>
            <a:pPr algn="ctr" indent="0" marL="0">
              <a:buNone/>
            </a:pPr>
            <a:r>
              <a:rPr lang="en-US" sz="1300" b="1" dirty="0">
                <a:solidFill>
                  <a:srgbClr val="15233B"/>
                </a:solidFill>
                <a:latin typeface="Aptos" pitchFamily="34" charset="0"/>
                <a:ea typeface="Aptos" pitchFamily="34" charset="-122"/>
                <a:cs typeface="Aptos" pitchFamily="34" charset="-120"/>
              </a:rPr>
              <a:t>T2</a:t>
            </a:r>
            <a:endParaRPr lang="en-US" sz="1300" dirty="0"/>
          </a:p>
        </p:txBody>
      </p:sp>
      <p:sp>
        <p:nvSpPr>
          <p:cNvPr id="22" name="Text 20"/>
          <p:cNvSpPr/>
          <p:nvPr/>
        </p:nvSpPr>
        <p:spPr>
          <a:xfrm>
            <a:off x="2871216" y="2953512"/>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23" name="Text 21"/>
          <p:cNvSpPr/>
          <p:nvPr/>
        </p:nvSpPr>
        <p:spPr>
          <a:xfrm>
            <a:off x="5010912" y="2953512"/>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24" name="Text 22"/>
          <p:cNvSpPr/>
          <p:nvPr/>
        </p:nvSpPr>
        <p:spPr>
          <a:xfrm>
            <a:off x="7150608" y="2953512"/>
            <a:ext cx="2011680" cy="393192"/>
          </a:xfrm>
          <a:prstGeom prst="rect">
            <a:avLst/>
          </a:prstGeom>
          <a:noFill/>
          <a:ln/>
        </p:spPr>
        <p:txBody>
          <a:bodyPr wrap="square" lIns="0" tIns="0" rIns="0" bIns="0" rtlCol="0" anchor="ctr">
            <a:normAutofit/>
          </a:bodyPr>
          <a:lstStyle/>
          <a:p>
            <a:pPr algn="ctr" indent="0" marL="0">
              <a:buNone/>
            </a:pPr>
            <a:endParaRPr lang="en-US" sz="2000" dirty="0"/>
          </a:p>
        </p:txBody>
      </p:sp>
      <p:sp>
        <p:nvSpPr>
          <p:cNvPr id="25" name="Text 23"/>
          <p:cNvSpPr/>
          <p:nvPr/>
        </p:nvSpPr>
        <p:spPr>
          <a:xfrm>
            <a:off x="9290304" y="2953512"/>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26" name="Shape 24"/>
          <p:cNvSpPr/>
          <p:nvPr/>
        </p:nvSpPr>
        <p:spPr>
          <a:xfrm>
            <a:off x="658368" y="3547872"/>
            <a:ext cx="10890504" cy="557784"/>
          </a:xfrm>
          <a:prstGeom prst="roundRect">
            <a:avLst>
              <a:gd name="adj" fmla="val 24590"/>
            </a:avLst>
          </a:prstGeom>
          <a:solidFill>
            <a:srgbClr val="EDF1F6"/>
          </a:solidFill>
          <a:ln w="12700">
            <a:solidFill>
              <a:srgbClr val="EDF1F6"/>
            </a:solidFill>
            <a:prstDash val="solid"/>
          </a:ln>
        </p:spPr>
      </p:sp>
      <p:sp>
        <p:nvSpPr>
          <p:cNvPr id="27" name="Text 25"/>
          <p:cNvSpPr/>
          <p:nvPr/>
        </p:nvSpPr>
        <p:spPr>
          <a:xfrm>
            <a:off x="731520" y="3602736"/>
            <a:ext cx="2011680" cy="393192"/>
          </a:xfrm>
          <a:prstGeom prst="rect">
            <a:avLst/>
          </a:prstGeom>
          <a:noFill/>
          <a:ln/>
        </p:spPr>
        <p:txBody>
          <a:bodyPr wrap="square" lIns="0" tIns="0" rIns="0" bIns="0" rtlCol="0" anchor="ctr">
            <a:normAutofit/>
          </a:bodyPr>
          <a:lstStyle/>
          <a:p>
            <a:pPr algn="ctr" indent="0" marL="0">
              <a:buNone/>
            </a:pPr>
            <a:r>
              <a:rPr lang="en-US" sz="1300" b="1" dirty="0">
                <a:solidFill>
                  <a:srgbClr val="15233B"/>
                </a:solidFill>
                <a:latin typeface="Aptos" pitchFamily="34" charset="0"/>
                <a:ea typeface="Aptos" pitchFamily="34" charset="-122"/>
                <a:cs typeface="Aptos" pitchFamily="34" charset="-120"/>
              </a:rPr>
              <a:t>T3</a:t>
            </a:r>
            <a:endParaRPr lang="en-US" sz="1300" dirty="0"/>
          </a:p>
        </p:txBody>
      </p:sp>
      <p:sp>
        <p:nvSpPr>
          <p:cNvPr id="28" name="Text 26"/>
          <p:cNvSpPr/>
          <p:nvPr/>
        </p:nvSpPr>
        <p:spPr>
          <a:xfrm>
            <a:off x="2871216" y="3602736"/>
            <a:ext cx="2011680" cy="393192"/>
          </a:xfrm>
          <a:prstGeom prst="rect">
            <a:avLst/>
          </a:prstGeom>
          <a:noFill/>
          <a:ln/>
        </p:spPr>
        <p:txBody>
          <a:bodyPr wrap="square" lIns="0" tIns="0" rIns="0" bIns="0" rtlCol="0" anchor="ctr">
            <a:normAutofit/>
          </a:bodyPr>
          <a:lstStyle/>
          <a:p>
            <a:pPr algn="ctr" indent="0" marL="0">
              <a:buNone/>
            </a:pPr>
            <a:endParaRPr lang="en-US" sz="2000" dirty="0"/>
          </a:p>
        </p:txBody>
      </p:sp>
      <p:sp>
        <p:nvSpPr>
          <p:cNvPr id="29" name="Text 27"/>
          <p:cNvSpPr/>
          <p:nvPr/>
        </p:nvSpPr>
        <p:spPr>
          <a:xfrm>
            <a:off x="5010912" y="3602736"/>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30" name="Text 28"/>
          <p:cNvSpPr/>
          <p:nvPr/>
        </p:nvSpPr>
        <p:spPr>
          <a:xfrm>
            <a:off x="7150608" y="3602736"/>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31" name="Text 29"/>
          <p:cNvSpPr/>
          <p:nvPr/>
        </p:nvSpPr>
        <p:spPr>
          <a:xfrm>
            <a:off x="9290304" y="3602736"/>
            <a:ext cx="2011680" cy="393192"/>
          </a:xfrm>
          <a:prstGeom prst="rect">
            <a:avLst/>
          </a:prstGeom>
          <a:noFill/>
          <a:ln/>
        </p:spPr>
        <p:txBody>
          <a:bodyPr wrap="square" lIns="0" tIns="0" rIns="0" bIns="0" rtlCol="0" anchor="ctr">
            <a:normAutofit/>
          </a:bodyPr>
          <a:lstStyle/>
          <a:p>
            <a:pPr algn="ctr" indent="0" marL="0">
              <a:buNone/>
            </a:pPr>
            <a:endParaRPr lang="en-US" sz="2000" dirty="0"/>
          </a:p>
        </p:txBody>
      </p:sp>
      <p:sp>
        <p:nvSpPr>
          <p:cNvPr id="32" name="Shape 30"/>
          <p:cNvSpPr/>
          <p:nvPr/>
        </p:nvSpPr>
        <p:spPr>
          <a:xfrm>
            <a:off x="658368" y="4197096"/>
            <a:ext cx="10890504" cy="557784"/>
          </a:xfrm>
          <a:prstGeom prst="roundRect">
            <a:avLst>
              <a:gd name="adj" fmla="val 24590"/>
            </a:avLst>
          </a:prstGeom>
          <a:solidFill>
            <a:srgbClr val="FFFFFF"/>
          </a:solidFill>
          <a:ln w="12700">
            <a:solidFill>
              <a:srgbClr val="FFFFFF"/>
            </a:solidFill>
            <a:prstDash val="solid"/>
          </a:ln>
        </p:spPr>
      </p:sp>
      <p:sp>
        <p:nvSpPr>
          <p:cNvPr id="33" name="Text 31"/>
          <p:cNvSpPr/>
          <p:nvPr/>
        </p:nvSpPr>
        <p:spPr>
          <a:xfrm>
            <a:off x="731520" y="4251960"/>
            <a:ext cx="2011680" cy="393192"/>
          </a:xfrm>
          <a:prstGeom prst="rect">
            <a:avLst/>
          </a:prstGeom>
          <a:noFill/>
          <a:ln/>
        </p:spPr>
        <p:txBody>
          <a:bodyPr wrap="square" lIns="0" tIns="0" rIns="0" bIns="0" rtlCol="0" anchor="ctr">
            <a:normAutofit/>
          </a:bodyPr>
          <a:lstStyle/>
          <a:p>
            <a:pPr algn="ctr" indent="0" marL="0">
              <a:buNone/>
            </a:pPr>
            <a:r>
              <a:rPr lang="en-US" sz="1300" b="1" dirty="0">
                <a:solidFill>
                  <a:srgbClr val="15233B"/>
                </a:solidFill>
                <a:latin typeface="Aptos" pitchFamily="34" charset="0"/>
                <a:ea typeface="Aptos" pitchFamily="34" charset="-122"/>
                <a:cs typeface="Aptos" pitchFamily="34" charset="-120"/>
              </a:rPr>
              <a:t>T4</a:t>
            </a:r>
            <a:endParaRPr lang="en-US" sz="1300" dirty="0"/>
          </a:p>
        </p:txBody>
      </p:sp>
      <p:sp>
        <p:nvSpPr>
          <p:cNvPr id="34" name="Text 32"/>
          <p:cNvSpPr/>
          <p:nvPr/>
        </p:nvSpPr>
        <p:spPr>
          <a:xfrm>
            <a:off x="2871216" y="4251960"/>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35" name="Text 33"/>
          <p:cNvSpPr/>
          <p:nvPr/>
        </p:nvSpPr>
        <p:spPr>
          <a:xfrm>
            <a:off x="5010912" y="4251960"/>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36" name="Text 34"/>
          <p:cNvSpPr/>
          <p:nvPr/>
        </p:nvSpPr>
        <p:spPr>
          <a:xfrm>
            <a:off x="7150608" y="4251960"/>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37" name="Text 35"/>
          <p:cNvSpPr/>
          <p:nvPr/>
        </p:nvSpPr>
        <p:spPr>
          <a:xfrm>
            <a:off x="9290304" y="4251960"/>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38" name="Shape 36"/>
          <p:cNvSpPr/>
          <p:nvPr/>
        </p:nvSpPr>
        <p:spPr>
          <a:xfrm>
            <a:off x="658368" y="4846320"/>
            <a:ext cx="10890504" cy="557784"/>
          </a:xfrm>
          <a:prstGeom prst="roundRect">
            <a:avLst>
              <a:gd name="adj" fmla="val 24590"/>
            </a:avLst>
          </a:prstGeom>
          <a:solidFill>
            <a:srgbClr val="EDF1F6"/>
          </a:solidFill>
          <a:ln w="12700">
            <a:solidFill>
              <a:srgbClr val="EDF1F6"/>
            </a:solidFill>
            <a:prstDash val="solid"/>
          </a:ln>
        </p:spPr>
      </p:sp>
      <p:sp>
        <p:nvSpPr>
          <p:cNvPr id="39" name="Text 37"/>
          <p:cNvSpPr/>
          <p:nvPr/>
        </p:nvSpPr>
        <p:spPr>
          <a:xfrm>
            <a:off x="731520" y="4901184"/>
            <a:ext cx="2011680" cy="393192"/>
          </a:xfrm>
          <a:prstGeom prst="rect">
            <a:avLst/>
          </a:prstGeom>
          <a:noFill/>
          <a:ln/>
        </p:spPr>
        <p:txBody>
          <a:bodyPr wrap="square" lIns="0" tIns="0" rIns="0" bIns="0" rtlCol="0" anchor="ctr">
            <a:normAutofit/>
          </a:bodyPr>
          <a:lstStyle/>
          <a:p>
            <a:pPr algn="ctr" indent="0" marL="0">
              <a:buNone/>
            </a:pPr>
            <a:r>
              <a:rPr lang="en-US" sz="1300" b="1" dirty="0">
                <a:solidFill>
                  <a:srgbClr val="15233B"/>
                </a:solidFill>
                <a:latin typeface="Aptos" pitchFamily="34" charset="0"/>
                <a:ea typeface="Aptos" pitchFamily="34" charset="-122"/>
                <a:cs typeface="Aptos" pitchFamily="34" charset="-120"/>
              </a:rPr>
              <a:t>T5</a:t>
            </a:r>
            <a:endParaRPr lang="en-US" sz="1300" dirty="0"/>
          </a:p>
        </p:txBody>
      </p:sp>
      <p:sp>
        <p:nvSpPr>
          <p:cNvPr id="40" name="Text 38"/>
          <p:cNvSpPr/>
          <p:nvPr/>
        </p:nvSpPr>
        <p:spPr>
          <a:xfrm>
            <a:off x="2871216" y="4901184"/>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41" name="Text 39"/>
          <p:cNvSpPr/>
          <p:nvPr/>
        </p:nvSpPr>
        <p:spPr>
          <a:xfrm>
            <a:off x="5010912" y="4901184"/>
            <a:ext cx="2011680" cy="393192"/>
          </a:xfrm>
          <a:prstGeom prst="rect">
            <a:avLst/>
          </a:prstGeom>
          <a:noFill/>
          <a:ln/>
        </p:spPr>
        <p:txBody>
          <a:bodyPr wrap="square" lIns="0" tIns="0" rIns="0" bIns="0" rtlCol="0" anchor="ctr">
            <a:normAutofit/>
          </a:bodyPr>
          <a:lstStyle/>
          <a:p>
            <a:pPr algn="ctr" indent="0" marL="0">
              <a:buNone/>
            </a:pPr>
            <a:endParaRPr lang="en-US" sz="2000" dirty="0"/>
          </a:p>
        </p:txBody>
      </p:sp>
      <p:sp>
        <p:nvSpPr>
          <p:cNvPr id="42" name="Text 40"/>
          <p:cNvSpPr/>
          <p:nvPr/>
        </p:nvSpPr>
        <p:spPr>
          <a:xfrm>
            <a:off x="7150608" y="4901184"/>
            <a:ext cx="2011680" cy="393192"/>
          </a:xfrm>
          <a:prstGeom prst="rect">
            <a:avLst/>
          </a:prstGeom>
          <a:noFill/>
          <a:ln/>
        </p:spPr>
        <p:txBody>
          <a:bodyPr wrap="square" lIns="0" tIns="0" rIns="0" bIns="0" rtlCol="0" anchor="ctr">
            <a:normAutofit/>
          </a:bodyPr>
          <a:lstStyle/>
          <a:p>
            <a:pPr algn="ctr" indent="0" marL="0">
              <a:buNone/>
            </a:pPr>
            <a:r>
              <a:rPr lang="en-US" sz="2000" dirty="0">
                <a:solidFill>
                  <a:srgbClr val="087F8C"/>
                </a:solidFill>
                <a:latin typeface="Aptos" pitchFamily="34" charset="0"/>
                <a:ea typeface="Aptos" pitchFamily="34" charset="-122"/>
                <a:cs typeface="Aptos" pitchFamily="34" charset="-120"/>
              </a:rPr>
              <a:t>✓</a:t>
            </a:r>
            <a:endParaRPr lang="en-US" sz="2000" dirty="0"/>
          </a:p>
        </p:txBody>
      </p:sp>
      <p:sp>
        <p:nvSpPr>
          <p:cNvPr id="43" name="Text 41"/>
          <p:cNvSpPr/>
          <p:nvPr/>
        </p:nvSpPr>
        <p:spPr>
          <a:xfrm>
            <a:off x="9290304" y="4901184"/>
            <a:ext cx="2011680" cy="393192"/>
          </a:xfrm>
          <a:prstGeom prst="rect">
            <a:avLst/>
          </a:prstGeom>
          <a:noFill/>
          <a:ln/>
        </p:spPr>
        <p:txBody>
          <a:bodyPr wrap="square" lIns="0" tIns="0" rIns="0" bIns="0" rtlCol="0" anchor="ctr">
            <a:normAutofit/>
          </a:bodyPr>
          <a:lstStyle/>
          <a:p>
            <a:pPr algn="ctr" indent="0" marL="0">
              <a:buNone/>
            </a:pPr>
            <a:endParaRPr lang="en-US" sz="2000" dirty="0"/>
          </a:p>
        </p:txBody>
      </p:sp>
      <p:sp>
        <p:nvSpPr>
          <p:cNvPr id="44" name="Shape 42"/>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45" name="Text 43"/>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Rules describe co-occurrence; they do not prove causation.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ASSOCIATION RULES</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Support • confidence • lift</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Calculate a rule before trusting it.</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18</a:t>
            </a:r>
            <a:endParaRPr lang="en-US" sz="900" dirty="0"/>
          </a:p>
        </p:txBody>
      </p:sp>
      <p:sp>
        <p:nvSpPr>
          <p:cNvPr id="9" name="Shape 7"/>
          <p:cNvSpPr/>
          <p:nvPr/>
        </p:nvSpPr>
        <p:spPr>
          <a:xfrm>
            <a:off x="676656" y="1764792"/>
            <a:ext cx="3493008" cy="3419856"/>
          </a:xfrm>
          <a:prstGeom prst="roundRect">
            <a:avLst>
              <a:gd name="adj" fmla="val 4011"/>
            </a:avLst>
          </a:prstGeom>
          <a:solidFill>
            <a:srgbClr val="FFFFFF"/>
          </a:solidFill>
          <a:ln w="12700">
            <a:solidFill>
              <a:srgbClr val="FFFFFF"/>
            </a:solidFill>
            <a:prstDash val="solid"/>
          </a:ln>
        </p:spPr>
      </p:sp>
      <p:sp>
        <p:nvSpPr>
          <p:cNvPr id="10" name="Shape 8"/>
          <p:cNvSpPr/>
          <p:nvPr/>
        </p:nvSpPr>
        <p:spPr>
          <a:xfrm>
            <a:off x="676656" y="1764792"/>
            <a:ext cx="59436" cy="3419856"/>
          </a:xfrm>
          <a:prstGeom prst="rect">
            <a:avLst/>
          </a:prstGeom>
          <a:solidFill>
            <a:srgbClr val="087F8C"/>
          </a:solidFill>
          <a:ln w="12700">
            <a:solidFill>
              <a:srgbClr val="087F8C"/>
            </a:solidFill>
            <a:prstDash val="solid"/>
          </a:ln>
        </p:spPr>
      </p:sp>
      <p:sp>
        <p:nvSpPr>
          <p:cNvPr id="11" name="Text 9"/>
          <p:cNvSpPr/>
          <p:nvPr/>
        </p:nvSpPr>
        <p:spPr>
          <a:xfrm>
            <a:off x="877824" y="1929384"/>
            <a:ext cx="3127248"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SUPPORT</a:t>
            </a:r>
            <a:endParaRPr lang="en-US" sz="1700" dirty="0"/>
          </a:p>
        </p:txBody>
      </p:sp>
      <p:sp>
        <p:nvSpPr>
          <p:cNvPr id="12" name="Text 10"/>
          <p:cNvSpPr/>
          <p:nvPr/>
        </p:nvSpPr>
        <p:spPr>
          <a:xfrm>
            <a:off x="877824" y="2450592"/>
            <a:ext cx="3081528" cy="2642616"/>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P(Bread ∩ Milk)</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3 / 5 = 0.60</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How often do both appear?</a:t>
            </a:r>
            <a:endParaRPr lang="en-US" sz="1200" dirty="0"/>
          </a:p>
        </p:txBody>
      </p:sp>
      <p:sp>
        <p:nvSpPr>
          <p:cNvPr id="13" name="Shape 11"/>
          <p:cNvSpPr/>
          <p:nvPr/>
        </p:nvSpPr>
        <p:spPr>
          <a:xfrm>
            <a:off x="4352544" y="1764792"/>
            <a:ext cx="3493008" cy="3419856"/>
          </a:xfrm>
          <a:prstGeom prst="roundRect">
            <a:avLst>
              <a:gd name="adj" fmla="val 4011"/>
            </a:avLst>
          </a:prstGeom>
          <a:solidFill>
            <a:srgbClr val="FFFFFF"/>
          </a:solidFill>
          <a:ln w="12700">
            <a:solidFill>
              <a:srgbClr val="FFFFFF"/>
            </a:solidFill>
            <a:prstDash val="solid"/>
          </a:ln>
        </p:spPr>
      </p:sp>
      <p:sp>
        <p:nvSpPr>
          <p:cNvPr id="14" name="Shape 12"/>
          <p:cNvSpPr/>
          <p:nvPr/>
        </p:nvSpPr>
        <p:spPr>
          <a:xfrm>
            <a:off x="4352544" y="1764792"/>
            <a:ext cx="59436" cy="3419856"/>
          </a:xfrm>
          <a:prstGeom prst="rect">
            <a:avLst/>
          </a:prstGeom>
          <a:solidFill>
            <a:srgbClr val="5169D8"/>
          </a:solidFill>
          <a:ln w="12700">
            <a:solidFill>
              <a:srgbClr val="5169D8"/>
            </a:solidFill>
            <a:prstDash val="solid"/>
          </a:ln>
        </p:spPr>
      </p:sp>
      <p:sp>
        <p:nvSpPr>
          <p:cNvPr id="15" name="Text 13"/>
          <p:cNvSpPr/>
          <p:nvPr/>
        </p:nvSpPr>
        <p:spPr>
          <a:xfrm>
            <a:off x="4553712" y="1929384"/>
            <a:ext cx="3127248"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CONFIDENCE</a:t>
            </a:r>
            <a:endParaRPr lang="en-US" sz="1700" dirty="0"/>
          </a:p>
        </p:txBody>
      </p:sp>
      <p:sp>
        <p:nvSpPr>
          <p:cNvPr id="16" name="Text 14"/>
          <p:cNvSpPr/>
          <p:nvPr/>
        </p:nvSpPr>
        <p:spPr>
          <a:xfrm>
            <a:off x="4553712" y="2450592"/>
            <a:ext cx="3081528" cy="2642616"/>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P(Milk | Bread)</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3 / 4 = 0.75</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How often is Y present given X?</a:t>
            </a:r>
            <a:endParaRPr lang="en-US" sz="1200" dirty="0"/>
          </a:p>
        </p:txBody>
      </p:sp>
      <p:sp>
        <p:nvSpPr>
          <p:cNvPr id="17" name="Shape 15"/>
          <p:cNvSpPr/>
          <p:nvPr/>
        </p:nvSpPr>
        <p:spPr>
          <a:xfrm>
            <a:off x="8028432" y="1764792"/>
            <a:ext cx="3493008" cy="3419856"/>
          </a:xfrm>
          <a:prstGeom prst="roundRect">
            <a:avLst>
              <a:gd name="adj" fmla="val 4011"/>
            </a:avLst>
          </a:prstGeom>
          <a:solidFill>
            <a:srgbClr val="FFFFFF"/>
          </a:solidFill>
          <a:ln w="12700">
            <a:solidFill>
              <a:srgbClr val="FFFFFF"/>
            </a:solidFill>
            <a:prstDash val="solid"/>
          </a:ln>
        </p:spPr>
      </p:sp>
      <p:sp>
        <p:nvSpPr>
          <p:cNvPr id="18" name="Shape 16"/>
          <p:cNvSpPr/>
          <p:nvPr/>
        </p:nvSpPr>
        <p:spPr>
          <a:xfrm>
            <a:off x="8028432" y="1764792"/>
            <a:ext cx="59436" cy="3419856"/>
          </a:xfrm>
          <a:prstGeom prst="rect">
            <a:avLst/>
          </a:prstGeom>
          <a:solidFill>
            <a:srgbClr val="D99B35"/>
          </a:solidFill>
          <a:ln w="12700">
            <a:solidFill>
              <a:srgbClr val="D99B35"/>
            </a:solidFill>
            <a:prstDash val="solid"/>
          </a:ln>
        </p:spPr>
      </p:sp>
      <p:sp>
        <p:nvSpPr>
          <p:cNvPr id="19" name="Text 17"/>
          <p:cNvSpPr/>
          <p:nvPr/>
        </p:nvSpPr>
        <p:spPr>
          <a:xfrm>
            <a:off x="8229600" y="1929384"/>
            <a:ext cx="3127248"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LIFT</a:t>
            </a:r>
            <a:endParaRPr lang="en-US" sz="1700" dirty="0"/>
          </a:p>
        </p:txBody>
      </p:sp>
      <p:sp>
        <p:nvSpPr>
          <p:cNvPr id="20" name="Text 18"/>
          <p:cNvSpPr/>
          <p:nvPr/>
        </p:nvSpPr>
        <p:spPr>
          <a:xfrm>
            <a:off x="8229600" y="2450592"/>
            <a:ext cx="3081528" cy="2642616"/>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0.75 / P(Milk)</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0.75 / 0.80 = 0.9375</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Below 1: less than chance-level association</a:t>
            </a:r>
            <a:endParaRPr lang="en-US" sz="1200" dirty="0"/>
          </a:p>
        </p:txBody>
      </p:sp>
      <p:sp>
        <p:nvSpPr>
          <p:cNvPr id="21" name="Shape 19"/>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22" name="Text 20"/>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High confidence alone can be misleading when the consequent is very common.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ASSOCIATION RULES</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Apriori vs FP-Growth</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Two routes to frequent itemsets—then generate rules.</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19</a:t>
            </a:r>
            <a:endParaRPr lang="en-US" sz="900" dirty="0"/>
          </a:p>
        </p:txBody>
      </p:sp>
      <p:sp>
        <p:nvSpPr>
          <p:cNvPr id="9" name="Shape 7"/>
          <p:cNvSpPr/>
          <p:nvPr/>
        </p:nvSpPr>
        <p:spPr>
          <a:xfrm>
            <a:off x="713232" y="1737360"/>
            <a:ext cx="5239512" cy="3474720"/>
          </a:xfrm>
          <a:prstGeom prst="roundRect">
            <a:avLst>
              <a:gd name="adj" fmla="val 3947"/>
            </a:avLst>
          </a:prstGeom>
          <a:solidFill>
            <a:srgbClr val="FFFFFF"/>
          </a:solidFill>
          <a:ln w="12700">
            <a:solidFill>
              <a:srgbClr val="FFFFFF"/>
            </a:solidFill>
            <a:prstDash val="solid"/>
          </a:ln>
        </p:spPr>
      </p:sp>
      <p:sp>
        <p:nvSpPr>
          <p:cNvPr id="10" name="Shape 8"/>
          <p:cNvSpPr/>
          <p:nvPr/>
        </p:nvSpPr>
        <p:spPr>
          <a:xfrm>
            <a:off x="713232" y="1737360"/>
            <a:ext cx="59436" cy="3474720"/>
          </a:xfrm>
          <a:prstGeom prst="rect">
            <a:avLst/>
          </a:prstGeom>
          <a:solidFill>
            <a:srgbClr val="5169D8"/>
          </a:solidFill>
          <a:ln w="12700">
            <a:solidFill>
              <a:srgbClr val="5169D8"/>
            </a:solidFill>
            <a:prstDash val="solid"/>
          </a:ln>
        </p:spPr>
      </p:sp>
      <p:sp>
        <p:nvSpPr>
          <p:cNvPr id="11" name="Text 9"/>
          <p:cNvSpPr/>
          <p:nvPr/>
        </p:nvSpPr>
        <p:spPr>
          <a:xfrm>
            <a:off x="914400" y="1901952"/>
            <a:ext cx="4873752"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APRIORI</a:t>
            </a:r>
            <a:endParaRPr lang="en-US" sz="1700" dirty="0"/>
          </a:p>
        </p:txBody>
      </p:sp>
      <p:sp>
        <p:nvSpPr>
          <p:cNvPr id="12" name="Text 10"/>
          <p:cNvSpPr/>
          <p:nvPr/>
        </p:nvSpPr>
        <p:spPr>
          <a:xfrm>
            <a:off x="914400" y="2423160"/>
            <a:ext cx="4828032" cy="269748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Generate candidate itemsets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Prune if a subset is infrequent</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Repeatedly scan transactions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Simple and intuitive; candidate explosion possible</a:t>
            </a:r>
            <a:endParaRPr lang="en-US" sz="1200" dirty="0"/>
          </a:p>
        </p:txBody>
      </p:sp>
      <p:sp>
        <p:nvSpPr>
          <p:cNvPr id="13" name="Shape 11"/>
          <p:cNvSpPr/>
          <p:nvPr/>
        </p:nvSpPr>
        <p:spPr>
          <a:xfrm>
            <a:off x="6217920" y="1737360"/>
            <a:ext cx="5239512" cy="3474720"/>
          </a:xfrm>
          <a:prstGeom prst="roundRect">
            <a:avLst>
              <a:gd name="adj" fmla="val 3947"/>
            </a:avLst>
          </a:prstGeom>
          <a:solidFill>
            <a:srgbClr val="FFFFFF"/>
          </a:solidFill>
          <a:ln w="12700">
            <a:solidFill>
              <a:srgbClr val="FFFFFF"/>
            </a:solidFill>
            <a:prstDash val="solid"/>
          </a:ln>
        </p:spPr>
      </p:sp>
      <p:sp>
        <p:nvSpPr>
          <p:cNvPr id="14" name="Shape 12"/>
          <p:cNvSpPr/>
          <p:nvPr/>
        </p:nvSpPr>
        <p:spPr>
          <a:xfrm>
            <a:off x="6217920" y="1737360"/>
            <a:ext cx="59436" cy="3474720"/>
          </a:xfrm>
          <a:prstGeom prst="rect">
            <a:avLst/>
          </a:prstGeom>
          <a:solidFill>
            <a:srgbClr val="087F8C"/>
          </a:solidFill>
          <a:ln w="12700">
            <a:solidFill>
              <a:srgbClr val="087F8C"/>
            </a:solidFill>
            <a:prstDash val="solid"/>
          </a:ln>
        </p:spPr>
      </p:sp>
      <p:sp>
        <p:nvSpPr>
          <p:cNvPr id="15" name="Text 13"/>
          <p:cNvSpPr/>
          <p:nvPr/>
        </p:nvSpPr>
        <p:spPr>
          <a:xfrm>
            <a:off x="6419088" y="1901952"/>
            <a:ext cx="4873752"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FP-GROWTH</a:t>
            </a:r>
            <a:endParaRPr lang="en-US" sz="1700" dirty="0"/>
          </a:p>
        </p:txBody>
      </p:sp>
      <p:sp>
        <p:nvSpPr>
          <p:cNvPr id="16" name="Text 14"/>
          <p:cNvSpPr/>
          <p:nvPr/>
        </p:nvSpPr>
        <p:spPr>
          <a:xfrm>
            <a:off x="6419088" y="2423160"/>
            <a:ext cx="4828032" cy="269748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Build compressed FP-tree</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Mine frequent conditional patterns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Avoid explicit large candidate generation</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Often useful for many dense transactions</a:t>
            </a:r>
            <a:endParaRPr lang="en-US" sz="1200" dirty="0"/>
          </a:p>
        </p:txBody>
      </p:sp>
      <p:sp>
        <p:nvSpPr>
          <p:cNvPr id="17" name="Shape 15"/>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8" name="Text 16"/>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Set minimum support, then filter rules by confidence, lift and usefulness.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ANOMALY DETECTION</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Not everything unusual forms a cluster</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Anomalies may be isolated, contextual or collective.</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20</a:t>
            </a:r>
            <a:endParaRPr lang="en-US" sz="900" dirty="0"/>
          </a:p>
        </p:txBody>
      </p:sp>
      <p:pic>
        <p:nvPicPr>
          <p:cNvPr id="9" name="Image 0" descr="/mnt/data/unsup_rebuild_v3/assets/anomalies.png">    </p:cNvPr>
          <p:cNvPicPr>
            <a:picLocks noChangeAspect="1"/>
          </p:cNvPicPr>
          <p:nvPr/>
        </p:nvPicPr>
        <p:blipFill>
          <a:blip r:embed="rId1"/>
          <a:stretch>
            <a:fillRect/>
          </a:stretch>
        </p:blipFill>
        <p:spPr>
          <a:xfrm>
            <a:off x="649224" y="1737360"/>
            <a:ext cx="6355080" cy="3886200"/>
          </a:xfrm>
          <a:prstGeom prst="rect">
            <a:avLst/>
          </a:prstGeom>
        </p:spPr>
      </p:pic>
      <p:sp>
        <p:nvSpPr>
          <p:cNvPr id="10" name="Shape 7"/>
          <p:cNvSpPr/>
          <p:nvPr/>
        </p:nvSpPr>
        <p:spPr>
          <a:xfrm>
            <a:off x="7242048" y="1737360"/>
            <a:ext cx="4215384" cy="3584448"/>
          </a:xfrm>
          <a:prstGeom prst="roundRect">
            <a:avLst>
              <a:gd name="adj" fmla="val 3827"/>
            </a:avLst>
          </a:prstGeom>
          <a:solidFill>
            <a:srgbClr val="FFFFFF"/>
          </a:solidFill>
          <a:ln w="12700">
            <a:solidFill>
              <a:srgbClr val="FFFFFF"/>
            </a:solidFill>
            <a:prstDash val="solid"/>
          </a:ln>
        </p:spPr>
      </p:sp>
      <p:sp>
        <p:nvSpPr>
          <p:cNvPr id="11" name="Shape 8"/>
          <p:cNvSpPr/>
          <p:nvPr/>
        </p:nvSpPr>
        <p:spPr>
          <a:xfrm>
            <a:off x="7242048" y="1737360"/>
            <a:ext cx="59436" cy="3584448"/>
          </a:xfrm>
          <a:prstGeom prst="rect">
            <a:avLst/>
          </a:prstGeom>
          <a:solidFill>
            <a:srgbClr val="E76C60"/>
          </a:solidFill>
          <a:ln w="12700">
            <a:solidFill>
              <a:srgbClr val="E76C60"/>
            </a:solidFill>
            <a:prstDash val="solid"/>
          </a:ln>
        </p:spPr>
      </p:sp>
      <p:sp>
        <p:nvSpPr>
          <p:cNvPr id="12" name="Text 9"/>
          <p:cNvSpPr/>
          <p:nvPr/>
        </p:nvSpPr>
        <p:spPr>
          <a:xfrm>
            <a:off x="7443216" y="1901952"/>
            <a:ext cx="3849624"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THREE PATTERNS</a:t>
            </a:r>
            <a:endParaRPr lang="en-US" sz="1700" dirty="0"/>
          </a:p>
        </p:txBody>
      </p:sp>
      <p:sp>
        <p:nvSpPr>
          <p:cNvPr id="13" name="Text 10"/>
          <p:cNvSpPr/>
          <p:nvPr/>
        </p:nvSpPr>
        <p:spPr>
          <a:xfrm>
            <a:off x="7443216" y="2423160"/>
            <a:ext cx="3803904" cy="2807208"/>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Point: one unusually extreme observation</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Contextual: unusual given season or user</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Collective: odd sequence or group</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Novelty ≠ verified fraud</a:t>
            </a:r>
            <a:endParaRPr lang="en-US" sz="1200" dirty="0"/>
          </a:p>
        </p:txBody>
      </p:sp>
      <p:sp>
        <p:nvSpPr>
          <p:cNvPr id="14" name="Shape 11"/>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5" name="Text 12"/>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Anomaly detection scores suspicion; investigation establishes meaning.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ANOMALY DETECTION</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Isolation Forest, LOF, One-Class SVM</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Three different definitions of unusual.</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21</a:t>
            </a:r>
            <a:endParaRPr lang="en-US" sz="900" dirty="0"/>
          </a:p>
        </p:txBody>
      </p:sp>
      <p:pic>
        <p:nvPicPr>
          <p:cNvPr id="9" name="Image 0" descr="/mnt/data/unsup_rebuild_v3/assets/isolation.png">    </p:cNvPr>
          <p:cNvPicPr>
            <a:picLocks noChangeAspect="1"/>
          </p:cNvPicPr>
          <p:nvPr/>
        </p:nvPicPr>
        <p:blipFill>
          <a:blip r:embed="rId1"/>
          <a:stretch>
            <a:fillRect/>
          </a:stretch>
        </p:blipFill>
        <p:spPr>
          <a:xfrm>
            <a:off x="621792" y="1691640"/>
            <a:ext cx="5870448" cy="3840480"/>
          </a:xfrm>
          <a:prstGeom prst="rect">
            <a:avLst/>
          </a:prstGeom>
        </p:spPr>
      </p:pic>
      <p:sp>
        <p:nvSpPr>
          <p:cNvPr id="10" name="Shape 7"/>
          <p:cNvSpPr/>
          <p:nvPr/>
        </p:nvSpPr>
        <p:spPr>
          <a:xfrm>
            <a:off x="6675120" y="1709928"/>
            <a:ext cx="4773168" cy="3913632"/>
          </a:xfrm>
          <a:prstGeom prst="roundRect">
            <a:avLst>
              <a:gd name="adj" fmla="val 3505"/>
            </a:avLst>
          </a:prstGeom>
          <a:solidFill>
            <a:srgbClr val="FFFFFF"/>
          </a:solidFill>
          <a:ln w="12700">
            <a:solidFill>
              <a:srgbClr val="FFFFFF"/>
            </a:solidFill>
            <a:prstDash val="solid"/>
          </a:ln>
        </p:spPr>
      </p:sp>
      <p:sp>
        <p:nvSpPr>
          <p:cNvPr id="11" name="Shape 8"/>
          <p:cNvSpPr/>
          <p:nvPr/>
        </p:nvSpPr>
        <p:spPr>
          <a:xfrm>
            <a:off x="6675120" y="1709928"/>
            <a:ext cx="59436" cy="3913632"/>
          </a:xfrm>
          <a:prstGeom prst="rect">
            <a:avLst/>
          </a:prstGeom>
          <a:solidFill>
            <a:srgbClr val="E76C60"/>
          </a:solidFill>
          <a:ln w="12700">
            <a:solidFill>
              <a:srgbClr val="E76C60"/>
            </a:solidFill>
            <a:prstDash val="solid"/>
          </a:ln>
        </p:spPr>
      </p:sp>
      <p:sp>
        <p:nvSpPr>
          <p:cNvPr id="12" name="Text 9"/>
          <p:cNvSpPr/>
          <p:nvPr/>
        </p:nvSpPr>
        <p:spPr>
          <a:xfrm>
            <a:off x="6876288" y="1874520"/>
            <a:ext cx="4407408"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ALGORITHM INTUITION</a:t>
            </a:r>
            <a:endParaRPr lang="en-US" sz="1700" dirty="0"/>
          </a:p>
        </p:txBody>
      </p:sp>
      <p:sp>
        <p:nvSpPr>
          <p:cNvPr id="13" name="Text 10"/>
          <p:cNvSpPr/>
          <p:nvPr/>
        </p:nvSpPr>
        <p:spPr>
          <a:xfrm>
            <a:off x="6876288" y="2395728"/>
            <a:ext cx="4361688" cy="3136392"/>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Isolation Forest: short random split paths isolate anomalies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LOF: lower local density than neighbors</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One-Class SVM: boundary around training distribution</a:t>
            </a:r>
            <a:endParaRPr lang="en-US" sz="1200" dirty="0"/>
          </a:p>
          <a:p>
            <a:pPr indent="0" marL="0">
              <a:buNone/>
            </a:pP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DBSCAN noise: useful but density-dependent</a:t>
            </a:r>
            <a:endParaRPr lang="en-US" sz="1200" dirty="0"/>
          </a:p>
        </p:txBody>
      </p:sp>
      <p:sp>
        <p:nvSpPr>
          <p:cNvPr id="14" name="Shape 11"/>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15" name="Text 12"/>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Scale and contamination assumptions matter; validate alerts using real outcomes.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pPr indent="0" marL="0">
              <a:buNone/>
            </a:pPr>
            <a:r>
              <a:rPr lang="en-US" sz="1000" b="1" spc="150" kern="0" dirty="0">
                <a:solidFill>
                  <a:srgbClr val="087F8C"/>
                </a:solidFill>
                <a:latin typeface="Aptos" pitchFamily="34" charset="0"/>
                <a:ea typeface="Aptos" pitchFamily="34" charset="-122"/>
                <a:cs typeface="Aptos" pitchFamily="34" charset="-120"/>
              </a:rPr>
              <a:t>EVALUATION</a:t>
            </a:r>
            <a:endParaRPr lang="en-US" sz="1000" dirty="0"/>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pPr indent="0" marL="0">
              <a:buNone/>
            </a:pPr>
            <a:r>
              <a:rPr lang="en-US" sz="2700" b="1" dirty="0">
                <a:solidFill>
                  <a:srgbClr val="15233B"/>
                </a:solidFill>
                <a:latin typeface="Aptos" pitchFamily="34" charset="0"/>
                <a:ea typeface="Aptos" pitchFamily="34" charset="-122"/>
                <a:cs typeface="Aptos" pitchFamily="34" charset="-120"/>
              </a:rPr>
              <a:t>How to evaluate learning without target labels</a:t>
            </a:r>
            <a:endParaRPr lang="en-US" sz="2700" dirty="0"/>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pPr indent="0" marL="0">
              <a:buNone/>
            </a:pPr>
            <a:r>
              <a:rPr lang="en-US" sz="1300" dirty="0">
                <a:solidFill>
                  <a:srgbClr val="58667B"/>
                </a:solidFill>
                <a:latin typeface="Aptos" pitchFamily="34" charset="0"/>
                <a:ea typeface="Aptos" pitchFamily="34" charset="-122"/>
                <a:cs typeface="Aptos" pitchFamily="34" charset="-120"/>
              </a:rPr>
              <a:t>Different tasks require different evidence—not a single accuracy score.</a:t>
            </a:r>
            <a:endParaRPr lang="en-US" sz="1300" dirty="0"/>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22</a:t>
            </a:r>
            <a:endParaRPr lang="en-US" sz="900" dirty="0"/>
          </a:p>
        </p:txBody>
      </p:sp>
      <p:sp>
        <p:nvSpPr>
          <p:cNvPr id="9" name="Shape 7"/>
          <p:cNvSpPr/>
          <p:nvPr/>
        </p:nvSpPr>
        <p:spPr>
          <a:xfrm>
            <a:off x="676656" y="1728216"/>
            <a:ext cx="5422392" cy="1554480"/>
          </a:xfrm>
          <a:prstGeom prst="roundRect">
            <a:avLst>
              <a:gd name="adj" fmla="val 8824"/>
            </a:avLst>
          </a:prstGeom>
          <a:solidFill>
            <a:srgbClr val="FFFFFF"/>
          </a:solidFill>
          <a:ln w="12700">
            <a:solidFill>
              <a:srgbClr val="FFFFFF"/>
            </a:solidFill>
            <a:prstDash val="solid"/>
          </a:ln>
        </p:spPr>
      </p:sp>
      <p:sp>
        <p:nvSpPr>
          <p:cNvPr id="10" name="Shape 8"/>
          <p:cNvSpPr/>
          <p:nvPr/>
        </p:nvSpPr>
        <p:spPr>
          <a:xfrm>
            <a:off x="676656" y="1728216"/>
            <a:ext cx="59436" cy="1554480"/>
          </a:xfrm>
          <a:prstGeom prst="rect">
            <a:avLst/>
          </a:prstGeom>
          <a:solidFill>
            <a:srgbClr val="087F8C"/>
          </a:solidFill>
          <a:ln w="12700">
            <a:solidFill>
              <a:srgbClr val="087F8C"/>
            </a:solidFill>
            <a:prstDash val="solid"/>
          </a:ln>
        </p:spPr>
      </p:sp>
      <p:sp>
        <p:nvSpPr>
          <p:cNvPr id="11" name="Text 9"/>
          <p:cNvSpPr/>
          <p:nvPr/>
        </p:nvSpPr>
        <p:spPr>
          <a:xfrm>
            <a:off x="877824" y="1892808"/>
            <a:ext cx="5056632"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CLUSTERING</a:t>
            </a:r>
            <a:endParaRPr lang="en-US" sz="1700" dirty="0"/>
          </a:p>
        </p:txBody>
      </p:sp>
      <p:sp>
        <p:nvSpPr>
          <p:cNvPr id="12" name="Text 10"/>
          <p:cNvSpPr/>
          <p:nvPr/>
        </p:nvSpPr>
        <p:spPr>
          <a:xfrm>
            <a:off x="877824" y="2414016"/>
            <a:ext cx="5010912" cy="77724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Silhouette ↑  ·  Davies–Bouldin ↓</a:t>
            </a: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Stability, separation, interpretability</a:t>
            </a:r>
            <a:endParaRPr lang="en-US" sz="1200" dirty="0"/>
          </a:p>
        </p:txBody>
      </p:sp>
      <p:sp>
        <p:nvSpPr>
          <p:cNvPr id="13" name="Shape 11"/>
          <p:cNvSpPr/>
          <p:nvPr/>
        </p:nvSpPr>
        <p:spPr>
          <a:xfrm>
            <a:off x="6300216" y="1728216"/>
            <a:ext cx="5422392" cy="1554480"/>
          </a:xfrm>
          <a:prstGeom prst="roundRect">
            <a:avLst>
              <a:gd name="adj" fmla="val 8824"/>
            </a:avLst>
          </a:prstGeom>
          <a:solidFill>
            <a:srgbClr val="FFFFFF"/>
          </a:solidFill>
          <a:ln w="12700">
            <a:solidFill>
              <a:srgbClr val="FFFFFF"/>
            </a:solidFill>
            <a:prstDash val="solid"/>
          </a:ln>
        </p:spPr>
      </p:sp>
      <p:sp>
        <p:nvSpPr>
          <p:cNvPr id="14" name="Shape 12"/>
          <p:cNvSpPr/>
          <p:nvPr/>
        </p:nvSpPr>
        <p:spPr>
          <a:xfrm>
            <a:off x="6300216" y="1728216"/>
            <a:ext cx="59436" cy="1554480"/>
          </a:xfrm>
          <a:prstGeom prst="rect">
            <a:avLst/>
          </a:prstGeom>
          <a:solidFill>
            <a:srgbClr val="5169D8"/>
          </a:solidFill>
          <a:ln w="12700">
            <a:solidFill>
              <a:srgbClr val="5169D8"/>
            </a:solidFill>
            <a:prstDash val="solid"/>
          </a:ln>
        </p:spPr>
      </p:sp>
      <p:sp>
        <p:nvSpPr>
          <p:cNvPr id="15" name="Text 13"/>
          <p:cNvSpPr/>
          <p:nvPr/>
        </p:nvSpPr>
        <p:spPr>
          <a:xfrm>
            <a:off x="6501384" y="1892808"/>
            <a:ext cx="5056632"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DIMENSION REDUCTION</a:t>
            </a:r>
            <a:endParaRPr lang="en-US" sz="1700" dirty="0"/>
          </a:p>
        </p:txBody>
      </p:sp>
      <p:sp>
        <p:nvSpPr>
          <p:cNvPr id="16" name="Text 14"/>
          <p:cNvSpPr/>
          <p:nvPr/>
        </p:nvSpPr>
        <p:spPr>
          <a:xfrm>
            <a:off x="6501384" y="2414016"/>
            <a:ext cx="5010912" cy="77724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PCA explained variance / reconstruction</a:t>
            </a: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Neighbor trustworthiness for embeddings</a:t>
            </a:r>
            <a:endParaRPr lang="en-US" sz="1200" dirty="0"/>
          </a:p>
        </p:txBody>
      </p:sp>
      <p:sp>
        <p:nvSpPr>
          <p:cNvPr id="17" name="Shape 15"/>
          <p:cNvSpPr/>
          <p:nvPr/>
        </p:nvSpPr>
        <p:spPr>
          <a:xfrm>
            <a:off x="676656" y="3493008"/>
            <a:ext cx="5422392" cy="1554480"/>
          </a:xfrm>
          <a:prstGeom prst="roundRect">
            <a:avLst>
              <a:gd name="adj" fmla="val 8824"/>
            </a:avLst>
          </a:prstGeom>
          <a:solidFill>
            <a:srgbClr val="FFFFFF"/>
          </a:solidFill>
          <a:ln w="12700">
            <a:solidFill>
              <a:srgbClr val="FFFFFF"/>
            </a:solidFill>
            <a:prstDash val="solid"/>
          </a:ln>
        </p:spPr>
      </p:sp>
      <p:sp>
        <p:nvSpPr>
          <p:cNvPr id="18" name="Shape 16"/>
          <p:cNvSpPr/>
          <p:nvPr/>
        </p:nvSpPr>
        <p:spPr>
          <a:xfrm>
            <a:off x="676656" y="3493008"/>
            <a:ext cx="59436" cy="1554480"/>
          </a:xfrm>
          <a:prstGeom prst="rect">
            <a:avLst/>
          </a:prstGeom>
          <a:solidFill>
            <a:srgbClr val="D99B35"/>
          </a:solidFill>
          <a:ln w="12700">
            <a:solidFill>
              <a:srgbClr val="D99B35"/>
            </a:solidFill>
            <a:prstDash val="solid"/>
          </a:ln>
        </p:spPr>
      </p:sp>
      <p:sp>
        <p:nvSpPr>
          <p:cNvPr id="19" name="Text 17"/>
          <p:cNvSpPr/>
          <p:nvPr/>
        </p:nvSpPr>
        <p:spPr>
          <a:xfrm>
            <a:off x="877824" y="3657600"/>
            <a:ext cx="5056632"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ASSOCIATION RULES</a:t>
            </a:r>
            <a:endParaRPr lang="en-US" sz="1700" dirty="0"/>
          </a:p>
        </p:txBody>
      </p:sp>
      <p:sp>
        <p:nvSpPr>
          <p:cNvPr id="20" name="Text 18"/>
          <p:cNvSpPr/>
          <p:nvPr/>
        </p:nvSpPr>
        <p:spPr>
          <a:xfrm>
            <a:off x="877824" y="4178808"/>
            <a:ext cx="5010912" cy="77724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Support, confidence, lift</a:t>
            </a: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Holdout frequency + actionable rules</a:t>
            </a:r>
            <a:endParaRPr lang="en-US" sz="1200" dirty="0"/>
          </a:p>
        </p:txBody>
      </p:sp>
      <p:sp>
        <p:nvSpPr>
          <p:cNvPr id="21" name="Shape 19"/>
          <p:cNvSpPr/>
          <p:nvPr/>
        </p:nvSpPr>
        <p:spPr>
          <a:xfrm>
            <a:off x="6300216" y="3493008"/>
            <a:ext cx="5422392" cy="1554480"/>
          </a:xfrm>
          <a:prstGeom prst="roundRect">
            <a:avLst>
              <a:gd name="adj" fmla="val 8824"/>
            </a:avLst>
          </a:prstGeom>
          <a:solidFill>
            <a:srgbClr val="FFFFFF"/>
          </a:solidFill>
          <a:ln w="12700">
            <a:solidFill>
              <a:srgbClr val="FFFFFF"/>
            </a:solidFill>
            <a:prstDash val="solid"/>
          </a:ln>
        </p:spPr>
      </p:sp>
      <p:sp>
        <p:nvSpPr>
          <p:cNvPr id="22" name="Shape 20"/>
          <p:cNvSpPr/>
          <p:nvPr/>
        </p:nvSpPr>
        <p:spPr>
          <a:xfrm>
            <a:off x="6300216" y="3493008"/>
            <a:ext cx="59436" cy="1554480"/>
          </a:xfrm>
          <a:prstGeom prst="rect">
            <a:avLst/>
          </a:prstGeom>
          <a:solidFill>
            <a:srgbClr val="E76C60"/>
          </a:solidFill>
          <a:ln w="12700">
            <a:solidFill>
              <a:srgbClr val="E76C60"/>
            </a:solidFill>
            <a:prstDash val="solid"/>
          </a:ln>
        </p:spPr>
      </p:sp>
      <p:sp>
        <p:nvSpPr>
          <p:cNvPr id="23" name="Text 21"/>
          <p:cNvSpPr/>
          <p:nvPr/>
        </p:nvSpPr>
        <p:spPr>
          <a:xfrm>
            <a:off x="6501384" y="3657600"/>
            <a:ext cx="5056632" cy="438912"/>
          </a:xfrm>
          <a:prstGeom prst="rect">
            <a:avLst/>
          </a:prstGeom>
          <a:noFill/>
          <a:ln/>
        </p:spPr>
        <p:txBody>
          <a:bodyPr wrap="square" lIns="0" tIns="0" rIns="0" bIns="0" rtlCol="0" anchor="ctr">
            <a:normAutofit/>
          </a:bodyPr>
          <a:lstStyle/>
          <a:p>
            <a:pPr indent="0" marL="0">
              <a:buNone/>
            </a:pPr>
            <a:r>
              <a:rPr lang="en-US" sz="1700" b="1" dirty="0">
                <a:solidFill>
                  <a:srgbClr val="15233B"/>
                </a:solidFill>
                <a:latin typeface="Aptos" pitchFamily="34" charset="0"/>
                <a:ea typeface="Aptos" pitchFamily="34" charset="-122"/>
                <a:cs typeface="Aptos" pitchFamily="34" charset="-120"/>
              </a:rPr>
              <a:t>ANOMALY DETECTION</a:t>
            </a:r>
            <a:endParaRPr lang="en-US" sz="1700" dirty="0"/>
          </a:p>
        </p:txBody>
      </p:sp>
      <p:sp>
        <p:nvSpPr>
          <p:cNvPr id="24" name="Text 22"/>
          <p:cNvSpPr/>
          <p:nvPr/>
        </p:nvSpPr>
        <p:spPr>
          <a:xfrm>
            <a:off x="6501384" y="4178808"/>
            <a:ext cx="5010912" cy="777240"/>
          </a:xfrm>
          <a:prstGeom prst="rect">
            <a:avLst/>
          </a:prstGeom>
          <a:noFill/>
          <a:ln/>
        </p:spPr>
        <p:txBody>
          <a:bodyPr wrap="square" lIns="0" tIns="0" rIns="0" bIns="0" rtlCol="0" anchor="t">
            <a:normAutofit/>
          </a:bodyPr>
          <a:lstStyle/>
          <a:p>
            <a:pPr indent="0" marL="0">
              <a:buNone/>
            </a:pPr>
            <a:r>
              <a:rPr lang="en-US" sz="1200" dirty="0">
                <a:solidFill>
                  <a:srgbClr val="58667B"/>
                </a:solidFill>
                <a:latin typeface="Aptos" pitchFamily="34" charset="0"/>
                <a:ea typeface="Aptos" pitchFamily="34" charset="-122"/>
                <a:cs typeface="Aptos" pitchFamily="34" charset="-120"/>
              </a:rPr>
              <a:t>Score distribution, alert burden</a:t>
            </a:r>
            <a:endParaRPr lang="en-US" sz="1200" dirty="0"/>
          </a:p>
          <a:p>
            <a:pPr indent="0" marL="0">
              <a:buNone/>
            </a:pPr>
            <a:r>
              <a:rPr lang="en-US" sz="1200" dirty="0">
                <a:solidFill>
                  <a:srgbClr val="58667B"/>
                </a:solidFill>
                <a:latin typeface="Aptos" pitchFamily="34" charset="0"/>
                <a:ea typeface="Aptos" pitchFamily="34" charset="-122"/>
                <a:cs typeface="Aptos" pitchFamily="34" charset="-120"/>
              </a:rPr>
              <a:t>Precision/recall only if labeled cases exist</a:t>
            </a:r>
            <a:endParaRPr lang="en-US" sz="1200" dirty="0"/>
          </a:p>
        </p:txBody>
      </p:sp>
      <p:sp>
        <p:nvSpPr>
          <p:cNvPr id="25" name="Shape 23"/>
          <p:cNvSpPr/>
          <p:nvPr/>
        </p:nvSpPr>
        <p:spPr>
          <a:xfrm>
            <a:off x="621792" y="5870448"/>
            <a:ext cx="10927080" cy="429768"/>
          </a:xfrm>
          <a:prstGeom prst="roundRect">
            <a:avLst>
              <a:gd name="adj" fmla="val 31915"/>
            </a:avLst>
          </a:prstGeom>
          <a:solidFill>
            <a:srgbClr val="E7F2F3"/>
          </a:solidFill>
          <a:ln w="12700">
            <a:solidFill>
              <a:srgbClr val="E7F2F3"/>
            </a:solidFill>
            <a:prstDash val="solid"/>
          </a:ln>
        </p:spPr>
      </p:sp>
      <p:sp>
        <p:nvSpPr>
          <p:cNvPr id="26" name="Text 24"/>
          <p:cNvSpPr/>
          <p:nvPr/>
        </p:nvSpPr>
        <p:spPr>
          <a:xfrm>
            <a:off x="822960" y="5916168"/>
            <a:ext cx="10469880" cy="338328"/>
          </a:xfrm>
          <a:prstGeom prst="rect">
            <a:avLst/>
          </a:prstGeom>
          <a:noFill/>
          <a:ln/>
        </p:spPr>
        <p:txBody>
          <a:bodyPr wrap="square" lIns="0" tIns="0" rIns="0" bIns="0" rtlCol="0" anchor="ctr">
            <a:normAutofit/>
          </a:bodyPr>
          <a:lstStyle/>
          <a:p>
            <a:pPr indent="0" marL="0">
              <a:buNone/>
            </a:pPr>
            <a:r>
              <a:rPr lang="en-US" sz="1200" b="1" dirty="0">
                <a:solidFill>
                  <a:srgbClr val="15233B"/>
                </a:solidFill>
                <a:latin typeface="Aptos" pitchFamily="34" charset="0"/>
                <a:ea typeface="Aptos" pitchFamily="34" charset="-122"/>
                <a:cs typeface="Aptos" pitchFamily="34" charset="-120"/>
              </a:rPr>
              <a:t>KEY IDEA  External labels, when available, allow ARI/NMI or precision-recall—but are not required to fit.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r>
              <a:t>PYTHON IMPLEMENTATION</a:t>
            </a:r>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r>
              <a:t>Four unsupervised tasks, four Python patterns</a:t>
            </a:r>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r>
              <a:t>Same discovery mindset; different input representation, model output and evaluation.</a:t>
            </a:r>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23</a:t>
            </a:r>
            <a:endParaRPr lang="en-US" sz="900" dirty="0"/>
          </a:p>
        </p:txBody>
      </p:sp>
      <p:sp>
        <p:nvSpPr>
          <p:cNvPr id="9" name="Rounded Rectangle 8"/>
          <p:cNvSpPr/>
          <p:nvPr/>
        </p:nvSpPr>
        <p:spPr>
          <a:xfrm>
            <a:off x="658368" y="1783080"/>
            <a:ext cx="5376672" cy="1847088"/>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2" y="1920240"/>
            <a:ext cx="484632" cy="365760"/>
          </a:xfrm>
          <a:prstGeom prst="roundRect">
            <a:avLst/>
          </a:prstGeom>
          <a:solidFill>
            <a:srgbClr val="0A97A1"/>
          </a:solidFill>
          <a:ln w="10160">
            <a:solidFill>
              <a:srgbClr val="0A9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1970531"/>
            <a:ext cx="438912" cy="201168"/>
          </a:xfrm>
          <a:prstGeom prst="rect">
            <a:avLst/>
          </a:prstGeom>
          <a:noFill/>
        </p:spPr>
        <p:txBody>
          <a:bodyPr wrap="square" lIns="32004" rIns="32004" tIns="22860" bIns="0">
            <a:spAutoFit/>
          </a:bodyPr>
          <a:lstStyle/>
          <a:p>
            <a:pPr>
              <a:spcAft>
                <a:spcPts val="400"/>
              </a:spcAft>
              <a:defRPr sz="1000" b="1">
                <a:solidFill>
                  <a:srgbClr val="FFFFFF"/>
                </a:solidFill>
                <a:latin typeface="Aptos"/>
              </a:defRPr>
            </a:pPr>
            <a:r>
              <a:t>01</a:t>
            </a:r>
          </a:p>
        </p:txBody>
      </p:sp>
      <p:sp>
        <p:nvSpPr>
          <p:cNvPr id="12" name="TextBox 11"/>
          <p:cNvSpPr txBox="1"/>
          <p:nvPr/>
        </p:nvSpPr>
        <p:spPr>
          <a:xfrm>
            <a:off x="1399032" y="1883664"/>
            <a:ext cx="4297680" cy="274320"/>
          </a:xfrm>
          <a:prstGeom prst="rect">
            <a:avLst/>
          </a:prstGeom>
          <a:noFill/>
        </p:spPr>
        <p:txBody>
          <a:bodyPr wrap="square" lIns="32004" rIns="32004" tIns="22860" bIns="0">
            <a:spAutoFit/>
          </a:bodyPr>
          <a:lstStyle/>
          <a:p>
            <a:pPr>
              <a:spcAft>
                <a:spcPts val="400"/>
              </a:spcAft>
              <a:defRPr sz="1100" b="1">
                <a:solidFill>
                  <a:srgbClr val="0A97A1"/>
                </a:solidFill>
                <a:latin typeface="Aptos"/>
              </a:defRPr>
            </a:pPr>
            <a:r>
              <a:t>CLUSTERING</a:t>
            </a:r>
          </a:p>
        </p:txBody>
      </p:sp>
      <p:sp>
        <p:nvSpPr>
          <p:cNvPr id="13" name="TextBox 12"/>
          <p:cNvSpPr txBox="1"/>
          <p:nvPr/>
        </p:nvSpPr>
        <p:spPr>
          <a:xfrm>
            <a:off x="1399032" y="2212848"/>
            <a:ext cx="4480560" cy="292608"/>
          </a:xfrm>
          <a:prstGeom prst="rect">
            <a:avLst/>
          </a:prstGeom>
          <a:noFill/>
        </p:spPr>
        <p:txBody>
          <a:bodyPr wrap="square" lIns="32004" rIns="32004" tIns="22860" bIns="0">
            <a:spAutoFit/>
          </a:bodyPr>
          <a:lstStyle/>
          <a:p>
            <a:pPr>
              <a:spcAft>
                <a:spcPts val="400"/>
              </a:spcAft>
              <a:defRPr sz="1700" b="1">
                <a:solidFill>
                  <a:srgbClr val="102039"/>
                </a:solidFill>
                <a:latin typeface="Aptos"/>
              </a:defRPr>
            </a:pPr>
            <a:r>
              <a:t>K-Means</a:t>
            </a:r>
          </a:p>
        </p:txBody>
      </p:sp>
      <p:sp>
        <p:nvSpPr>
          <p:cNvPr id="14" name="Rectangle 13"/>
          <p:cNvSpPr/>
          <p:nvPr/>
        </p:nvSpPr>
        <p:spPr>
          <a:xfrm>
            <a:off x="795528" y="2587752"/>
            <a:ext cx="5102352" cy="758952"/>
          </a:xfrm>
          <a:prstGeom prst="rect">
            <a:avLst/>
          </a:prstGeom>
          <a:solidFill>
            <a:srgbClr val="F6F9FC"/>
          </a:solidFill>
          <a:ln w="10160">
            <a:solidFill>
              <a:srgbClr val="ECF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688336"/>
            <a:ext cx="4873752" cy="539496"/>
          </a:xfrm>
          <a:prstGeom prst="rect">
            <a:avLst/>
          </a:prstGeom>
          <a:noFill/>
        </p:spPr>
        <p:txBody>
          <a:bodyPr wrap="square" lIns="32004" rIns="32004" tIns="22860" bIns="0">
            <a:spAutoFit/>
          </a:bodyPr>
          <a:lstStyle/>
          <a:p>
            <a:pPr>
              <a:spcAft>
                <a:spcPts val="400"/>
              </a:spcAft>
              <a:defRPr sz="1100" b="0">
                <a:solidFill>
                  <a:srgbClr val="1D2F45"/>
                </a:solidFill>
                <a:latin typeface="Consolas"/>
              </a:defRPr>
            </a:pPr>
            <a:r>
              <a:t>from sklearn.cluster import KMeans</a:t>
            </a:r>
          </a:p>
          <a:p>
            <a:pPr>
              <a:spcAft>
                <a:spcPts val="400"/>
              </a:spcAft>
              <a:defRPr sz="1100" b="0">
                <a:solidFill>
                  <a:srgbClr val="1D2F45"/>
                </a:solidFill>
                <a:latin typeface="Consolas"/>
              </a:defRPr>
            </a:pPr>
            <a:r>
              <a:t>labels = KMeans(n_clusters=4).fit_predict(X_scaled)</a:t>
            </a:r>
          </a:p>
        </p:txBody>
      </p:sp>
      <p:sp>
        <p:nvSpPr>
          <p:cNvPr id="16" name="TextBox 15"/>
          <p:cNvSpPr txBox="1"/>
          <p:nvPr/>
        </p:nvSpPr>
        <p:spPr>
          <a:xfrm>
            <a:off x="832103" y="3401568"/>
            <a:ext cx="4983480" cy="182880"/>
          </a:xfrm>
          <a:prstGeom prst="rect">
            <a:avLst/>
          </a:prstGeom>
          <a:noFill/>
        </p:spPr>
        <p:txBody>
          <a:bodyPr wrap="square" lIns="32004" rIns="32004" tIns="22860" bIns="0">
            <a:spAutoFit/>
          </a:bodyPr>
          <a:lstStyle/>
          <a:p>
            <a:pPr>
              <a:spcAft>
                <a:spcPts val="400"/>
              </a:spcAft>
              <a:defRPr sz="1000" b="0">
                <a:solidFill>
                  <a:srgbClr val="627485"/>
                </a:solidFill>
                <a:latin typeface="Aptos"/>
              </a:defRPr>
            </a:pPr>
            <a:r>
              <a:t>Output: cluster membership</a:t>
            </a:r>
          </a:p>
        </p:txBody>
      </p:sp>
      <p:sp>
        <p:nvSpPr>
          <p:cNvPr id="17" name="Rounded Rectangle 16"/>
          <p:cNvSpPr/>
          <p:nvPr/>
        </p:nvSpPr>
        <p:spPr>
          <a:xfrm>
            <a:off x="6281928" y="1783080"/>
            <a:ext cx="5376672" cy="1847088"/>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28232" y="1920240"/>
            <a:ext cx="484632" cy="365760"/>
          </a:xfrm>
          <a:prstGeom prst="roundRect">
            <a:avLst/>
          </a:prstGeom>
          <a:solidFill>
            <a:srgbClr val="0A97A1"/>
          </a:solidFill>
          <a:ln w="10160">
            <a:solidFill>
              <a:srgbClr val="0A9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1970531"/>
            <a:ext cx="438912" cy="201168"/>
          </a:xfrm>
          <a:prstGeom prst="rect">
            <a:avLst/>
          </a:prstGeom>
          <a:noFill/>
        </p:spPr>
        <p:txBody>
          <a:bodyPr wrap="square" lIns="32004" rIns="32004" tIns="22860" bIns="0">
            <a:spAutoFit/>
          </a:bodyPr>
          <a:lstStyle/>
          <a:p>
            <a:pPr>
              <a:spcAft>
                <a:spcPts val="400"/>
              </a:spcAft>
              <a:defRPr sz="1000" b="1">
                <a:solidFill>
                  <a:srgbClr val="FFFFFF"/>
                </a:solidFill>
                <a:latin typeface="Aptos"/>
              </a:defRPr>
            </a:pPr>
            <a:r>
              <a:t>02</a:t>
            </a:r>
          </a:p>
        </p:txBody>
      </p:sp>
      <p:sp>
        <p:nvSpPr>
          <p:cNvPr id="20" name="TextBox 19"/>
          <p:cNvSpPr txBox="1"/>
          <p:nvPr/>
        </p:nvSpPr>
        <p:spPr>
          <a:xfrm>
            <a:off x="7022592" y="1883664"/>
            <a:ext cx="4297680" cy="274320"/>
          </a:xfrm>
          <a:prstGeom prst="rect">
            <a:avLst/>
          </a:prstGeom>
          <a:noFill/>
        </p:spPr>
        <p:txBody>
          <a:bodyPr wrap="square" lIns="32004" rIns="32004" tIns="22860" bIns="0">
            <a:spAutoFit/>
          </a:bodyPr>
          <a:lstStyle/>
          <a:p>
            <a:pPr>
              <a:spcAft>
                <a:spcPts val="400"/>
              </a:spcAft>
              <a:defRPr sz="1100" b="1">
                <a:solidFill>
                  <a:srgbClr val="0A97A1"/>
                </a:solidFill>
                <a:latin typeface="Aptos"/>
              </a:defRPr>
            </a:pPr>
            <a:r>
              <a:t>DIMENSIONALITY REDUCTION</a:t>
            </a:r>
          </a:p>
        </p:txBody>
      </p:sp>
      <p:sp>
        <p:nvSpPr>
          <p:cNvPr id="21" name="TextBox 20"/>
          <p:cNvSpPr txBox="1"/>
          <p:nvPr/>
        </p:nvSpPr>
        <p:spPr>
          <a:xfrm>
            <a:off x="7022592" y="2212848"/>
            <a:ext cx="4480560" cy="292608"/>
          </a:xfrm>
          <a:prstGeom prst="rect">
            <a:avLst/>
          </a:prstGeom>
          <a:noFill/>
        </p:spPr>
        <p:txBody>
          <a:bodyPr wrap="square" lIns="32004" rIns="32004" tIns="22860" bIns="0">
            <a:spAutoFit/>
          </a:bodyPr>
          <a:lstStyle/>
          <a:p>
            <a:pPr>
              <a:spcAft>
                <a:spcPts val="400"/>
              </a:spcAft>
              <a:defRPr sz="1700" b="1">
                <a:solidFill>
                  <a:srgbClr val="102039"/>
                </a:solidFill>
                <a:latin typeface="Aptos"/>
              </a:defRPr>
            </a:pPr>
            <a:r>
              <a:t>PCA</a:t>
            </a:r>
          </a:p>
        </p:txBody>
      </p:sp>
      <p:sp>
        <p:nvSpPr>
          <p:cNvPr id="22" name="Rectangle 21"/>
          <p:cNvSpPr/>
          <p:nvPr/>
        </p:nvSpPr>
        <p:spPr>
          <a:xfrm>
            <a:off x="6419088" y="2587752"/>
            <a:ext cx="5102352" cy="758952"/>
          </a:xfrm>
          <a:prstGeom prst="rect">
            <a:avLst/>
          </a:prstGeom>
          <a:solidFill>
            <a:srgbClr val="F6F9FC"/>
          </a:solidFill>
          <a:ln w="10160">
            <a:solidFill>
              <a:srgbClr val="ECF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9672" y="2688336"/>
            <a:ext cx="4873752" cy="539496"/>
          </a:xfrm>
          <a:prstGeom prst="rect">
            <a:avLst/>
          </a:prstGeom>
          <a:noFill/>
        </p:spPr>
        <p:txBody>
          <a:bodyPr wrap="square" lIns="32004" rIns="32004" tIns="22860" bIns="0">
            <a:spAutoFit/>
          </a:bodyPr>
          <a:lstStyle/>
          <a:p>
            <a:pPr>
              <a:spcAft>
                <a:spcPts val="400"/>
              </a:spcAft>
              <a:defRPr sz="1100" b="0">
                <a:solidFill>
                  <a:srgbClr val="1D2F45"/>
                </a:solidFill>
                <a:latin typeface="Consolas"/>
              </a:defRPr>
            </a:pPr>
            <a:r>
              <a:t>from sklearn.decomposition import PCA</a:t>
            </a:r>
          </a:p>
          <a:p>
            <a:pPr>
              <a:spcAft>
                <a:spcPts val="400"/>
              </a:spcAft>
              <a:defRPr sz="1100" b="0">
                <a:solidFill>
                  <a:srgbClr val="1D2F45"/>
                </a:solidFill>
                <a:latin typeface="Consolas"/>
              </a:defRPr>
            </a:pPr>
            <a:r>
              <a:t>X_2d = PCA(n_components=2).fit_transform(X_scaled)</a:t>
            </a:r>
          </a:p>
        </p:txBody>
      </p:sp>
      <p:sp>
        <p:nvSpPr>
          <p:cNvPr id="24" name="TextBox 23"/>
          <p:cNvSpPr txBox="1"/>
          <p:nvPr/>
        </p:nvSpPr>
        <p:spPr>
          <a:xfrm>
            <a:off x="6455664" y="3401568"/>
            <a:ext cx="4983480" cy="182880"/>
          </a:xfrm>
          <a:prstGeom prst="rect">
            <a:avLst/>
          </a:prstGeom>
          <a:noFill/>
        </p:spPr>
        <p:txBody>
          <a:bodyPr wrap="square" lIns="32004" rIns="32004" tIns="22860" bIns="0">
            <a:spAutoFit/>
          </a:bodyPr>
          <a:lstStyle/>
          <a:p>
            <a:pPr>
              <a:spcAft>
                <a:spcPts val="400"/>
              </a:spcAft>
              <a:defRPr sz="1000" b="0">
                <a:solidFill>
                  <a:srgbClr val="627485"/>
                </a:solidFill>
                <a:latin typeface="Aptos"/>
              </a:defRPr>
            </a:pPr>
            <a:r>
              <a:t>Output: transformed features</a:t>
            </a:r>
          </a:p>
        </p:txBody>
      </p:sp>
      <p:sp>
        <p:nvSpPr>
          <p:cNvPr id="25" name="Rounded Rectangle 24"/>
          <p:cNvSpPr/>
          <p:nvPr/>
        </p:nvSpPr>
        <p:spPr>
          <a:xfrm>
            <a:off x="658368" y="3776472"/>
            <a:ext cx="5376672" cy="1847088"/>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4672" y="3913632"/>
            <a:ext cx="484632" cy="365760"/>
          </a:xfrm>
          <a:prstGeom prst="roundRect">
            <a:avLst/>
          </a:prstGeom>
          <a:solidFill>
            <a:srgbClr val="0A97A1"/>
          </a:solidFill>
          <a:ln w="10160">
            <a:solidFill>
              <a:srgbClr val="0A9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7" y="3963924"/>
            <a:ext cx="438912" cy="201168"/>
          </a:xfrm>
          <a:prstGeom prst="rect">
            <a:avLst/>
          </a:prstGeom>
          <a:noFill/>
        </p:spPr>
        <p:txBody>
          <a:bodyPr wrap="square" lIns="32004" rIns="32004" tIns="22860" bIns="0">
            <a:spAutoFit/>
          </a:bodyPr>
          <a:lstStyle/>
          <a:p>
            <a:pPr>
              <a:spcAft>
                <a:spcPts val="400"/>
              </a:spcAft>
              <a:defRPr sz="1000" b="1">
                <a:solidFill>
                  <a:srgbClr val="FFFFFF"/>
                </a:solidFill>
                <a:latin typeface="Aptos"/>
              </a:defRPr>
            </a:pPr>
            <a:r>
              <a:t>03</a:t>
            </a:r>
          </a:p>
        </p:txBody>
      </p:sp>
      <p:sp>
        <p:nvSpPr>
          <p:cNvPr id="28" name="TextBox 27"/>
          <p:cNvSpPr txBox="1"/>
          <p:nvPr/>
        </p:nvSpPr>
        <p:spPr>
          <a:xfrm>
            <a:off x="1399032" y="3877056"/>
            <a:ext cx="4297680" cy="274320"/>
          </a:xfrm>
          <a:prstGeom prst="rect">
            <a:avLst/>
          </a:prstGeom>
          <a:noFill/>
        </p:spPr>
        <p:txBody>
          <a:bodyPr wrap="square" lIns="32004" rIns="32004" tIns="22860" bIns="0">
            <a:spAutoFit/>
          </a:bodyPr>
          <a:lstStyle/>
          <a:p>
            <a:pPr>
              <a:spcAft>
                <a:spcPts val="400"/>
              </a:spcAft>
              <a:defRPr sz="1100" b="1">
                <a:solidFill>
                  <a:srgbClr val="0A97A1"/>
                </a:solidFill>
                <a:latin typeface="Aptos"/>
              </a:defRPr>
            </a:pPr>
            <a:r>
              <a:t>ASSOCIATION RULES</a:t>
            </a:r>
          </a:p>
        </p:txBody>
      </p:sp>
      <p:sp>
        <p:nvSpPr>
          <p:cNvPr id="29" name="TextBox 28"/>
          <p:cNvSpPr txBox="1"/>
          <p:nvPr/>
        </p:nvSpPr>
        <p:spPr>
          <a:xfrm>
            <a:off x="1399032" y="4206240"/>
            <a:ext cx="4480560" cy="292608"/>
          </a:xfrm>
          <a:prstGeom prst="rect">
            <a:avLst/>
          </a:prstGeom>
          <a:noFill/>
        </p:spPr>
        <p:txBody>
          <a:bodyPr wrap="square" lIns="32004" rIns="32004" tIns="22860" bIns="0">
            <a:spAutoFit/>
          </a:bodyPr>
          <a:lstStyle/>
          <a:p>
            <a:pPr>
              <a:spcAft>
                <a:spcPts val="400"/>
              </a:spcAft>
              <a:defRPr sz="1700" b="1">
                <a:solidFill>
                  <a:srgbClr val="102039"/>
                </a:solidFill>
                <a:latin typeface="Aptos"/>
              </a:defRPr>
            </a:pPr>
            <a:r>
              <a:t>Apriori</a:t>
            </a:r>
          </a:p>
        </p:txBody>
      </p:sp>
      <p:sp>
        <p:nvSpPr>
          <p:cNvPr id="30" name="Rectangle 29"/>
          <p:cNvSpPr/>
          <p:nvPr/>
        </p:nvSpPr>
        <p:spPr>
          <a:xfrm>
            <a:off x="795528" y="4581144"/>
            <a:ext cx="5102352" cy="758952"/>
          </a:xfrm>
          <a:prstGeom prst="rect">
            <a:avLst/>
          </a:prstGeom>
          <a:solidFill>
            <a:srgbClr val="F6F9FC"/>
          </a:solidFill>
          <a:ln w="10160">
            <a:solidFill>
              <a:srgbClr val="ECF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4681728"/>
            <a:ext cx="4873752" cy="539496"/>
          </a:xfrm>
          <a:prstGeom prst="rect">
            <a:avLst/>
          </a:prstGeom>
          <a:noFill/>
        </p:spPr>
        <p:txBody>
          <a:bodyPr wrap="square" lIns="32004" rIns="32004" tIns="22860" bIns="0">
            <a:spAutoFit/>
          </a:bodyPr>
          <a:lstStyle/>
          <a:p>
            <a:pPr>
              <a:spcAft>
                <a:spcPts val="400"/>
              </a:spcAft>
              <a:defRPr sz="1100" b="0">
                <a:solidFill>
                  <a:srgbClr val="1D2F45"/>
                </a:solidFill>
                <a:latin typeface="Consolas"/>
              </a:defRPr>
            </a:pPr>
            <a:r>
              <a:t>from mlxtend.frequent_patterns import apriori</a:t>
            </a:r>
          </a:p>
          <a:p>
            <a:pPr>
              <a:spcAft>
                <a:spcPts val="400"/>
              </a:spcAft>
              <a:defRPr sz="1100" b="0">
                <a:solidFill>
                  <a:srgbClr val="1D2F45"/>
                </a:solidFill>
                <a:latin typeface="Consolas"/>
              </a:defRPr>
            </a:pPr>
            <a:r>
              <a:t>itemsets = apriori(basket_bool, min_support=0.1)</a:t>
            </a:r>
          </a:p>
        </p:txBody>
      </p:sp>
      <p:sp>
        <p:nvSpPr>
          <p:cNvPr id="32" name="TextBox 31"/>
          <p:cNvSpPr txBox="1"/>
          <p:nvPr/>
        </p:nvSpPr>
        <p:spPr>
          <a:xfrm>
            <a:off x="832103" y="5394960"/>
            <a:ext cx="4983480" cy="182880"/>
          </a:xfrm>
          <a:prstGeom prst="rect">
            <a:avLst/>
          </a:prstGeom>
          <a:noFill/>
        </p:spPr>
        <p:txBody>
          <a:bodyPr wrap="square" lIns="32004" rIns="32004" tIns="22860" bIns="0">
            <a:spAutoFit/>
          </a:bodyPr>
          <a:lstStyle/>
          <a:p>
            <a:pPr>
              <a:spcAft>
                <a:spcPts val="400"/>
              </a:spcAft>
              <a:defRPr sz="1000" b="0">
                <a:solidFill>
                  <a:srgbClr val="627485"/>
                </a:solidFill>
                <a:latin typeface="Aptos"/>
              </a:defRPr>
            </a:pPr>
            <a:r>
              <a:t>Output: frequent itemsets</a:t>
            </a:r>
          </a:p>
        </p:txBody>
      </p:sp>
      <p:sp>
        <p:nvSpPr>
          <p:cNvPr id="33" name="Rounded Rectangle 32"/>
          <p:cNvSpPr/>
          <p:nvPr/>
        </p:nvSpPr>
        <p:spPr>
          <a:xfrm>
            <a:off x="6281928" y="3776472"/>
            <a:ext cx="5376672" cy="1847088"/>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28232" y="3913632"/>
            <a:ext cx="484632" cy="365760"/>
          </a:xfrm>
          <a:prstGeom prst="roundRect">
            <a:avLst/>
          </a:prstGeom>
          <a:solidFill>
            <a:srgbClr val="0A97A1"/>
          </a:solidFill>
          <a:ln w="10160">
            <a:solidFill>
              <a:srgbClr val="0A9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8" y="3963924"/>
            <a:ext cx="438912" cy="201168"/>
          </a:xfrm>
          <a:prstGeom prst="rect">
            <a:avLst/>
          </a:prstGeom>
          <a:noFill/>
        </p:spPr>
        <p:txBody>
          <a:bodyPr wrap="square" lIns="32004" rIns="32004" tIns="22860" bIns="0">
            <a:spAutoFit/>
          </a:bodyPr>
          <a:lstStyle/>
          <a:p>
            <a:pPr>
              <a:spcAft>
                <a:spcPts val="400"/>
              </a:spcAft>
              <a:defRPr sz="1000" b="1">
                <a:solidFill>
                  <a:srgbClr val="FFFFFF"/>
                </a:solidFill>
                <a:latin typeface="Aptos"/>
              </a:defRPr>
            </a:pPr>
            <a:r>
              <a:t>04</a:t>
            </a:r>
          </a:p>
        </p:txBody>
      </p:sp>
      <p:sp>
        <p:nvSpPr>
          <p:cNvPr id="36" name="TextBox 35"/>
          <p:cNvSpPr txBox="1"/>
          <p:nvPr/>
        </p:nvSpPr>
        <p:spPr>
          <a:xfrm>
            <a:off x="7022592" y="3877056"/>
            <a:ext cx="4297680" cy="274320"/>
          </a:xfrm>
          <a:prstGeom prst="rect">
            <a:avLst/>
          </a:prstGeom>
          <a:noFill/>
        </p:spPr>
        <p:txBody>
          <a:bodyPr wrap="square" lIns="32004" rIns="32004" tIns="22860" bIns="0">
            <a:spAutoFit/>
          </a:bodyPr>
          <a:lstStyle/>
          <a:p>
            <a:pPr>
              <a:spcAft>
                <a:spcPts val="400"/>
              </a:spcAft>
              <a:defRPr sz="1100" b="1">
                <a:solidFill>
                  <a:srgbClr val="0A97A1"/>
                </a:solidFill>
                <a:latin typeface="Aptos"/>
              </a:defRPr>
            </a:pPr>
            <a:r>
              <a:t>ANOMALY DETECTION</a:t>
            </a:r>
          </a:p>
        </p:txBody>
      </p:sp>
      <p:sp>
        <p:nvSpPr>
          <p:cNvPr id="37" name="TextBox 36"/>
          <p:cNvSpPr txBox="1"/>
          <p:nvPr/>
        </p:nvSpPr>
        <p:spPr>
          <a:xfrm>
            <a:off x="7022592" y="4206240"/>
            <a:ext cx="4480560" cy="292608"/>
          </a:xfrm>
          <a:prstGeom prst="rect">
            <a:avLst/>
          </a:prstGeom>
          <a:noFill/>
        </p:spPr>
        <p:txBody>
          <a:bodyPr wrap="square" lIns="32004" rIns="32004" tIns="22860" bIns="0">
            <a:spAutoFit/>
          </a:bodyPr>
          <a:lstStyle/>
          <a:p>
            <a:pPr>
              <a:spcAft>
                <a:spcPts val="400"/>
              </a:spcAft>
              <a:defRPr sz="1700" b="1">
                <a:solidFill>
                  <a:srgbClr val="102039"/>
                </a:solidFill>
                <a:latin typeface="Aptos"/>
              </a:defRPr>
            </a:pPr>
            <a:r>
              <a:t>Isolation Forest</a:t>
            </a:r>
          </a:p>
        </p:txBody>
      </p:sp>
      <p:sp>
        <p:nvSpPr>
          <p:cNvPr id="38" name="Rectangle 37"/>
          <p:cNvSpPr/>
          <p:nvPr/>
        </p:nvSpPr>
        <p:spPr>
          <a:xfrm>
            <a:off x="6419088" y="4581144"/>
            <a:ext cx="5102352" cy="758952"/>
          </a:xfrm>
          <a:prstGeom prst="rect">
            <a:avLst/>
          </a:prstGeom>
          <a:solidFill>
            <a:srgbClr val="F6F9FC"/>
          </a:solidFill>
          <a:ln w="10160">
            <a:solidFill>
              <a:srgbClr val="ECF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19672" y="4681728"/>
            <a:ext cx="4873752" cy="539496"/>
          </a:xfrm>
          <a:prstGeom prst="rect">
            <a:avLst/>
          </a:prstGeom>
          <a:noFill/>
        </p:spPr>
        <p:txBody>
          <a:bodyPr wrap="square" lIns="32004" rIns="32004" tIns="22860" bIns="0">
            <a:spAutoFit/>
          </a:bodyPr>
          <a:lstStyle/>
          <a:p>
            <a:pPr>
              <a:spcAft>
                <a:spcPts val="400"/>
              </a:spcAft>
              <a:defRPr sz="1100" b="0">
                <a:solidFill>
                  <a:srgbClr val="1D2F45"/>
                </a:solidFill>
                <a:latin typeface="Consolas"/>
              </a:defRPr>
            </a:pPr>
            <a:r>
              <a:t>from sklearn.ensemble import IsolationForest</a:t>
            </a:r>
          </a:p>
          <a:p>
            <a:pPr>
              <a:spcAft>
                <a:spcPts val="400"/>
              </a:spcAft>
              <a:defRPr sz="1100" b="0">
                <a:solidFill>
                  <a:srgbClr val="1D2F45"/>
                </a:solidFill>
                <a:latin typeface="Consolas"/>
              </a:defRPr>
            </a:pPr>
            <a:r>
              <a:t>flags = IsolationForest().fit_predict(X_scaled)</a:t>
            </a:r>
          </a:p>
        </p:txBody>
      </p:sp>
      <p:sp>
        <p:nvSpPr>
          <p:cNvPr id="40" name="TextBox 39"/>
          <p:cNvSpPr txBox="1"/>
          <p:nvPr/>
        </p:nvSpPr>
        <p:spPr>
          <a:xfrm>
            <a:off x="6455664" y="5394960"/>
            <a:ext cx="4983480" cy="182880"/>
          </a:xfrm>
          <a:prstGeom prst="rect">
            <a:avLst/>
          </a:prstGeom>
          <a:noFill/>
        </p:spPr>
        <p:txBody>
          <a:bodyPr wrap="square" lIns="32004" rIns="32004" tIns="22860" bIns="0">
            <a:spAutoFit/>
          </a:bodyPr>
          <a:lstStyle/>
          <a:p>
            <a:pPr>
              <a:spcAft>
                <a:spcPts val="400"/>
              </a:spcAft>
              <a:defRPr sz="1000" b="0">
                <a:solidFill>
                  <a:srgbClr val="627485"/>
                </a:solidFill>
                <a:latin typeface="Aptos"/>
              </a:defRPr>
            </a:pPr>
            <a:r>
              <a:t>Output: +1 normal, −1 anomaly</a:t>
            </a:r>
          </a:p>
        </p:txBody>
      </p:sp>
      <p:sp>
        <p:nvSpPr>
          <p:cNvPr id="41" name="TextBox 40"/>
          <p:cNvSpPr txBox="1"/>
          <p:nvPr/>
        </p:nvSpPr>
        <p:spPr>
          <a:xfrm>
            <a:off x="813816" y="5934456"/>
            <a:ext cx="10625328" cy="365760"/>
          </a:xfrm>
          <a:prstGeom prst="rect">
            <a:avLst/>
          </a:prstGeom>
          <a:noFill/>
        </p:spPr>
        <p:txBody>
          <a:bodyPr wrap="square" lIns="32004" rIns="32004" tIns="22860" bIns="0">
            <a:spAutoFit/>
          </a:bodyPr>
          <a:lstStyle/>
          <a:p>
            <a:pPr>
              <a:spcAft>
                <a:spcPts val="400"/>
              </a:spcAft>
              <a:defRPr sz="1100" b="0">
                <a:solidFill>
                  <a:srgbClr val="627485"/>
                </a:solidFill>
                <a:latin typeface="Aptos"/>
              </a:defRPr>
            </a:pPr>
            <a:r>
              <a:t>Inputs are prepared separately: numeric feature matrix for K-Means / PCA / Isolation Forest; one-hot transaction basket for Apriori.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7F8C"/>
          </a:solidFill>
          <a:ln w="12700">
            <a:solidFill>
              <a:srgbClr val="087F8C">
                <a:alpha val="0"/>
              </a:srgbClr>
            </a:solidFill>
            <a:prstDash val="solid"/>
          </a:ln>
        </p:spPr>
      </p:sp>
      <p:sp>
        <p:nvSpPr>
          <p:cNvPr id="3" name="Text 1"/>
          <p:cNvSpPr/>
          <p:nvPr/>
        </p:nvSpPr>
        <p:spPr>
          <a:xfrm>
            <a:off x="566928" y="256032"/>
            <a:ext cx="9144000" cy="256032"/>
          </a:xfrm>
          <a:prstGeom prst="rect">
            <a:avLst/>
          </a:prstGeom>
          <a:noFill/>
          <a:ln/>
        </p:spPr>
        <p:txBody>
          <a:bodyPr wrap="square" lIns="0" tIns="0" rIns="0" bIns="0" rtlCol="0" anchor="ctr">
            <a:normAutofit/>
          </a:bodyPr>
          <a:lstStyle/>
          <a:p>
            <a:r>
              <a:t>PRACTICAL APPLICATIONS</a:t>
            </a:r>
          </a:p>
        </p:txBody>
      </p:sp>
      <p:sp>
        <p:nvSpPr>
          <p:cNvPr id="4" name="Text 2"/>
          <p:cNvSpPr/>
          <p:nvPr/>
        </p:nvSpPr>
        <p:spPr>
          <a:xfrm>
            <a:off x="566928" y="603504"/>
            <a:ext cx="11064240" cy="576072"/>
          </a:xfrm>
          <a:prstGeom prst="rect">
            <a:avLst/>
          </a:prstGeom>
          <a:noFill/>
          <a:ln/>
        </p:spPr>
        <p:txBody>
          <a:bodyPr wrap="square" lIns="0" tIns="0" rIns="0" bIns="0" rtlCol="0" anchor="ctr">
            <a:normAutofit/>
          </a:bodyPr>
          <a:lstStyle/>
          <a:p>
            <a:r>
              <a:t>One learning paradigm, four business outcomes</a:t>
            </a:r>
          </a:p>
        </p:txBody>
      </p:sp>
      <p:sp>
        <p:nvSpPr>
          <p:cNvPr id="5" name="Text 3"/>
          <p:cNvSpPr/>
          <p:nvPr/>
        </p:nvSpPr>
        <p:spPr>
          <a:xfrm>
            <a:off x="585216" y="1188720"/>
            <a:ext cx="10972800" cy="393192"/>
          </a:xfrm>
          <a:prstGeom prst="rect">
            <a:avLst/>
          </a:prstGeom>
          <a:noFill/>
          <a:ln/>
        </p:spPr>
        <p:txBody>
          <a:bodyPr wrap="square" lIns="0" tIns="0" rIns="0" bIns="0" rtlCol="0" anchor="ctr">
            <a:normAutofit/>
          </a:bodyPr>
          <a:lstStyle/>
          <a:p>
            <a:r>
              <a:t>Unlabeled data becomes useful only after patterns are validated and translated into decisions.</a:t>
            </a:r>
          </a:p>
        </p:txBody>
      </p:sp>
      <p:sp>
        <p:nvSpPr>
          <p:cNvPr id="6" name="Shape 4"/>
          <p:cNvSpPr/>
          <p:nvPr/>
        </p:nvSpPr>
        <p:spPr>
          <a:xfrm>
            <a:off x="585216" y="6473952"/>
            <a:ext cx="11018520" cy="0"/>
          </a:xfrm>
          <a:prstGeom prst="line">
            <a:avLst/>
          </a:prstGeom>
          <a:noFill/>
          <a:ln w="12700">
            <a:solidFill>
              <a:srgbClr val="DCE2EB"/>
            </a:solidFill>
            <a:prstDash val="solid"/>
          </a:ln>
        </p:spPr>
      </p:sp>
      <p:sp>
        <p:nvSpPr>
          <p:cNvPr id="7" name="Text 5"/>
          <p:cNvSpPr/>
          <p:nvPr/>
        </p:nvSpPr>
        <p:spPr>
          <a:xfrm>
            <a:off x="594360" y="6528816"/>
            <a:ext cx="8229600" cy="182880"/>
          </a:xfrm>
          <a:prstGeom prst="rect">
            <a:avLst/>
          </a:prstGeom>
          <a:noFill/>
          <a:ln/>
        </p:spPr>
        <p:txBody>
          <a:bodyPr wrap="square" lIns="0" tIns="0" rIns="0" bIns="0" rtlCol="0" anchor="ctr">
            <a:normAutofit/>
          </a:bodyPr>
          <a:lstStyle/>
          <a:p>
            <a:pPr indent="0" marL="0">
              <a:buNone/>
            </a:pPr>
            <a:r>
              <a:rPr lang="en-US" sz="800" b="1" spc="100" kern="0" dirty="0">
                <a:solidFill>
                  <a:srgbClr val="8795A9"/>
                </a:solidFill>
                <a:latin typeface="Aptos" pitchFamily="34" charset="0"/>
                <a:ea typeface="Aptos" pitchFamily="34" charset="-122"/>
                <a:cs typeface="Aptos" pitchFamily="34" charset="-120"/>
              </a:rPr>
              <a:t>UNSUPERVISED LEARNING  /  TECHNICAL MASTERCLASS</a:t>
            </a:r>
            <a:endParaRPr lang="en-US" sz="800" dirty="0"/>
          </a:p>
        </p:txBody>
      </p:sp>
      <p:sp>
        <p:nvSpPr>
          <p:cNvPr id="8" name="Text 6"/>
          <p:cNvSpPr/>
          <p:nvPr/>
        </p:nvSpPr>
        <p:spPr>
          <a:xfrm>
            <a:off x="11064240" y="6519672"/>
            <a:ext cx="502920" cy="192024"/>
          </a:xfrm>
          <a:prstGeom prst="rect">
            <a:avLst/>
          </a:prstGeom>
          <a:noFill/>
          <a:ln/>
        </p:spPr>
        <p:txBody>
          <a:bodyPr wrap="square" lIns="0" tIns="0" rIns="0" bIns="0" rtlCol="0" anchor="ctr">
            <a:normAutofit/>
          </a:bodyPr>
          <a:lstStyle/>
          <a:p>
            <a:pPr algn="r" indent="0" marL="0">
              <a:buNone/>
            </a:pPr>
            <a:r>
              <a:rPr lang="en-US" sz="900" b="1" dirty="0">
                <a:solidFill>
                  <a:srgbClr val="58667B"/>
                </a:solidFill>
                <a:latin typeface="Aptos" pitchFamily="34" charset="0"/>
                <a:ea typeface="Aptos" pitchFamily="34" charset="-122"/>
                <a:cs typeface="Aptos" pitchFamily="34" charset="-120"/>
              </a:rPr>
              <a:t>24</a:t>
            </a:r>
            <a:endParaRPr lang="en-US" sz="900" dirty="0"/>
          </a:p>
        </p:txBody>
      </p:sp>
      <p:sp>
        <p:nvSpPr>
          <p:cNvPr id="9" name="Rounded Rectangle 8"/>
          <p:cNvSpPr/>
          <p:nvPr/>
        </p:nvSpPr>
        <p:spPr>
          <a:xfrm>
            <a:off x="685800" y="1773936"/>
            <a:ext cx="5330952" cy="1801368"/>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50392" y="1929384"/>
            <a:ext cx="1097280" cy="320040"/>
          </a:xfrm>
          <a:prstGeom prst="roundRect">
            <a:avLst/>
          </a:prstGeom>
          <a:solidFill>
            <a:srgbClr val="EDF6F8"/>
          </a:solidFill>
          <a:ln w="10160">
            <a:solidFill>
              <a:srgbClr val="ED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975104"/>
            <a:ext cx="1005840" cy="219456"/>
          </a:xfrm>
          <a:prstGeom prst="rect">
            <a:avLst/>
          </a:prstGeom>
          <a:noFill/>
        </p:spPr>
        <p:txBody>
          <a:bodyPr wrap="square" lIns="32004" rIns="32004" tIns="22860" bIns="0">
            <a:spAutoFit/>
          </a:bodyPr>
          <a:lstStyle/>
          <a:p>
            <a:pPr>
              <a:spcAft>
                <a:spcPts val="400"/>
              </a:spcAft>
              <a:defRPr sz="1000" b="1">
                <a:solidFill>
                  <a:srgbClr val="0A97A1"/>
                </a:solidFill>
                <a:latin typeface="Aptos"/>
              </a:defRPr>
            </a:pPr>
            <a:r>
              <a:t>CLUSTER</a:t>
            </a:r>
          </a:p>
        </p:txBody>
      </p:sp>
      <p:sp>
        <p:nvSpPr>
          <p:cNvPr id="12" name="TextBox 11"/>
          <p:cNvSpPr txBox="1"/>
          <p:nvPr/>
        </p:nvSpPr>
        <p:spPr>
          <a:xfrm>
            <a:off x="850392" y="2331720"/>
            <a:ext cx="4992624" cy="384048"/>
          </a:xfrm>
          <a:prstGeom prst="rect">
            <a:avLst/>
          </a:prstGeom>
          <a:noFill/>
        </p:spPr>
        <p:txBody>
          <a:bodyPr wrap="square" lIns="32004" rIns="32004" tIns="22860" bIns="0">
            <a:spAutoFit/>
          </a:bodyPr>
          <a:lstStyle/>
          <a:p>
            <a:pPr>
              <a:spcAft>
                <a:spcPts val="400"/>
              </a:spcAft>
              <a:defRPr sz="1900" b="1">
                <a:solidFill>
                  <a:srgbClr val="102039"/>
                </a:solidFill>
                <a:latin typeface="Aptos"/>
              </a:defRPr>
            </a:pPr>
            <a:r>
              <a:t>Customer segmentation</a:t>
            </a:r>
          </a:p>
        </p:txBody>
      </p:sp>
      <p:sp>
        <p:nvSpPr>
          <p:cNvPr id="13" name="TextBox 12"/>
          <p:cNvSpPr txBox="1"/>
          <p:nvPr/>
        </p:nvSpPr>
        <p:spPr>
          <a:xfrm>
            <a:off x="850392" y="2734056"/>
            <a:ext cx="4965192" cy="448056"/>
          </a:xfrm>
          <a:prstGeom prst="rect">
            <a:avLst/>
          </a:prstGeom>
          <a:noFill/>
        </p:spPr>
        <p:txBody>
          <a:bodyPr wrap="square" lIns="32004" rIns="32004" tIns="22860" bIns="0">
            <a:spAutoFit/>
          </a:bodyPr>
          <a:lstStyle/>
          <a:p>
            <a:pPr>
              <a:spcAft>
                <a:spcPts val="400"/>
              </a:spcAft>
              <a:defRPr sz="1200" b="0">
                <a:solidFill>
                  <a:srgbClr val="1D2F45"/>
                </a:solidFill>
                <a:latin typeface="Aptos"/>
              </a:defRPr>
            </a:pPr>
            <a:r>
              <a:t>Identify behavior-based groups for tailored retention or engagement.</a:t>
            </a:r>
          </a:p>
        </p:txBody>
      </p:sp>
      <p:sp>
        <p:nvSpPr>
          <p:cNvPr id="14" name="TextBox 13"/>
          <p:cNvSpPr txBox="1"/>
          <p:nvPr/>
        </p:nvSpPr>
        <p:spPr>
          <a:xfrm>
            <a:off x="850392" y="3282696"/>
            <a:ext cx="4946904" cy="201168"/>
          </a:xfrm>
          <a:prstGeom prst="rect">
            <a:avLst/>
          </a:prstGeom>
          <a:noFill/>
        </p:spPr>
        <p:txBody>
          <a:bodyPr wrap="square" lIns="32004" rIns="32004" tIns="22860" bIns="0">
            <a:spAutoFit/>
          </a:bodyPr>
          <a:lstStyle/>
          <a:p>
            <a:pPr>
              <a:spcAft>
                <a:spcPts val="400"/>
              </a:spcAft>
              <a:defRPr sz="1000" b="0">
                <a:solidFill>
                  <a:srgbClr val="627485"/>
                </a:solidFill>
                <a:latin typeface="Aptos"/>
              </a:defRPr>
            </a:pPr>
            <a:r>
              <a:t>Telecom: customer usage and support patterns</a:t>
            </a:r>
          </a:p>
        </p:txBody>
      </p:sp>
      <p:sp>
        <p:nvSpPr>
          <p:cNvPr id="15" name="Rounded Rectangle 14"/>
          <p:cNvSpPr/>
          <p:nvPr/>
        </p:nvSpPr>
        <p:spPr>
          <a:xfrm>
            <a:off x="6263640" y="1773936"/>
            <a:ext cx="5330952" cy="1801368"/>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28231" y="1929384"/>
            <a:ext cx="1097280" cy="320040"/>
          </a:xfrm>
          <a:prstGeom prst="roundRect">
            <a:avLst/>
          </a:prstGeom>
          <a:solidFill>
            <a:srgbClr val="EDF6F8"/>
          </a:solidFill>
          <a:ln w="10160">
            <a:solidFill>
              <a:srgbClr val="ED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975104"/>
            <a:ext cx="1005840" cy="219456"/>
          </a:xfrm>
          <a:prstGeom prst="rect">
            <a:avLst/>
          </a:prstGeom>
          <a:noFill/>
        </p:spPr>
        <p:txBody>
          <a:bodyPr wrap="square" lIns="32004" rIns="32004" tIns="22860" bIns="0">
            <a:spAutoFit/>
          </a:bodyPr>
          <a:lstStyle/>
          <a:p>
            <a:pPr>
              <a:spcAft>
                <a:spcPts val="400"/>
              </a:spcAft>
              <a:defRPr sz="1000" b="1">
                <a:solidFill>
                  <a:srgbClr val="0A97A1"/>
                </a:solidFill>
                <a:latin typeface="Aptos"/>
              </a:defRPr>
            </a:pPr>
            <a:r>
              <a:t>REDUCE</a:t>
            </a:r>
          </a:p>
        </p:txBody>
      </p:sp>
      <p:sp>
        <p:nvSpPr>
          <p:cNvPr id="18" name="TextBox 17"/>
          <p:cNvSpPr txBox="1"/>
          <p:nvPr/>
        </p:nvSpPr>
        <p:spPr>
          <a:xfrm>
            <a:off x="6428231" y="2331720"/>
            <a:ext cx="4992624" cy="384048"/>
          </a:xfrm>
          <a:prstGeom prst="rect">
            <a:avLst/>
          </a:prstGeom>
          <a:noFill/>
        </p:spPr>
        <p:txBody>
          <a:bodyPr wrap="square" lIns="32004" rIns="32004" tIns="22860" bIns="0">
            <a:spAutoFit/>
          </a:bodyPr>
          <a:lstStyle/>
          <a:p>
            <a:pPr>
              <a:spcAft>
                <a:spcPts val="400"/>
              </a:spcAft>
              <a:defRPr sz="1900" b="1">
                <a:solidFill>
                  <a:srgbClr val="102039"/>
                </a:solidFill>
                <a:latin typeface="Aptos"/>
              </a:defRPr>
            </a:pPr>
            <a:r>
              <a:t>Exploratory analysis</a:t>
            </a:r>
          </a:p>
        </p:txBody>
      </p:sp>
      <p:sp>
        <p:nvSpPr>
          <p:cNvPr id="19" name="TextBox 18"/>
          <p:cNvSpPr txBox="1"/>
          <p:nvPr/>
        </p:nvSpPr>
        <p:spPr>
          <a:xfrm>
            <a:off x="6428231" y="2734056"/>
            <a:ext cx="4965192" cy="448056"/>
          </a:xfrm>
          <a:prstGeom prst="rect">
            <a:avLst/>
          </a:prstGeom>
          <a:noFill/>
        </p:spPr>
        <p:txBody>
          <a:bodyPr wrap="square" lIns="32004" rIns="32004" tIns="22860" bIns="0">
            <a:spAutoFit/>
          </a:bodyPr>
          <a:lstStyle/>
          <a:p>
            <a:pPr>
              <a:spcAft>
                <a:spcPts val="400"/>
              </a:spcAft>
              <a:defRPr sz="1200" b="0">
                <a:solidFill>
                  <a:srgbClr val="1D2F45"/>
                </a:solidFill>
                <a:latin typeface="Aptos"/>
              </a:defRPr>
            </a:pPr>
            <a:r>
              <a:t>Compress complex feature spaces to investigate structure and redundancy.</a:t>
            </a:r>
          </a:p>
        </p:txBody>
      </p:sp>
      <p:sp>
        <p:nvSpPr>
          <p:cNvPr id="20" name="TextBox 19"/>
          <p:cNvSpPr txBox="1"/>
          <p:nvPr/>
        </p:nvSpPr>
        <p:spPr>
          <a:xfrm>
            <a:off x="6428231" y="3282696"/>
            <a:ext cx="4946904" cy="201168"/>
          </a:xfrm>
          <a:prstGeom prst="rect">
            <a:avLst/>
          </a:prstGeom>
          <a:noFill/>
        </p:spPr>
        <p:txBody>
          <a:bodyPr wrap="square" lIns="32004" rIns="32004" tIns="22860" bIns="0">
            <a:spAutoFit/>
          </a:bodyPr>
          <a:lstStyle/>
          <a:p>
            <a:pPr>
              <a:spcAft>
                <a:spcPts val="400"/>
              </a:spcAft>
              <a:defRPr sz="1000" b="0">
                <a:solidFill>
                  <a:srgbClr val="627485"/>
                </a:solidFill>
                <a:latin typeface="Aptos"/>
              </a:defRPr>
            </a:pPr>
            <a:r>
              <a:t>Retail: visualize multichannel customer profiles</a:t>
            </a:r>
          </a:p>
        </p:txBody>
      </p:sp>
      <p:sp>
        <p:nvSpPr>
          <p:cNvPr id="21" name="Rounded Rectangle 20"/>
          <p:cNvSpPr/>
          <p:nvPr/>
        </p:nvSpPr>
        <p:spPr>
          <a:xfrm>
            <a:off x="685800" y="3749039"/>
            <a:ext cx="5330952" cy="1801368"/>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50392" y="3904487"/>
            <a:ext cx="1097280" cy="320040"/>
          </a:xfrm>
          <a:prstGeom prst="roundRect">
            <a:avLst/>
          </a:prstGeom>
          <a:solidFill>
            <a:srgbClr val="EDF6F8"/>
          </a:solidFill>
          <a:ln w="10160">
            <a:solidFill>
              <a:srgbClr val="ED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950207"/>
            <a:ext cx="1005840" cy="219456"/>
          </a:xfrm>
          <a:prstGeom prst="rect">
            <a:avLst/>
          </a:prstGeom>
          <a:noFill/>
        </p:spPr>
        <p:txBody>
          <a:bodyPr wrap="square" lIns="32004" rIns="32004" tIns="22860" bIns="0">
            <a:spAutoFit/>
          </a:bodyPr>
          <a:lstStyle/>
          <a:p>
            <a:pPr>
              <a:spcAft>
                <a:spcPts val="400"/>
              </a:spcAft>
              <a:defRPr sz="1000" b="1">
                <a:solidFill>
                  <a:srgbClr val="0A97A1"/>
                </a:solidFill>
                <a:latin typeface="Aptos"/>
              </a:defRPr>
            </a:pPr>
            <a:r>
              <a:t>ASSOCIATE</a:t>
            </a:r>
          </a:p>
        </p:txBody>
      </p:sp>
      <p:sp>
        <p:nvSpPr>
          <p:cNvPr id="24" name="TextBox 23"/>
          <p:cNvSpPr txBox="1"/>
          <p:nvPr/>
        </p:nvSpPr>
        <p:spPr>
          <a:xfrm>
            <a:off x="850392" y="4306824"/>
            <a:ext cx="4992624" cy="384048"/>
          </a:xfrm>
          <a:prstGeom prst="rect">
            <a:avLst/>
          </a:prstGeom>
          <a:noFill/>
        </p:spPr>
        <p:txBody>
          <a:bodyPr wrap="square" lIns="32004" rIns="32004" tIns="22860" bIns="0">
            <a:spAutoFit/>
          </a:bodyPr>
          <a:lstStyle/>
          <a:p>
            <a:pPr>
              <a:spcAft>
                <a:spcPts val="400"/>
              </a:spcAft>
              <a:defRPr sz="1900" b="1">
                <a:solidFill>
                  <a:srgbClr val="102039"/>
                </a:solidFill>
                <a:latin typeface="Aptos"/>
              </a:defRPr>
            </a:pPr>
            <a:r>
              <a:t>Basket recommendations</a:t>
            </a:r>
          </a:p>
        </p:txBody>
      </p:sp>
      <p:sp>
        <p:nvSpPr>
          <p:cNvPr id="25" name="TextBox 24"/>
          <p:cNvSpPr txBox="1"/>
          <p:nvPr/>
        </p:nvSpPr>
        <p:spPr>
          <a:xfrm>
            <a:off x="850392" y="4709159"/>
            <a:ext cx="4965192" cy="448056"/>
          </a:xfrm>
          <a:prstGeom prst="rect">
            <a:avLst/>
          </a:prstGeom>
          <a:noFill/>
        </p:spPr>
        <p:txBody>
          <a:bodyPr wrap="square" lIns="32004" rIns="32004" tIns="22860" bIns="0">
            <a:spAutoFit/>
          </a:bodyPr>
          <a:lstStyle/>
          <a:p>
            <a:pPr>
              <a:spcAft>
                <a:spcPts val="400"/>
              </a:spcAft>
              <a:defRPr sz="1200" b="0">
                <a:solidFill>
                  <a:srgbClr val="1D2F45"/>
                </a:solidFill>
                <a:latin typeface="Aptos"/>
              </a:defRPr>
            </a:pPr>
            <a:r>
              <a:t>Find frequently co-purchased products and relevant cross-sell opportunities.</a:t>
            </a:r>
          </a:p>
        </p:txBody>
      </p:sp>
      <p:sp>
        <p:nvSpPr>
          <p:cNvPr id="26" name="TextBox 25"/>
          <p:cNvSpPr txBox="1"/>
          <p:nvPr/>
        </p:nvSpPr>
        <p:spPr>
          <a:xfrm>
            <a:off x="850392" y="5257800"/>
            <a:ext cx="4946904" cy="201168"/>
          </a:xfrm>
          <a:prstGeom prst="rect">
            <a:avLst/>
          </a:prstGeom>
          <a:noFill/>
        </p:spPr>
        <p:txBody>
          <a:bodyPr wrap="square" lIns="32004" rIns="32004" tIns="22860" bIns="0">
            <a:spAutoFit/>
          </a:bodyPr>
          <a:lstStyle/>
          <a:p>
            <a:pPr>
              <a:spcAft>
                <a:spcPts val="400"/>
              </a:spcAft>
              <a:defRPr sz="1000" b="0">
                <a:solidFill>
                  <a:srgbClr val="627485"/>
                </a:solidFill>
                <a:latin typeface="Aptos"/>
              </a:defRPr>
            </a:pPr>
            <a:r>
              <a:t>Retail: transaction-level bundles</a:t>
            </a:r>
          </a:p>
        </p:txBody>
      </p:sp>
      <p:sp>
        <p:nvSpPr>
          <p:cNvPr id="27" name="Rounded Rectangle 26"/>
          <p:cNvSpPr/>
          <p:nvPr/>
        </p:nvSpPr>
        <p:spPr>
          <a:xfrm>
            <a:off x="6263640" y="3749039"/>
            <a:ext cx="5330952" cy="1801368"/>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28231" y="3904487"/>
            <a:ext cx="1097280" cy="320040"/>
          </a:xfrm>
          <a:prstGeom prst="roundRect">
            <a:avLst/>
          </a:prstGeom>
          <a:solidFill>
            <a:srgbClr val="EDF6F8"/>
          </a:solidFill>
          <a:ln w="10160">
            <a:solidFill>
              <a:srgbClr val="ED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950207"/>
            <a:ext cx="1005840" cy="219456"/>
          </a:xfrm>
          <a:prstGeom prst="rect">
            <a:avLst/>
          </a:prstGeom>
          <a:noFill/>
        </p:spPr>
        <p:txBody>
          <a:bodyPr wrap="square" lIns="32004" rIns="32004" tIns="22860" bIns="0">
            <a:spAutoFit/>
          </a:bodyPr>
          <a:lstStyle/>
          <a:p>
            <a:pPr>
              <a:spcAft>
                <a:spcPts val="400"/>
              </a:spcAft>
              <a:defRPr sz="1000" b="1">
                <a:solidFill>
                  <a:srgbClr val="0A97A1"/>
                </a:solidFill>
                <a:latin typeface="Aptos"/>
              </a:defRPr>
            </a:pPr>
            <a:r>
              <a:t>DETECT</a:t>
            </a:r>
          </a:p>
        </p:txBody>
      </p:sp>
      <p:sp>
        <p:nvSpPr>
          <p:cNvPr id="30" name="TextBox 29"/>
          <p:cNvSpPr txBox="1"/>
          <p:nvPr/>
        </p:nvSpPr>
        <p:spPr>
          <a:xfrm>
            <a:off x="6428231" y="4306824"/>
            <a:ext cx="4992624" cy="384048"/>
          </a:xfrm>
          <a:prstGeom prst="rect">
            <a:avLst/>
          </a:prstGeom>
          <a:noFill/>
        </p:spPr>
        <p:txBody>
          <a:bodyPr wrap="square" lIns="32004" rIns="32004" tIns="22860" bIns="0">
            <a:spAutoFit/>
          </a:bodyPr>
          <a:lstStyle/>
          <a:p>
            <a:pPr>
              <a:spcAft>
                <a:spcPts val="400"/>
              </a:spcAft>
              <a:defRPr sz="1900" b="1">
                <a:solidFill>
                  <a:srgbClr val="102039"/>
                </a:solidFill>
                <a:latin typeface="Aptos"/>
              </a:defRPr>
            </a:pPr>
            <a:r>
              <a:t>Risk and quality review</a:t>
            </a:r>
          </a:p>
        </p:txBody>
      </p:sp>
      <p:sp>
        <p:nvSpPr>
          <p:cNvPr id="31" name="TextBox 30"/>
          <p:cNvSpPr txBox="1"/>
          <p:nvPr/>
        </p:nvSpPr>
        <p:spPr>
          <a:xfrm>
            <a:off x="6428231" y="4709159"/>
            <a:ext cx="4965192" cy="448056"/>
          </a:xfrm>
          <a:prstGeom prst="rect">
            <a:avLst/>
          </a:prstGeom>
          <a:noFill/>
        </p:spPr>
        <p:txBody>
          <a:bodyPr wrap="square" lIns="32004" rIns="32004" tIns="22860" bIns="0">
            <a:spAutoFit/>
          </a:bodyPr>
          <a:lstStyle/>
          <a:p>
            <a:pPr>
              <a:spcAft>
                <a:spcPts val="400"/>
              </a:spcAft>
              <a:defRPr sz="1200" b="0">
                <a:solidFill>
                  <a:srgbClr val="1D2F45"/>
                </a:solidFill>
                <a:latin typeface="Aptos"/>
              </a:defRPr>
            </a:pPr>
            <a:r>
              <a:t>Prioritize unusual transactions, sensor readings, or inconsistent records.</a:t>
            </a:r>
          </a:p>
        </p:txBody>
      </p:sp>
      <p:sp>
        <p:nvSpPr>
          <p:cNvPr id="32" name="TextBox 31"/>
          <p:cNvSpPr txBox="1"/>
          <p:nvPr/>
        </p:nvSpPr>
        <p:spPr>
          <a:xfrm>
            <a:off x="6428231" y="5257800"/>
            <a:ext cx="4946904" cy="201168"/>
          </a:xfrm>
          <a:prstGeom prst="rect">
            <a:avLst/>
          </a:prstGeom>
          <a:noFill/>
        </p:spPr>
        <p:txBody>
          <a:bodyPr wrap="square" lIns="32004" rIns="32004" tIns="22860" bIns="0">
            <a:spAutoFit/>
          </a:bodyPr>
          <a:lstStyle/>
          <a:p>
            <a:pPr>
              <a:spcAft>
                <a:spcPts val="400"/>
              </a:spcAft>
              <a:defRPr sz="1000" b="0">
                <a:solidFill>
                  <a:srgbClr val="627485"/>
                </a:solidFill>
                <a:latin typeface="Aptos"/>
              </a:defRPr>
            </a:pPr>
            <a:r>
              <a:t>Retail: spending anomalies for verification</a:t>
            </a:r>
          </a:p>
        </p:txBody>
      </p:sp>
      <p:sp>
        <p:nvSpPr>
          <p:cNvPr id="33" name="Rounded Rectangle 32"/>
          <p:cNvSpPr/>
          <p:nvPr/>
        </p:nvSpPr>
        <p:spPr>
          <a:xfrm>
            <a:off x="731520" y="5870448"/>
            <a:ext cx="10744200" cy="347472"/>
          </a:xfrm>
          <a:prstGeom prst="roundRect">
            <a:avLst/>
          </a:prstGeom>
          <a:solidFill>
            <a:srgbClr val="EDF6F8"/>
          </a:solidFill>
          <a:ln w="10160">
            <a:solidFill>
              <a:srgbClr val="ED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5925312"/>
            <a:ext cx="10424160" cy="237744"/>
          </a:xfrm>
          <a:prstGeom prst="rect">
            <a:avLst/>
          </a:prstGeom>
          <a:noFill/>
        </p:spPr>
        <p:txBody>
          <a:bodyPr wrap="square" lIns="32004" rIns="32004" tIns="22860" bIns="0">
            <a:spAutoFit/>
          </a:bodyPr>
          <a:lstStyle/>
          <a:p>
            <a:pPr>
              <a:spcAft>
                <a:spcPts val="400"/>
              </a:spcAft>
              <a:defRPr sz="1200" b="1">
                <a:solidFill>
                  <a:srgbClr val="0A97A1"/>
                </a:solidFill>
                <a:latin typeface="Aptos"/>
              </a:defRPr>
            </a:pPr>
            <a:r>
              <a:t>Decision rule: validate patterns with domain expertise before production use.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523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87F8C"/>
          </a:solidFill>
          <a:ln w="12700">
            <a:solidFill>
              <a:srgbClr val="087F8C"/>
            </a:solidFill>
            <a:prstDash val="solid"/>
          </a:ln>
        </p:spPr>
        <p:txBody>
          <a:bodyPr/>
          <a:p/>
        </p:txBody>
      </p:sp>
      <p:sp>
        <p:nvSpPr>
          <p:cNvPr id="3" name="Text 1"/>
          <p:cNvSpPr/>
          <p:nvPr/>
        </p:nvSpPr>
        <p:spPr>
          <a:xfrm>
            <a:off x="768096" y="777240"/>
            <a:ext cx="10058400" cy="329184"/>
          </a:xfrm>
          <a:prstGeom prst="rect">
            <a:avLst/>
          </a:prstGeom>
          <a:noFill/>
          <a:ln/>
        </p:spPr>
        <p:txBody>
          <a:bodyPr wrap="square" lIns="0" tIns="0" rIns="0" bIns="0" rtlCol="0" anchor="ctr">
            <a:normAutofit/>
          </a:bodyPr>
          <a:lstStyle/>
          <a:p>
            <a:pPr indent="0" marL="0">
              <a:buNone/>
            </a:pPr>
            <a:r>
              <a:rPr lang="en-US" sz="1300" b="1" spc="200" kern="0" dirty="0">
                <a:solidFill>
                  <a:srgbClr val="78CBD1"/>
                </a:solidFill>
                <a:latin typeface="Aptos" pitchFamily="34" charset="0"/>
                <a:ea typeface="Aptos" pitchFamily="34" charset="-122"/>
                <a:cs typeface="Aptos" pitchFamily="34" charset="-120"/>
              </a:rPr>
              <a:t>FROM RAW DATA TO DECISIONS</a:t>
            </a:r>
            <a:endParaRPr lang="en-US" sz="1300" dirty="0"/>
          </a:p>
        </p:txBody>
      </p:sp>
      <p:sp>
        <p:nvSpPr>
          <p:cNvPr id="4" name="Text 2"/>
          <p:cNvSpPr/>
          <p:nvPr/>
        </p:nvSpPr>
        <p:spPr>
          <a:xfrm>
            <a:off x="758952" y="1481328"/>
            <a:ext cx="10789920" cy="822960"/>
          </a:xfrm>
          <a:prstGeom prst="rect">
            <a:avLst/>
          </a:prstGeom>
          <a:noFill/>
          <a:ln/>
        </p:spPr>
        <p:txBody>
          <a:bodyPr wrap="square" lIns="0" tIns="0" rIns="0" bIns="0" rtlCol="0" anchor="ctr">
            <a:normAutofit/>
          </a:bodyPr>
          <a:lstStyle/>
          <a:p>
            <a:pPr indent="0" marL="0">
              <a:buNone/>
            </a:pPr>
            <a:r>
              <a:rPr lang="en-US" sz="3900" b="1" dirty="0">
                <a:solidFill>
                  <a:srgbClr val="FFFFFF"/>
                </a:solidFill>
                <a:latin typeface="Aptos" pitchFamily="34" charset="0"/>
                <a:ea typeface="Aptos" pitchFamily="34" charset="-122"/>
                <a:cs typeface="Aptos" pitchFamily="34" charset="-120"/>
              </a:rPr>
              <a:t>Discover. Validate. Act.</a:t>
            </a:r>
            <a:endParaRPr lang="en-US" sz="3900" dirty="0"/>
          </a:p>
        </p:txBody>
      </p:sp>
      <p:sp>
        <p:nvSpPr>
          <p:cNvPr id="5" name="Shape 3"/>
          <p:cNvSpPr/>
          <p:nvPr/>
        </p:nvSpPr>
        <p:spPr>
          <a:xfrm>
            <a:off x="804672" y="2834640"/>
            <a:ext cx="5047488" cy="969264"/>
          </a:xfrm>
          <a:prstGeom prst="roundRect">
            <a:avLst>
              <a:gd name="adj" fmla="val 14151"/>
            </a:avLst>
          </a:prstGeom>
          <a:solidFill>
            <a:srgbClr val="263954"/>
          </a:solidFill>
          <a:ln w="12700">
            <a:solidFill>
              <a:srgbClr val="263954"/>
            </a:solidFill>
            <a:prstDash val="solid"/>
          </a:ln>
        </p:spPr>
        <p:txBody>
          <a:bodyPr/>
          <a:p/>
        </p:txBody>
      </p:sp>
      <p:sp>
        <p:nvSpPr>
          <p:cNvPr id="6" name="Text 4"/>
          <p:cNvSpPr/>
          <p:nvPr/>
        </p:nvSpPr>
        <p:spPr>
          <a:xfrm>
            <a:off x="1014984" y="2980944"/>
            <a:ext cx="1847088" cy="301752"/>
          </a:xfrm>
          <a:prstGeom prst="rect">
            <a:avLst/>
          </a:prstGeom>
          <a:noFill/>
          <a:ln/>
        </p:spPr>
        <p:txBody>
          <a:bodyPr wrap="square" lIns="0" tIns="0" rIns="0" bIns="0" rtlCol="0" anchor="ctr">
            <a:normAutofit/>
          </a:bodyPr>
          <a:lstStyle/>
          <a:p>
            <a:pPr indent="0" marL="0">
              <a:buNone/>
            </a:pPr>
            <a:r>
              <a:rPr lang="en-US" sz="1400" b="1" dirty="0">
                <a:solidFill>
                  <a:srgbClr val="80D0D4"/>
                </a:solidFill>
                <a:latin typeface="Aptos" pitchFamily="34" charset="0"/>
                <a:ea typeface="Aptos" pitchFamily="34" charset="-122"/>
                <a:cs typeface="Aptos" pitchFamily="34" charset="-120"/>
              </a:rPr>
              <a:t>CLUSTER</a:t>
            </a:r>
            <a:endParaRPr lang="en-US" sz="1400" dirty="0"/>
          </a:p>
        </p:txBody>
      </p:sp>
      <p:sp>
        <p:nvSpPr>
          <p:cNvPr id="7" name="Text 5"/>
          <p:cNvSpPr/>
          <p:nvPr/>
        </p:nvSpPr>
        <p:spPr>
          <a:xfrm>
            <a:off x="1014984" y="3374136"/>
            <a:ext cx="4498848" cy="228600"/>
          </a:xfrm>
          <a:prstGeom prst="rect">
            <a:avLst/>
          </a:prstGeom>
          <a:noFill/>
          <a:ln/>
        </p:spPr>
        <p:txBody>
          <a:bodyPr wrap="square" lIns="0" tIns="0" rIns="0" bIns="0" rtlCol="0" anchor="ctr">
            <a:normAutofit/>
          </a:bodyPr>
          <a:lstStyle/>
          <a:p>
            <a:pPr indent="0" marL="0">
              <a:buNone/>
            </a:pPr>
            <a:r>
              <a:rPr lang="en-US" sz="1200" dirty="0">
                <a:solidFill>
                  <a:srgbClr val="E8F1FB"/>
                </a:solidFill>
                <a:latin typeface="Aptos" pitchFamily="34" charset="0"/>
                <a:ea typeface="Aptos" pitchFamily="34" charset="-122"/>
                <a:cs typeface="Aptos" pitchFamily="34" charset="-120"/>
              </a:rPr>
              <a:t>Find natural groups</a:t>
            </a:r>
            <a:endParaRPr lang="en-US" sz="1200" dirty="0"/>
          </a:p>
        </p:txBody>
      </p:sp>
      <p:sp>
        <p:nvSpPr>
          <p:cNvPr id="8" name="Shape 6"/>
          <p:cNvSpPr/>
          <p:nvPr/>
        </p:nvSpPr>
        <p:spPr>
          <a:xfrm>
            <a:off x="6135624" y="2834640"/>
            <a:ext cx="5047488" cy="969264"/>
          </a:xfrm>
          <a:prstGeom prst="roundRect">
            <a:avLst>
              <a:gd name="adj" fmla="val 14151"/>
            </a:avLst>
          </a:prstGeom>
          <a:solidFill>
            <a:srgbClr val="263954"/>
          </a:solidFill>
          <a:ln w="12700">
            <a:solidFill>
              <a:srgbClr val="263954"/>
            </a:solidFill>
            <a:prstDash val="solid"/>
          </a:ln>
        </p:spPr>
        <p:txBody>
          <a:bodyPr/>
          <a:p/>
        </p:txBody>
      </p:sp>
      <p:sp>
        <p:nvSpPr>
          <p:cNvPr id="9" name="Text 7"/>
          <p:cNvSpPr/>
          <p:nvPr/>
        </p:nvSpPr>
        <p:spPr>
          <a:xfrm>
            <a:off x="6345936" y="2980944"/>
            <a:ext cx="1847088" cy="301752"/>
          </a:xfrm>
          <a:prstGeom prst="rect">
            <a:avLst/>
          </a:prstGeom>
          <a:noFill/>
          <a:ln/>
        </p:spPr>
        <p:txBody>
          <a:bodyPr wrap="square" lIns="0" tIns="0" rIns="0" bIns="0" rtlCol="0" anchor="ctr">
            <a:normAutofit/>
          </a:bodyPr>
          <a:lstStyle/>
          <a:p>
            <a:pPr indent="0" marL="0">
              <a:buNone/>
            </a:pPr>
            <a:r>
              <a:rPr lang="en-US" sz="1400" b="1" dirty="0">
                <a:solidFill>
                  <a:srgbClr val="80D0D4"/>
                </a:solidFill>
                <a:latin typeface="Aptos" pitchFamily="34" charset="0"/>
                <a:ea typeface="Aptos" pitchFamily="34" charset="-122"/>
                <a:cs typeface="Aptos" pitchFamily="34" charset="-120"/>
              </a:rPr>
              <a:t>REDUCE</a:t>
            </a:r>
            <a:endParaRPr lang="en-US" sz="1400" dirty="0"/>
          </a:p>
        </p:txBody>
      </p:sp>
      <p:sp>
        <p:nvSpPr>
          <p:cNvPr id="10" name="Text 8"/>
          <p:cNvSpPr/>
          <p:nvPr/>
        </p:nvSpPr>
        <p:spPr>
          <a:xfrm>
            <a:off x="6345936" y="3374136"/>
            <a:ext cx="4498848" cy="228600"/>
          </a:xfrm>
          <a:prstGeom prst="rect">
            <a:avLst/>
          </a:prstGeom>
          <a:noFill/>
          <a:ln/>
        </p:spPr>
        <p:txBody>
          <a:bodyPr wrap="square" lIns="0" tIns="0" rIns="0" bIns="0" rtlCol="0" anchor="ctr">
            <a:normAutofit/>
          </a:bodyPr>
          <a:lstStyle/>
          <a:p>
            <a:pPr indent="0" marL="0">
              <a:buNone/>
            </a:pPr>
            <a:r>
              <a:rPr lang="en-US" sz="1200" dirty="0">
                <a:solidFill>
                  <a:srgbClr val="E8F1FB"/>
                </a:solidFill>
                <a:latin typeface="Aptos" pitchFamily="34" charset="0"/>
                <a:ea typeface="Aptos" pitchFamily="34" charset="-122"/>
                <a:cs typeface="Aptos" pitchFamily="34" charset="-120"/>
              </a:rPr>
              <a:t>Make structure understandable</a:t>
            </a:r>
            <a:endParaRPr lang="en-US" sz="1200" dirty="0"/>
          </a:p>
        </p:txBody>
      </p:sp>
      <p:sp>
        <p:nvSpPr>
          <p:cNvPr id="11" name="Shape 9"/>
          <p:cNvSpPr/>
          <p:nvPr/>
        </p:nvSpPr>
        <p:spPr>
          <a:xfrm>
            <a:off x="804672" y="4023360"/>
            <a:ext cx="5047488" cy="969264"/>
          </a:xfrm>
          <a:prstGeom prst="roundRect">
            <a:avLst>
              <a:gd name="adj" fmla="val 14151"/>
            </a:avLst>
          </a:prstGeom>
          <a:solidFill>
            <a:srgbClr val="263954"/>
          </a:solidFill>
          <a:ln w="12700">
            <a:solidFill>
              <a:srgbClr val="263954"/>
            </a:solidFill>
            <a:prstDash val="solid"/>
          </a:ln>
        </p:spPr>
        <p:txBody>
          <a:bodyPr/>
          <a:p/>
        </p:txBody>
      </p:sp>
      <p:sp>
        <p:nvSpPr>
          <p:cNvPr id="12" name="Text 10"/>
          <p:cNvSpPr/>
          <p:nvPr/>
        </p:nvSpPr>
        <p:spPr>
          <a:xfrm>
            <a:off x="1014984" y="4169664"/>
            <a:ext cx="1847088" cy="301752"/>
          </a:xfrm>
          <a:prstGeom prst="rect">
            <a:avLst/>
          </a:prstGeom>
          <a:noFill/>
          <a:ln/>
        </p:spPr>
        <p:txBody>
          <a:bodyPr wrap="square" lIns="0" tIns="0" rIns="0" bIns="0" rtlCol="0" anchor="ctr">
            <a:normAutofit/>
          </a:bodyPr>
          <a:lstStyle/>
          <a:p>
            <a:pPr indent="0" marL="0">
              <a:buNone/>
            </a:pPr>
            <a:r>
              <a:rPr lang="en-US" sz="1400" b="1" dirty="0">
                <a:solidFill>
                  <a:srgbClr val="80D0D4"/>
                </a:solidFill>
                <a:latin typeface="Aptos" pitchFamily="34" charset="0"/>
                <a:ea typeface="Aptos" pitchFamily="34" charset="-122"/>
                <a:cs typeface="Aptos" pitchFamily="34" charset="-120"/>
              </a:rPr>
              <a:t>ASSOCIATE</a:t>
            </a:r>
            <a:endParaRPr lang="en-US" sz="1400" dirty="0"/>
          </a:p>
        </p:txBody>
      </p:sp>
      <p:sp>
        <p:nvSpPr>
          <p:cNvPr id="13" name="Text 11"/>
          <p:cNvSpPr/>
          <p:nvPr/>
        </p:nvSpPr>
        <p:spPr>
          <a:xfrm>
            <a:off x="1014984" y="4562856"/>
            <a:ext cx="4498848" cy="228600"/>
          </a:xfrm>
          <a:prstGeom prst="rect">
            <a:avLst/>
          </a:prstGeom>
          <a:noFill/>
          <a:ln/>
        </p:spPr>
        <p:txBody>
          <a:bodyPr wrap="square" lIns="0" tIns="0" rIns="0" bIns="0" rtlCol="0" anchor="ctr">
            <a:normAutofit/>
          </a:bodyPr>
          <a:lstStyle/>
          <a:p>
            <a:pPr indent="0" marL="0">
              <a:buNone/>
            </a:pPr>
            <a:r>
              <a:rPr lang="en-US" sz="1200" dirty="0">
                <a:solidFill>
                  <a:srgbClr val="E8F1FB"/>
                </a:solidFill>
                <a:latin typeface="Aptos" pitchFamily="34" charset="0"/>
                <a:ea typeface="Aptos" pitchFamily="34" charset="-122"/>
                <a:cs typeface="Aptos" pitchFamily="34" charset="-120"/>
              </a:rPr>
              <a:t>Discover recurring relationships</a:t>
            </a:r>
            <a:endParaRPr lang="en-US" sz="1200" dirty="0"/>
          </a:p>
        </p:txBody>
      </p:sp>
      <p:sp>
        <p:nvSpPr>
          <p:cNvPr id="14" name="Shape 12"/>
          <p:cNvSpPr/>
          <p:nvPr/>
        </p:nvSpPr>
        <p:spPr>
          <a:xfrm>
            <a:off x="6135624" y="4023360"/>
            <a:ext cx="5047488" cy="969264"/>
          </a:xfrm>
          <a:prstGeom prst="roundRect">
            <a:avLst>
              <a:gd name="adj" fmla="val 14151"/>
            </a:avLst>
          </a:prstGeom>
          <a:solidFill>
            <a:srgbClr val="263954"/>
          </a:solidFill>
          <a:ln w="12700">
            <a:solidFill>
              <a:srgbClr val="263954"/>
            </a:solidFill>
            <a:prstDash val="solid"/>
          </a:ln>
        </p:spPr>
        <p:txBody>
          <a:bodyPr/>
          <a:p/>
        </p:txBody>
      </p:sp>
      <p:sp>
        <p:nvSpPr>
          <p:cNvPr id="15" name="Text 13"/>
          <p:cNvSpPr/>
          <p:nvPr/>
        </p:nvSpPr>
        <p:spPr>
          <a:xfrm>
            <a:off x="6345936" y="4169664"/>
            <a:ext cx="1847088" cy="301752"/>
          </a:xfrm>
          <a:prstGeom prst="rect">
            <a:avLst/>
          </a:prstGeom>
          <a:noFill/>
          <a:ln/>
        </p:spPr>
        <p:txBody>
          <a:bodyPr wrap="square" lIns="0" tIns="0" rIns="0" bIns="0" rtlCol="0" anchor="ctr">
            <a:normAutofit/>
          </a:bodyPr>
          <a:lstStyle/>
          <a:p>
            <a:pPr indent="0" marL="0">
              <a:buNone/>
            </a:pPr>
            <a:r>
              <a:rPr lang="en-US" sz="1400" b="1" dirty="0">
                <a:solidFill>
                  <a:srgbClr val="80D0D4"/>
                </a:solidFill>
                <a:latin typeface="Aptos" pitchFamily="34" charset="0"/>
                <a:ea typeface="Aptos" pitchFamily="34" charset="-122"/>
                <a:cs typeface="Aptos" pitchFamily="34" charset="-120"/>
              </a:rPr>
              <a:t>DETECT</a:t>
            </a:r>
            <a:endParaRPr lang="en-US" sz="1400" dirty="0"/>
          </a:p>
        </p:txBody>
      </p:sp>
      <p:sp>
        <p:nvSpPr>
          <p:cNvPr id="16" name="Text 14"/>
          <p:cNvSpPr/>
          <p:nvPr/>
        </p:nvSpPr>
        <p:spPr>
          <a:xfrm>
            <a:off x="6345936" y="4562856"/>
            <a:ext cx="4498848" cy="228600"/>
          </a:xfrm>
          <a:prstGeom prst="rect">
            <a:avLst/>
          </a:prstGeom>
          <a:noFill/>
          <a:ln/>
        </p:spPr>
        <p:txBody>
          <a:bodyPr wrap="square" lIns="0" tIns="0" rIns="0" bIns="0" rtlCol="0" anchor="ctr">
            <a:normAutofit/>
          </a:bodyPr>
          <a:lstStyle/>
          <a:p>
            <a:pPr indent="0" marL="0">
              <a:buNone/>
            </a:pPr>
            <a:r>
              <a:rPr lang="en-US" sz="1200" dirty="0">
                <a:solidFill>
                  <a:srgbClr val="E8F1FB"/>
                </a:solidFill>
                <a:latin typeface="Aptos" pitchFamily="34" charset="0"/>
                <a:ea typeface="Aptos" pitchFamily="34" charset="-122"/>
                <a:cs typeface="Aptos" pitchFamily="34" charset="-120"/>
              </a:rPr>
              <a:t>Investigate unusual behavior</a:t>
            </a:r>
            <a:endParaRPr lang="en-US" sz="1200" dirty="0"/>
          </a:p>
        </p:txBody>
      </p:sp>
      <p:sp>
        <p:nvSpPr>
          <p:cNvPr id="17" name="Text 15"/>
          <p:cNvSpPr/>
          <p:nvPr/>
        </p:nvSpPr>
        <p:spPr>
          <a:xfrm>
            <a:off x="795528" y="5861304"/>
            <a:ext cx="7315200" cy="365760"/>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QUESTIONS &amp; DISCUSSION</a:t>
            </a:r>
            <a:endParaRPr lang="en-US" sz="17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3152"/>
          </a:xfrm>
          <a:prstGeom prst="rect">
            <a:avLst/>
          </a:prstGeom>
          <a:solidFill>
            <a:srgbClr val="0A9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9144000" cy="274320"/>
          </a:xfrm>
          <a:prstGeom prst="rect">
            <a:avLst/>
          </a:prstGeom>
          <a:noFill/>
        </p:spPr>
        <p:txBody>
          <a:bodyPr wrap="square" lIns="32004" rIns="32004" tIns="22860" bIns="0">
            <a:spAutoFit/>
          </a:bodyPr>
          <a:lstStyle/>
          <a:p>
            <a:pPr>
              <a:spcAft>
                <a:spcPts val="400"/>
              </a:spcAft>
              <a:defRPr sz="1100" b="1">
                <a:solidFill>
                  <a:srgbClr val="0A97A1"/>
                </a:solidFill>
                <a:latin typeface="Aptos"/>
              </a:defRPr>
            </a:pPr>
            <a:r>
              <a:t>EVALUATION &amp; DECISION MAKING</a:t>
            </a:r>
          </a:p>
        </p:txBody>
      </p:sp>
      <p:sp>
        <p:nvSpPr>
          <p:cNvPr id="4" name="TextBox 3"/>
          <p:cNvSpPr txBox="1"/>
          <p:nvPr/>
        </p:nvSpPr>
        <p:spPr>
          <a:xfrm>
            <a:off x="566928" y="603504"/>
            <a:ext cx="11064240" cy="594360"/>
          </a:xfrm>
          <a:prstGeom prst="rect">
            <a:avLst/>
          </a:prstGeom>
          <a:noFill/>
        </p:spPr>
        <p:txBody>
          <a:bodyPr wrap="square" lIns="32004" rIns="32004" tIns="22860" bIns="0">
            <a:spAutoFit/>
          </a:bodyPr>
          <a:lstStyle/>
          <a:p>
            <a:pPr>
              <a:spcAft>
                <a:spcPts val="400"/>
              </a:spcAft>
              <a:defRPr sz="2800" b="1">
                <a:solidFill>
                  <a:srgbClr val="102039"/>
                </a:solidFill>
                <a:latin typeface="Aptos"/>
              </a:defRPr>
            </a:pPr>
            <a:r>
              <a:t>Unsupervised learning: advantages and limitations</a:t>
            </a:r>
          </a:p>
        </p:txBody>
      </p:sp>
      <p:sp>
        <p:nvSpPr>
          <p:cNvPr id="5" name="TextBox 4"/>
          <p:cNvSpPr txBox="1"/>
          <p:nvPr/>
        </p:nvSpPr>
        <p:spPr>
          <a:xfrm>
            <a:off x="585216" y="1197864"/>
            <a:ext cx="10972800" cy="374904"/>
          </a:xfrm>
          <a:prstGeom prst="rect">
            <a:avLst/>
          </a:prstGeom>
          <a:noFill/>
        </p:spPr>
        <p:txBody>
          <a:bodyPr wrap="square" lIns="32004" rIns="32004" tIns="22860" bIns="0">
            <a:spAutoFit/>
          </a:bodyPr>
          <a:lstStyle/>
          <a:p>
            <a:pPr>
              <a:spcAft>
                <a:spcPts val="400"/>
              </a:spcAft>
              <a:defRPr sz="1500" b="0">
                <a:solidFill>
                  <a:srgbClr val="627485"/>
                </a:solidFill>
                <a:latin typeface="Aptos"/>
              </a:defRPr>
            </a:pPr>
            <a:r>
              <a:t>Powerful for discovery; not a substitute for validation, domain knowledge or clear objectives.</a:t>
            </a:r>
          </a:p>
        </p:txBody>
      </p:sp>
      <p:sp>
        <p:nvSpPr>
          <p:cNvPr id="6" name="TextBox 5"/>
          <p:cNvSpPr txBox="1"/>
          <p:nvPr/>
        </p:nvSpPr>
        <p:spPr>
          <a:xfrm>
            <a:off x="594360" y="6519672"/>
            <a:ext cx="8229600" cy="182880"/>
          </a:xfrm>
          <a:prstGeom prst="rect">
            <a:avLst/>
          </a:prstGeom>
          <a:noFill/>
        </p:spPr>
        <p:txBody>
          <a:bodyPr wrap="square" lIns="32004" rIns="32004" tIns="22860" bIns="0">
            <a:spAutoFit/>
          </a:bodyPr>
          <a:lstStyle/>
          <a:p>
            <a:pPr>
              <a:spcAft>
                <a:spcPts val="400"/>
              </a:spcAft>
              <a:defRPr sz="900" b="1">
                <a:solidFill>
                  <a:srgbClr val="627485"/>
                </a:solidFill>
                <a:latin typeface="Aptos"/>
              </a:defRPr>
            </a:pPr>
            <a:r>
              <a:t>UNSUPERVISED LEARNING  /  TECHNICAL MASTERCLASS</a:t>
            </a:r>
          </a:p>
        </p:txBody>
      </p:sp>
      <p:sp>
        <p:nvSpPr>
          <p:cNvPr id="7" name="TextBox 6"/>
          <p:cNvSpPr txBox="1"/>
          <p:nvPr/>
        </p:nvSpPr>
        <p:spPr>
          <a:xfrm>
            <a:off x="11064240" y="6519672"/>
            <a:ext cx="502920" cy="201168"/>
          </a:xfrm>
          <a:prstGeom prst="rect">
            <a:avLst/>
          </a:prstGeom>
          <a:noFill/>
        </p:spPr>
        <p:txBody>
          <a:bodyPr wrap="square" lIns="32004" rIns="32004" tIns="22860" bIns="0">
            <a:spAutoFit/>
          </a:bodyPr>
          <a:lstStyle/>
          <a:p>
            <a:pPr algn="r">
              <a:spcAft>
                <a:spcPts val="400"/>
              </a:spcAft>
              <a:defRPr sz="900" b="1">
                <a:solidFill>
                  <a:srgbClr val="627485"/>
                </a:solidFill>
                <a:latin typeface="Aptos"/>
              </a:defRPr>
            </a:pPr>
            <a:r>
              <a:t>25</a:t>
            </a:r>
          </a:p>
        </p:txBody>
      </p:sp>
      <p:sp>
        <p:nvSpPr>
          <p:cNvPr id="8" name="Rounded Rectangle 7"/>
          <p:cNvSpPr/>
          <p:nvPr/>
        </p:nvSpPr>
        <p:spPr>
          <a:xfrm>
            <a:off x="685800" y="1801368"/>
            <a:ext cx="5266944" cy="530352"/>
          </a:xfrm>
          <a:prstGeom prst="roundRect">
            <a:avLst/>
          </a:prstGeom>
          <a:solidFill>
            <a:srgbClr val="E2F4F1"/>
          </a:solidFill>
          <a:ln w="10160">
            <a:solidFill>
              <a:srgbClr val="E2F4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08776" y="1801368"/>
            <a:ext cx="5266944" cy="530352"/>
          </a:xfrm>
          <a:prstGeom prst="roundRect">
            <a:avLst/>
          </a:prstGeom>
          <a:solidFill>
            <a:srgbClr val="FFF0EC"/>
          </a:solidFill>
          <a:ln w="10160">
            <a:solidFill>
              <a:srgbClr val="FFF0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1920240"/>
            <a:ext cx="4572000" cy="292608"/>
          </a:xfrm>
          <a:prstGeom prst="rect">
            <a:avLst/>
          </a:prstGeom>
          <a:noFill/>
        </p:spPr>
        <p:txBody>
          <a:bodyPr wrap="square" lIns="32004" rIns="32004" tIns="22860" bIns="0">
            <a:spAutoFit/>
          </a:bodyPr>
          <a:lstStyle/>
          <a:p>
            <a:pPr>
              <a:spcAft>
                <a:spcPts val="400"/>
              </a:spcAft>
              <a:defRPr sz="1800" b="1">
                <a:solidFill>
                  <a:srgbClr val="11746D"/>
                </a:solidFill>
                <a:latin typeface="Aptos"/>
              </a:defRPr>
            </a:pPr>
            <a:r>
              <a:t>ADVANTAGES</a:t>
            </a:r>
          </a:p>
        </p:txBody>
      </p:sp>
      <p:sp>
        <p:nvSpPr>
          <p:cNvPr id="11" name="TextBox 10"/>
          <p:cNvSpPr txBox="1"/>
          <p:nvPr/>
        </p:nvSpPr>
        <p:spPr>
          <a:xfrm>
            <a:off x="6428232" y="1920240"/>
            <a:ext cx="4572000" cy="292608"/>
          </a:xfrm>
          <a:prstGeom prst="rect">
            <a:avLst/>
          </a:prstGeom>
          <a:noFill/>
        </p:spPr>
        <p:txBody>
          <a:bodyPr wrap="square" lIns="32004" rIns="32004" tIns="22860" bIns="0">
            <a:spAutoFit/>
          </a:bodyPr>
          <a:lstStyle/>
          <a:p>
            <a:pPr>
              <a:spcAft>
                <a:spcPts val="400"/>
              </a:spcAft>
              <a:defRPr sz="1800" b="1">
                <a:solidFill>
                  <a:srgbClr val="AD4D3C"/>
                </a:solidFill>
                <a:latin typeface="Aptos"/>
              </a:defRPr>
            </a:pPr>
            <a:r>
              <a:t>LIMITATIONS</a:t>
            </a:r>
          </a:p>
        </p:txBody>
      </p:sp>
      <p:sp>
        <p:nvSpPr>
          <p:cNvPr id="12" name="Rounded Rectangle 11"/>
          <p:cNvSpPr/>
          <p:nvPr/>
        </p:nvSpPr>
        <p:spPr>
          <a:xfrm>
            <a:off x="685800" y="2505456"/>
            <a:ext cx="5266944" cy="914400"/>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15184"/>
            <a:ext cx="4663440" cy="274320"/>
          </a:xfrm>
          <a:prstGeom prst="rect">
            <a:avLst/>
          </a:prstGeom>
          <a:noFill/>
        </p:spPr>
        <p:txBody>
          <a:bodyPr wrap="square" lIns="32004" rIns="32004" tIns="22860" bIns="0">
            <a:spAutoFit/>
          </a:bodyPr>
          <a:lstStyle/>
          <a:p>
            <a:pPr>
              <a:spcAft>
                <a:spcPts val="400"/>
              </a:spcAft>
              <a:defRPr sz="1600" b="1">
                <a:solidFill>
                  <a:srgbClr val="102039"/>
                </a:solidFill>
                <a:latin typeface="Aptos"/>
              </a:defRPr>
            </a:pPr>
            <a:r>
              <a:t>No labels needed</a:t>
            </a:r>
          </a:p>
        </p:txBody>
      </p:sp>
      <p:sp>
        <p:nvSpPr>
          <p:cNvPr id="14" name="TextBox 13"/>
          <p:cNvSpPr txBox="1"/>
          <p:nvPr/>
        </p:nvSpPr>
        <p:spPr>
          <a:xfrm>
            <a:off x="896112" y="2935224"/>
            <a:ext cx="4663440" cy="374904"/>
          </a:xfrm>
          <a:prstGeom prst="rect">
            <a:avLst/>
          </a:prstGeom>
          <a:noFill/>
        </p:spPr>
        <p:txBody>
          <a:bodyPr wrap="square" lIns="32004" rIns="32004" tIns="22860" bIns="0">
            <a:spAutoFit/>
          </a:bodyPr>
          <a:lstStyle/>
          <a:p>
            <a:pPr>
              <a:spcAft>
                <a:spcPts val="400"/>
              </a:spcAft>
              <a:defRPr sz="1200" b="0">
                <a:solidFill>
                  <a:srgbClr val="1D2F45"/>
                </a:solidFill>
                <a:latin typeface="Aptos"/>
              </a:defRPr>
            </a:pPr>
            <a:r>
              <a:t>Explores large unlabeled datasets without manual target annotation.</a:t>
            </a:r>
          </a:p>
        </p:txBody>
      </p:sp>
      <p:sp>
        <p:nvSpPr>
          <p:cNvPr id="15" name="Rounded Rectangle 14"/>
          <p:cNvSpPr/>
          <p:nvPr/>
        </p:nvSpPr>
        <p:spPr>
          <a:xfrm>
            <a:off x="685800" y="3538728"/>
            <a:ext cx="5266944" cy="914400"/>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648456"/>
            <a:ext cx="4663440" cy="274320"/>
          </a:xfrm>
          <a:prstGeom prst="rect">
            <a:avLst/>
          </a:prstGeom>
          <a:noFill/>
        </p:spPr>
        <p:txBody>
          <a:bodyPr wrap="square" lIns="32004" rIns="32004" tIns="22860" bIns="0">
            <a:spAutoFit/>
          </a:bodyPr>
          <a:lstStyle/>
          <a:p>
            <a:pPr>
              <a:spcAft>
                <a:spcPts val="400"/>
              </a:spcAft>
              <a:defRPr sz="1600" b="1">
                <a:solidFill>
                  <a:srgbClr val="102039"/>
                </a:solidFill>
                <a:latin typeface="Aptos"/>
              </a:defRPr>
            </a:pPr>
            <a:r>
              <a:t>Discovers the unexpected</a:t>
            </a:r>
          </a:p>
        </p:txBody>
      </p:sp>
      <p:sp>
        <p:nvSpPr>
          <p:cNvPr id="17" name="TextBox 16"/>
          <p:cNvSpPr txBox="1"/>
          <p:nvPr/>
        </p:nvSpPr>
        <p:spPr>
          <a:xfrm>
            <a:off x="896112" y="3968496"/>
            <a:ext cx="4663440" cy="374904"/>
          </a:xfrm>
          <a:prstGeom prst="rect">
            <a:avLst/>
          </a:prstGeom>
          <a:noFill/>
        </p:spPr>
        <p:txBody>
          <a:bodyPr wrap="square" lIns="32004" rIns="32004" tIns="22860" bIns="0">
            <a:spAutoFit/>
          </a:bodyPr>
          <a:lstStyle/>
          <a:p>
            <a:pPr>
              <a:spcAft>
                <a:spcPts val="400"/>
              </a:spcAft>
              <a:defRPr sz="1200" b="0">
                <a:solidFill>
                  <a:srgbClr val="1D2F45"/>
                </a:solidFill>
                <a:latin typeface="Aptos"/>
              </a:defRPr>
            </a:pPr>
            <a:r>
              <a:t>Surfaces segments, patterns and outliers not specified in advance.</a:t>
            </a:r>
          </a:p>
        </p:txBody>
      </p:sp>
      <p:sp>
        <p:nvSpPr>
          <p:cNvPr id="18" name="Rounded Rectangle 17"/>
          <p:cNvSpPr/>
          <p:nvPr/>
        </p:nvSpPr>
        <p:spPr>
          <a:xfrm>
            <a:off x="685800" y="4572000"/>
            <a:ext cx="5266944" cy="914400"/>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681728"/>
            <a:ext cx="4663440" cy="274320"/>
          </a:xfrm>
          <a:prstGeom prst="rect">
            <a:avLst/>
          </a:prstGeom>
          <a:noFill/>
        </p:spPr>
        <p:txBody>
          <a:bodyPr wrap="square" lIns="32004" rIns="32004" tIns="22860" bIns="0">
            <a:spAutoFit/>
          </a:bodyPr>
          <a:lstStyle/>
          <a:p>
            <a:pPr>
              <a:spcAft>
                <a:spcPts val="400"/>
              </a:spcAft>
              <a:defRPr sz="1600" b="1">
                <a:solidFill>
                  <a:srgbClr val="102039"/>
                </a:solidFill>
                <a:latin typeface="Aptos"/>
              </a:defRPr>
            </a:pPr>
            <a:r>
              <a:t>Useful representations</a:t>
            </a:r>
          </a:p>
        </p:txBody>
      </p:sp>
      <p:sp>
        <p:nvSpPr>
          <p:cNvPr id="20" name="TextBox 19"/>
          <p:cNvSpPr txBox="1"/>
          <p:nvPr/>
        </p:nvSpPr>
        <p:spPr>
          <a:xfrm>
            <a:off x="896112" y="5001768"/>
            <a:ext cx="4663440" cy="374904"/>
          </a:xfrm>
          <a:prstGeom prst="rect">
            <a:avLst/>
          </a:prstGeom>
          <a:noFill/>
        </p:spPr>
        <p:txBody>
          <a:bodyPr wrap="square" lIns="32004" rIns="32004" tIns="22860" bIns="0">
            <a:spAutoFit/>
          </a:bodyPr>
          <a:lstStyle/>
          <a:p>
            <a:pPr>
              <a:spcAft>
                <a:spcPts val="400"/>
              </a:spcAft>
              <a:defRPr sz="1200" b="0">
                <a:solidFill>
                  <a:srgbClr val="1D2F45"/>
                </a:solidFill>
                <a:latin typeface="Aptos"/>
              </a:defRPr>
            </a:pPr>
            <a:r>
              <a:t>Supports exploration, simplification and downstream models.</a:t>
            </a:r>
          </a:p>
        </p:txBody>
      </p:sp>
      <p:sp>
        <p:nvSpPr>
          <p:cNvPr id="21" name="Rounded Rectangle 20"/>
          <p:cNvSpPr/>
          <p:nvPr/>
        </p:nvSpPr>
        <p:spPr>
          <a:xfrm>
            <a:off x="6208776" y="2505456"/>
            <a:ext cx="5266944" cy="914400"/>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088" y="2615184"/>
            <a:ext cx="4663440" cy="274320"/>
          </a:xfrm>
          <a:prstGeom prst="rect">
            <a:avLst/>
          </a:prstGeom>
          <a:noFill/>
        </p:spPr>
        <p:txBody>
          <a:bodyPr wrap="square" lIns="32004" rIns="32004" tIns="22860" bIns="0">
            <a:spAutoFit/>
          </a:bodyPr>
          <a:lstStyle/>
          <a:p>
            <a:pPr>
              <a:spcAft>
                <a:spcPts val="400"/>
              </a:spcAft>
              <a:defRPr sz="1600" b="1">
                <a:solidFill>
                  <a:srgbClr val="102039"/>
                </a:solidFill>
                <a:latin typeface="Aptos"/>
              </a:defRPr>
            </a:pPr>
            <a:r>
              <a:t>No universal accuracy</a:t>
            </a:r>
          </a:p>
        </p:txBody>
      </p:sp>
      <p:sp>
        <p:nvSpPr>
          <p:cNvPr id="23" name="TextBox 22"/>
          <p:cNvSpPr txBox="1"/>
          <p:nvPr/>
        </p:nvSpPr>
        <p:spPr>
          <a:xfrm>
            <a:off x="6419088" y="2935224"/>
            <a:ext cx="4663440" cy="374904"/>
          </a:xfrm>
          <a:prstGeom prst="rect">
            <a:avLst/>
          </a:prstGeom>
          <a:noFill/>
        </p:spPr>
        <p:txBody>
          <a:bodyPr wrap="square" lIns="32004" rIns="32004" tIns="22860" bIns="0">
            <a:spAutoFit/>
          </a:bodyPr>
          <a:lstStyle/>
          <a:p>
            <a:pPr>
              <a:spcAft>
                <a:spcPts val="400"/>
              </a:spcAft>
              <a:defRPr sz="1200" b="0">
                <a:solidFill>
                  <a:srgbClr val="1D2F45"/>
                </a:solidFill>
                <a:latin typeface="Aptos"/>
              </a:defRPr>
            </a:pPr>
            <a:r>
              <a:t>Often lacks a single correct answer or objective ground truth.</a:t>
            </a:r>
          </a:p>
        </p:txBody>
      </p:sp>
      <p:sp>
        <p:nvSpPr>
          <p:cNvPr id="24" name="Rounded Rectangle 23"/>
          <p:cNvSpPr/>
          <p:nvPr/>
        </p:nvSpPr>
        <p:spPr>
          <a:xfrm>
            <a:off x="6208776" y="3538728"/>
            <a:ext cx="5266944" cy="914400"/>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3648456"/>
            <a:ext cx="4663440" cy="274320"/>
          </a:xfrm>
          <a:prstGeom prst="rect">
            <a:avLst/>
          </a:prstGeom>
          <a:noFill/>
        </p:spPr>
        <p:txBody>
          <a:bodyPr wrap="square" lIns="32004" rIns="32004" tIns="22860" bIns="0">
            <a:spAutoFit/>
          </a:bodyPr>
          <a:lstStyle/>
          <a:p>
            <a:pPr>
              <a:spcAft>
                <a:spcPts val="400"/>
              </a:spcAft>
              <a:defRPr sz="1600" b="1">
                <a:solidFill>
                  <a:srgbClr val="102039"/>
                </a:solidFill>
                <a:latin typeface="Aptos"/>
              </a:defRPr>
            </a:pPr>
            <a:r>
              <a:t>Sensitive to design choices</a:t>
            </a:r>
          </a:p>
        </p:txBody>
      </p:sp>
      <p:sp>
        <p:nvSpPr>
          <p:cNvPr id="26" name="TextBox 25"/>
          <p:cNvSpPr txBox="1"/>
          <p:nvPr/>
        </p:nvSpPr>
        <p:spPr>
          <a:xfrm>
            <a:off x="6419088" y="3968496"/>
            <a:ext cx="4663440" cy="374904"/>
          </a:xfrm>
          <a:prstGeom prst="rect">
            <a:avLst/>
          </a:prstGeom>
          <a:noFill/>
        </p:spPr>
        <p:txBody>
          <a:bodyPr wrap="square" lIns="32004" rIns="32004" tIns="22860" bIns="0">
            <a:spAutoFit/>
          </a:bodyPr>
          <a:lstStyle/>
          <a:p>
            <a:pPr>
              <a:spcAft>
                <a:spcPts val="400"/>
              </a:spcAft>
              <a:defRPr sz="1200" b="0">
                <a:solidFill>
                  <a:srgbClr val="1D2F45"/>
                </a:solidFill>
                <a:latin typeface="Aptos"/>
              </a:defRPr>
            </a:pPr>
            <a:r>
              <a:t>Scaling, distance, parameters and sampling change the results.</a:t>
            </a:r>
          </a:p>
        </p:txBody>
      </p:sp>
      <p:sp>
        <p:nvSpPr>
          <p:cNvPr id="27" name="Rounded Rectangle 26"/>
          <p:cNvSpPr/>
          <p:nvPr/>
        </p:nvSpPr>
        <p:spPr>
          <a:xfrm>
            <a:off x="6208776" y="4572000"/>
            <a:ext cx="5266944" cy="914400"/>
          </a:xfrm>
          <a:prstGeom prst="roundRect">
            <a:avLst/>
          </a:prstGeom>
          <a:solidFill>
            <a:srgbClr val="FFFFFF"/>
          </a:solidFill>
          <a:ln w="10160">
            <a:solidFill>
              <a:srgbClr val="DC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4681728"/>
            <a:ext cx="4663440" cy="274320"/>
          </a:xfrm>
          <a:prstGeom prst="rect">
            <a:avLst/>
          </a:prstGeom>
          <a:noFill/>
        </p:spPr>
        <p:txBody>
          <a:bodyPr wrap="square" lIns="32004" rIns="32004" tIns="22860" bIns="0">
            <a:spAutoFit/>
          </a:bodyPr>
          <a:lstStyle/>
          <a:p>
            <a:pPr>
              <a:spcAft>
                <a:spcPts val="400"/>
              </a:spcAft>
              <a:defRPr sz="1600" b="1">
                <a:solidFill>
                  <a:srgbClr val="102039"/>
                </a:solidFill>
                <a:latin typeface="Aptos"/>
              </a:defRPr>
            </a:pPr>
            <a:r>
              <a:t>Interpretation is essential</a:t>
            </a:r>
          </a:p>
        </p:txBody>
      </p:sp>
      <p:sp>
        <p:nvSpPr>
          <p:cNvPr id="29" name="TextBox 28"/>
          <p:cNvSpPr txBox="1"/>
          <p:nvPr/>
        </p:nvSpPr>
        <p:spPr>
          <a:xfrm>
            <a:off x="6419088" y="5001768"/>
            <a:ext cx="4663440" cy="374904"/>
          </a:xfrm>
          <a:prstGeom prst="rect">
            <a:avLst/>
          </a:prstGeom>
          <a:noFill/>
        </p:spPr>
        <p:txBody>
          <a:bodyPr wrap="square" lIns="32004" rIns="32004" tIns="22860" bIns="0">
            <a:spAutoFit/>
          </a:bodyPr>
          <a:lstStyle/>
          <a:p>
            <a:pPr>
              <a:spcAft>
                <a:spcPts val="400"/>
              </a:spcAft>
              <a:defRPr sz="1200" b="0">
                <a:solidFill>
                  <a:srgbClr val="1D2F45"/>
                </a:solidFill>
                <a:latin typeface="Aptos"/>
              </a:defRPr>
            </a:pPr>
            <a:r>
              <a:t>Clusters or anomalies are not automatically meaningful or causal.</a:t>
            </a:r>
          </a:p>
        </p:txBody>
      </p:sp>
      <p:sp>
        <p:nvSpPr>
          <p:cNvPr id="30" name="Rounded Rectangle 29"/>
          <p:cNvSpPr/>
          <p:nvPr/>
        </p:nvSpPr>
        <p:spPr>
          <a:xfrm>
            <a:off x="731520" y="5861304"/>
            <a:ext cx="10735056" cy="365760"/>
          </a:xfrm>
          <a:prstGeom prst="roundRect">
            <a:avLst/>
          </a:prstGeom>
          <a:solidFill>
            <a:srgbClr val="EDF6F8"/>
          </a:solidFill>
          <a:ln w="10160">
            <a:solidFill>
              <a:srgbClr val="EDF6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925312"/>
            <a:ext cx="10241280" cy="228600"/>
          </a:xfrm>
          <a:prstGeom prst="rect">
            <a:avLst/>
          </a:prstGeom>
          <a:noFill/>
        </p:spPr>
        <p:txBody>
          <a:bodyPr wrap="square" lIns="32004" rIns="32004" tIns="22860" bIns="0">
            <a:spAutoFit/>
          </a:bodyPr>
          <a:lstStyle/>
          <a:p>
            <a:pPr>
              <a:spcAft>
                <a:spcPts val="400"/>
              </a:spcAft>
              <a:defRPr sz="1200" b="1">
                <a:solidFill>
                  <a:srgbClr val="0A97A1"/>
                </a:solidFill>
                <a:latin typeface="Aptos"/>
              </a:defRPr>
            </a:pPr>
            <a:r>
              <a:t>Best practice: combine quantitative diagnostics, stability checks and domain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Learning | From Structure to Action</dc:title>
  <dc:subject>Unsupervised learning end-to-end industry presentation</dc:subject>
  <dc:creator>Machine Learning Technical Education</dc:creator>
  <cp:lastModifiedBy>Machine Learning Technical Education</cp:lastModifiedBy>
  <cp:revision>1</cp:revision>
  <dcterms:created xsi:type="dcterms:W3CDTF">2026-10-09T12:55:03Z</dcterms:created>
  <dcterms:modified xsi:type="dcterms:W3CDTF">2026-10-09T12:55:03Z</dcterms:modified>
</cp:coreProperties>
</file>