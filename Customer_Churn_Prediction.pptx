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58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.png"/><Relationship Id="rId4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HANDS-ON PROJECT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Using Supervised Learning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whether a customer will churn (Yes / No)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39776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548640" y="39776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444752" y="39776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1444752" y="39776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340864" y="3977640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2340864" y="3977640"/>
            <a:ext cx="70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59252" y="3977640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3159252" y="397764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21708" y="39776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4521708" y="3977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28716" y="3977640"/>
            <a:ext cx="864108" cy="292608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5728716" y="3977640"/>
            <a:ext cx="86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which customers will leave?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5430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customer churn?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945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tells us whether a customer has churned (left) or not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Churn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classification problem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whether a customer will churn or not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F6FEB"/>
          </a:solidFill>
          <a:ln w="9525">
            <a:solidFill>
              <a:srgbClr val="1F6F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502920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Yes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churned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5488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5029200" y="3063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No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did not churn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columns: 7 numerical, 4 categorical, 1 identifier and the target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4401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96596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Annual_Income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Tenure_Months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Monthly_Charges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Support_Calls_Last_3M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Data_Usage_GB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Satisfaction_Score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94760" y="118872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977640" y="1325880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940" y="14401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023360" y="19659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Contract_Type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Plan_Type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92240" y="1188720"/>
            <a:ext cx="2194560" cy="2788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675120" y="1325880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420" y="144018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69480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720840" y="19659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67512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is only an identifier, so it is not used for prediction.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F6FEB"/>
          </a:solidFill>
          <a:ln w="9525">
            <a:solidFill>
              <a:srgbClr val="1F6F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Churn  (Yes = churned, No = did not churn)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Initial Inspection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done before cleaning the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7589520" cy="0"/>
          </a:xfrm>
          <a:prstGeom prst="line">
            <a:avLst/>
          </a:prstGeom>
          <a:noFill/>
          <a:ln w="25400">
            <a:solidFill>
              <a:srgbClr val="B7CDE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960120" cy="30175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52019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0574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3317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12064" y="2880360"/>
            <a:ext cx="850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rows × 13 columns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490472" y="1188720"/>
            <a:ext cx="960120" cy="30175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673352" y="1371600"/>
            <a:ext cx="594360" cy="5943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1942" y="152019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90472" y="20574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536192" y="23317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&amp; types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545336" y="2880360"/>
            <a:ext cx="850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numeric, 7 text (Annual_Income read as text)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523744" y="1188720"/>
            <a:ext cx="960120" cy="30175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2706624" y="1371600"/>
            <a:ext cx="594360" cy="5943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5214" y="1520190"/>
            <a:ext cx="297180" cy="2971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523744" y="20574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2569464" y="23317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&amp; last records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2578608" y="2880360"/>
            <a:ext cx="850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with head() and tail()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557016" y="1188720"/>
            <a:ext cx="960120" cy="30175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3739896" y="1371600"/>
            <a:ext cx="594360" cy="5943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486" y="1520190"/>
            <a:ext cx="297180" cy="2971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557016" y="20574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602736" y="23317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3611880" y="2880360"/>
            <a:ext cx="850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7 columns (up to 11 in Annual_Income)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590288" y="1188720"/>
            <a:ext cx="960120" cy="30175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4773168" y="1371600"/>
            <a:ext cx="594360" cy="5943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758" y="1520190"/>
            <a:ext cx="297180" cy="2971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590288" y="20574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636008" y="23317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4645152" y="2880360"/>
            <a:ext cx="850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duplicate rows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623560" y="1188720"/>
            <a:ext cx="960120" cy="30175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5806440" y="1371600"/>
            <a:ext cx="594360" cy="5943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5030" y="1520190"/>
            <a:ext cx="297180" cy="29718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623560" y="20574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5669280" y="23317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5678424" y="2880360"/>
            <a:ext cx="850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min/max, e.g. Age −5 to 145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6656832" y="1188720"/>
            <a:ext cx="960120" cy="30175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4"/>
          <p:cNvSpPr/>
          <p:nvPr/>
        </p:nvSpPr>
        <p:spPr>
          <a:xfrm>
            <a:off x="6839712" y="1371600"/>
            <a:ext cx="594360" cy="5943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8302" y="1520190"/>
            <a:ext cx="297180" cy="29718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656832" y="20574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6702552" y="23317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split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711696" y="2880360"/>
            <a:ext cx="850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97 · No 87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7690104" y="1188720"/>
            <a:ext cx="960120" cy="30175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39"/>
          <p:cNvSpPr/>
          <p:nvPr/>
        </p:nvSpPr>
        <p:spPr>
          <a:xfrm>
            <a:off x="7872984" y="1371600"/>
            <a:ext cx="594360" cy="5943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1574" y="1520190"/>
            <a:ext cx="297180" cy="29718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7690104" y="20574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7735824" y="23317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values</a:t>
            </a:r>
            <a:endParaRPr lang="en-US" sz="1100" dirty="0"/>
          </a:p>
        </p:txBody>
      </p:sp>
      <p:sp>
        <p:nvSpPr>
          <p:cNvPr id="52" name="Text 42"/>
          <p:cNvSpPr txBox="1"/>
          <p:nvPr/>
        </p:nvSpPr>
        <p:spPr>
          <a:xfrm>
            <a:off x="7744968" y="2880360"/>
            <a:ext cx="850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such as "?" and "Unknown"</a:t>
            </a:r>
            <a:endParaRPr lang="en-US" sz="950" dirty="0"/>
          </a:p>
        </p:txBody>
      </p:sp>
      <p:sp>
        <p:nvSpPr>
          <p:cNvPr id="53" name="Text 4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data: 184 rows → 180 rows after removing duplicates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messy data into model-ready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383030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&amp; duplicates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?, NA, N/A with missing values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rows (184 → 180)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numerical gaps with median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categorical gaps with mode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383280" y="1280160"/>
            <a:ext cx="411480" cy="4114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150" y="138303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86200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numbers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182880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Annual_Income converted to numeric; negative or above 200,000 removed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below 18 or above 100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above 100 months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Monthly_Charges above 200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calls above 20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usage below 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outside 1–10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92240" y="1143000"/>
            <a:ext cx="2194560" cy="2834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629400" y="1280160"/>
            <a:ext cx="411480" cy="4114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70" y="1383030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32320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675120" y="1828800"/>
            <a:ext cx="1874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extra spaces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labels (e.g. "2-Year" → "2 Year", "Upi" → "UPI")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F6FEB"/>
          </a:solidFill>
          <a:ln w="9525">
            <a:solidFill>
              <a:srgbClr val="1F6F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594360" y="4233672"/>
            <a:ext cx="402336" cy="402336"/>
          </a:xfrm>
          <a:prstGeom prst="ellipse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33425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43000" y="41605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values set to missing, then filled  →  0 missing values  →  saved as cleaned_dataset.csv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from the notebook: how does churn change across customer details?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mg/c7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" y="1243584"/>
            <a:ext cx="1426464" cy="12070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distribution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130552" y="118872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img/c7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85416" y="1243584"/>
            <a:ext cx="1426464" cy="12070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67128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Churn vs </a:t>
            </a:r>
            <a:r>
              <a:rPr lang="en-US" sz="95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Contract_Type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803904" y="118872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 descr="img/c7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58768" y="1243584"/>
            <a:ext cx="1426464" cy="12070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4048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 </a:t>
            </a:r>
            <a:r>
              <a:rPr lang="en-US" sz="95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Satisfaction_Score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477256" y="118872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img/c8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32120" y="1243584"/>
            <a:ext cx="1426464" cy="12070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513832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 Tenure_Months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7150608" y="118872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4" descr="img/c8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05472" y="1243584"/>
            <a:ext cx="1426464" cy="120700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187184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 Monthly_Charges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457200" y="297180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5" descr="img/c85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12064" y="3026664"/>
            <a:ext cx="1426464" cy="120700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93776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 Plan_Type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2130552" y="297180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6" descr="img/c87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185416" y="3026664"/>
            <a:ext cx="1426464" cy="12070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2167128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 Payment_Method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3803904" y="297180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7" descr="img/c89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58768" y="3026664"/>
            <a:ext cx="1426464" cy="1207008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384048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 Region</a:t>
            </a:r>
            <a:endParaRPr lang="en-US" sz="950" dirty="0"/>
          </a:p>
        </p:txBody>
      </p:sp>
      <p:sp>
        <p:nvSpPr>
          <p:cNvPr id="28" name="Shape 18"/>
          <p:cNvSpPr/>
          <p:nvPr/>
        </p:nvSpPr>
        <p:spPr>
          <a:xfrm>
            <a:off x="5477256" y="297180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9" name="Image 8" descr="img/c91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32120" y="3026664"/>
            <a:ext cx="1426464" cy="120700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513832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 Support_Calls_Last_3M</a:t>
            </a:r>
            <a:endParaRPr lang="en-US" sz="950" dirty="0"/>
          </a:p>
        </p:txBody>
      </p:sp>
      <p:sp>
        <p:nvSpPr>
          <p:cNvPr id="31" name="Shape 20"/>
          <p:cNvSpPr/>
          <p:nvPr/>
        </p:nvSpPr>
        <p:spPr>
          <a:xfrm>
            <a:off x="7150608" y="297180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9" descr="img/c93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205472" y="3026664"/>
            <a:ext cx="1426464" cy="120700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7187184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Churn vs Data_Usage_GB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notebook results show (180 customers after cleaning)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Contract_Type</a:t>
            </a:r>
            <a:endParaRPr lang="en-US" sz="1300" dirty="0"/>
          </a:p>
        </p:txBody>
      </p:sp>
      <p:pic>
        <p:nvPicPr>
          <p:cNvPr id="6" name="Image 0" descr="img/c7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481328"/>
            <a:ext cx="2377440" cy="1280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8163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Monthly 62.5% · 1 Year 46.2% · 2 Year 20.8%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38328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Plan_Type</a:t>
            </a:r>
            <a:endParaRPr lang="en-US" sz="1300" dirty="0"/>
          </a:p>
        </p:txBody>
      </p:sp>
      <p:pic>
        <p:nvPicPr>
          <p:cNvPr id="10" name="Image 1" descr="img/c8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83280" y="1481328"/>
            <a:ext cx="2377440" cy="12801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8163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Basic 68.1% · Premium 46.2% · Standard 46.8%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35040" y="109728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 txBox="1"/>
          <p:nvPr/>
        </p:nvSpPr>
        <p:spPr>
          <a:xfrm>
            <a:off x="617220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Satisfaction_Score</a:t>
            </a:r>
            <a:endParaRPr lang="en-US" sz="1300" dirty="0"/>
          </a:p>
        </p:txBody>
      </p:sp>
      <p:pic>
        <p:nvPicPr>
          <p:cNvPr id="14" name="Image 2" descr="img/c7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1481328"/>
            <a:ext cx="2377440" cy="12801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172200" y="28163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score: churned 5.27 vs not churned 6.30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EXAMINED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3959352"/>
            <a:ext cx="1426464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 txBox="1"/>
          <p:nvPr/>
        </p:nvSpPr>
        <p:spPr>
          <a:xfrm>
            <a:off x="457200" y="3959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Satisfaction_Score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975104" y="3959352"/>
            <a:ext cx="1106424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 txBox="1"/>
          <p:nvPr/>
        </p:nvSpPr>
        <p:spPr>
          <a:xfrm>
            <a:off x="1975104" y="395935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Tenure_Months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172968" y="3959352"/>
            <a:ext cx="1618488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3172968" y="395935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Support_Calls_Last_3M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82896" y="39593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 txBox="1"/>
          <p:nvPr/>
        </p:nvSpPr>
        <p:spPr>
          <a:xfrm>
            <a:off x="4882896" y="3959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Monthly_Charges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08776" y="3959352"/>
            <a:ext cx="1106424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 txBox="1"/>
          <p:nvPr/>
        </p:nvSpPr>
        <p:spPr>
          <a:xfrm>
            <a:off x="6208776" y="395935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Contract_Type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406640" y="3959352"/>
            <a:ext cx="850392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 txBox="1"/>
          <p:nvPr/>
        </p:nvSpPr>
        <p:spPr>
          <a:xfrm>
            <a:off x="7406640" y="395935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Plan_Type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57200" y="4288536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 txBox="1"/>
          <p:nvPr/>
        </p:nvSpPr>
        <p:spPr>
          <a:xfrm>
            <a:off x="457200" y="42885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1719072" y="4288536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 txBox="1"/>
          <p:nvPr/>
        </p:nvSpPr>
        <p:spPr>
          <a:xfrm>
            <a:off x="1719072" y="42885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2468880" y="4288536"/>
            <a:ext cx="466344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 txBox="1"/>
          <p:nvPr/>
        </p:nvSpPr>
        <p:spPr>
          <a:xfrm>
            <a:off x="2468880" y="4288536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026664" y="4288536"/>
            <a:ext cx="1106424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 txBox="1"/>
          <p:nvPr/>
        </p:nvSpPr>
        <p:spPr>
          <a:xfrm>
            <a:off x="3026664" y="428853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Annual_Income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224528" y="4288536"/>
            <a:ext cx="1106424" cy="256032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 txBox="1"/>
          <p:nvPr/>
        </p:nvSpPr>
        <p:spPr>
          <a:xfrm>
            <a:off x="4224528" y="428853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Data_Usage_GB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Support Calls and Monthly Charges had the same median for churned and non-churned customers.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Preprocessing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cleaned data to model-ready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02412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84632" y="1234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234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64208" y="1234440"/>
            <a:ext cx="102412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691640" y="1234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Customer_ID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88336" y="1234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71216" y="1234440"/>
            <a:ext cx="102412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898648" y="1234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95344" y="1234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078224" y="1234440"/>
            <a:ext cx="102412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105656" y="1234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1234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85232" y="1234440"/>
            <a:ext cx="102412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312664" y="1234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234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92240" y="1234440"/>
            <a:ext cx="1024128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519672" y="1234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12344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699248" y="1234440"/>
            <a:ext cx="1024128" cy="777240"/>
          </a:xfrm>
          <a:prstGeom prst="roundRect">
            <a:avLst>
              <a:gd name="adj" fmla="val 11765"/>
            </a:avLst>
          </a:prstGeom>
          <a:solidFill>
            <a:srgbClr val="1F6FEB"/>
          </a:solidFill>
          <a:ln w="15875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726680" y="1234440"/>
            <a:ext cx="969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4360" y="2670048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784348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8872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removed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3246120" y="2377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3383280" y="2670048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80" y="2784348"/>
            <a:ext cx="228600" cy="22860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397764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converted: No = 0, Yes = 1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035040" y="2377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6172200" y="2670048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784348"/>
            <a:ext cx="228600" cy="2286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76656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training, 20% testing (144 / 36 customers)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457200" y="3566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594360" y="3858768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3973068"/>
            <a:ext cx="228600" cy="22860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18872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train-test split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3246120" y="3566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5"/>
          <p:cNvSpPr/>
          <p:nvPr/>
        </p:nvSpPr>
        <p:spPr>
          <a:xfrm>
            <a:off x="3383280" y="3858768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7580" y="3973068"/>
            <a:ext cx="228600" cy="22860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397764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scaled with StandardScaler</a:t>
            </a:r>
            <a:endParaRPr lang="en-US" sz="1250" dirty="0"/>
          </a:p>
        </p:txBody>
      </p:sp>
      <p:sp>
        <p:nvSpPr>
          <p:cNvPr id="44" name="Shape 37"/>
          <p:cNvSpPr/>
          <p:nvPr/>
        </p:nvSpPr>
        <p:spPr>
          <a:xfrm>
            <a:off x="6035040" y="3566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38"/>
          <p:cNvSpPr/>
          <p:nvPr/>
        </p:nvSpPr>
        <p:spPr>
          <a:xfrm>
            <a:off x="6172200" y="3858768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973068"/>
            <a:ext cx="228600" cy="22860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676656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 encoded (OneHotEncoder)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Models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were trained and compared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36192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621792" cy="621792"/>
          </a:xfrm>
          <a:prstGeom prst="ellipse">
            <a:avLst/>
          </a:prstGeom>
          <a:solidFill>
            <a:srgbClr val="18B4D8"/>
          </a:solidFill>
          <a:ln w="12700">
            <a:solidFill>
              <a:srgbClr val="18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5270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1031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23774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97180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simple formula to estimate the chance of churn.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30552" y="1188720"/>
            <a:ext cx="1536192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587752" y="1371600"/>
            <a:ext cx="621792" cy="621792"/>
          </a:xfrm>
          <a:prstGeom prst="ellipse">
            <a:avLst/>
          </a:prstGeom>
          <a:solidFill>
            <a:srgbClr val="18B4D8"/>
          </a:solidFill>
          <a:ln w="12700">
            <a:solidFill>
              <a:srgbClr val="18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52704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30552" y="21031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203704" y="23774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221992" y="297180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the most similar customers and copies their outcome.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803904" y="1188720"/>
            <a:ext cx="1536192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261104" y="1371600"/>
            <a:ext cx="621792" cy="621792"/>
          </a:xfrm>
          <a:prstGeom prst="ellipse">
            <a:avLst/>
          </a:prstGeom>
          <a:solidFill>
            <a:srgbClr val="18B4D8"/>
          </a:solidFill>
          <a:ln w="12700">
            <a:solidFill>
              <a:srgbClr val="18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52704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803904" y="21031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3877056" y="23774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895344" y="297180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series of yes/no questions to reach a decision.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77256" y="1188720"/>
            <a:ext cx="1536192" cy="2926080"/>
          </a:xfrm>
          <a:prstGeom prst="roundRect">
            <a:avLst>
              <a:gd name="adj" fmla="val 4762"/>
            </a:avLst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934456" y="1371600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152704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77256" y="21031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550408" y="23774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568696" y="297180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decision trees and takes the majority vote.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150608" y="1188720"/>
            <a:ext cx="1536192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7607808" y="1371600"/>
            <a:ext cx="621792" cy="621792"/>
          </a:xfrm>
          <a:prstGeom prst="ellipse">
            <a:avLst/>
          </a:prstGeom>
          <a:solidFill>
            <a:srgbClr val="18B4D8"/>
          </a:solidFill>
          <a:ln w="12700">
            <a:solidFill>
              <a:srgbClr val="18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1527048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50608" y="21031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7223760" y="23774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7242048" y="297180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small models one by one, each fixing earlier mistakes.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used the same preprocessing steps.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judge each model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137617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1280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830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 predictions that are correct.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60320" y="11430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697480" y="128016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492" y="1376172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82112" y="1280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17830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predicted to churn, how many really churned.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663440" y="11430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800600" y="128016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612" y="1376172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85232" y="1280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17830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who really churned, how many were found.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766560" y="11430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903720" y="128016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732" y="1376172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88352" y="1280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17830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 between Precision and Recall.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283464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594360" y="297180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" y="3067812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78992" y="2971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94360" y="3474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correct and wrong predictions.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2560320" y="283464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2697480" y="297180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3492" y="3067812"/>
            <a:ext cx="192024" cy="1920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182112" y="2971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2697480" y="3474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model separates churn from no churn.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4663440" y="283464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4800600" y="2971800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6612" y="3067812"/>
            <a:ext cx="192024" cy="19202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285232" y="2971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4800600" y="3474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different parts of the data (5 folds).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6766560" y="283464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1F6FEB"/>
          </a:solidFill>
          <a:ln w="9525">
            <a:solidFill>
              <a:srgbClr val="1F6F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 txBox="1"/>
          <p:nvPr/>
        </p:nvSpPr>
        <p:spPr>
          <a:xfrm>
            <a:off x="6903720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matters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6903720" y="3246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customer who actually churns can mean losing a retention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results from the notebook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0.594444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0.594444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0.649708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0.622201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0.505556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0.505556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0.532527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0.467836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0.493326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0.605556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0.605556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0.627038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0.616374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0.620060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0.615789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0.681287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0.645405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0.583333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0.583333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0.628070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0.611660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3776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score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0.611111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3703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3429000" y="3776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0.681287</a:t>
            </a:r>
            <a:endParaRPr lang="en-US" sz="2200" dirty="0"/>
          </a:p>
        </p:txBody>
      </p:sp>
      <p:sp>
        <p:nvSpPr>
          <p:cNvPr id="4" name="Text 9"/>
          <p:cNvSpPr txBox="1"/>
          <p:nvPr/>
        </p:nvSpPr>
        <p:spPr>
          <a:xfrm>
            <a:off x="342900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703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6217920" y="3776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0.645405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Random Forest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using validation and testing results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0.611111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30552" y="118872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130552" y="13258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16916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0.611111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803904" y="118872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803904" y="13258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03904" y="16916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0.615789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77256" y="118872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1F6FEB"/>
          </a:solidFill>
          <a:ln w="9525">
            <a:solidFill>
              <a:srgbClr val="1F6F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77256" y="13258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77256" y="16916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0.681287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150608" y="118872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1F6FEB"/>
          </a:solidFill>
          <a:ln w="9525">
            <a:solidFill>
              <a:srgbClr val="1F6F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150608" y="13258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16916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0.645405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937510"/>
            <a:ext cx="205740" cy="2057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8872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3429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CV score, Recall and F1 Score of the 5 models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 on Accuracy alone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balance between Precision and Recall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760720" y="269748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 txBox="1"/>
          <p:nvPr/>
        </p:nvSpPr>
        <p:spPr>
          <a:xfrm>
            <a:off x="598932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989320" y="32004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customers who are likely to churn, so Recall matters most.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Errors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the 36 test customers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mg/c19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88720"/>
            <a:ext cx="38404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09160" y="10972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4846320" y="1170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216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No Churn, actually No Churn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20840" y="10972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3DC"/>
          </a:solidFill>
          <a:ln w="9525">
            <a:solidFill>
              <a:srgbClr val="FFF3DC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858000" y="1170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1216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Churn, actually No Churn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09160" y="23317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3DC"/>
          </a:solidFill>
          <a:ln w="9525">
            <a:solidFill>
              <a:srgbClr val="FFF3DC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4846320" y="2404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24505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9535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No Churn, actually Churn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20840" y="23317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6858000" y="2404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24505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29535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Churn, actually Churn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09160" y="36118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4846320" y="367588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Negative: </a:t>
            </a: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who churns is predicted as No Churn, so a retention chance may be missed.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Positive: </a:t>
            </a: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 but does not churn, so effort or offers may be wasted.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business can use the predictions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207008"/>
            <a:ext cx="402336" cy="40233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307592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097280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09728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predicted churners: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suitable retention support before they leave.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81965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94360" y="1929384"/>
            <a:ext cx="402336" cy="40233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02996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1819656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1819656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low Satisfaction_Score: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their service experience and resolve issues quickly.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54203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94360" y="2651760"/>
            <a:ext cx="402336" cy="40233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75234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2542032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2542032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frequent Support_Calls_Last_3M: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problems behind repeated support requests.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326440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594360" y="3374136"/>
            <a:ext cx="402336" cy="40233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47472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43000" y="3264408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326440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shorter Tenure_Months: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better onboarding and early support.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57200" y="398678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594360" y="4096512"/>
            <a:ext cx="402336" cy="40233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19709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43000" y="3986784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3986784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Monthly_Charges and Plan_Type: </a:t>
            </a: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 predicted to churn, and consider suitable plans or offers.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Improvement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1F6FEB"/>
          </a:solidFill>
          <a:ln w="9525">
            <a:solidFill>
              <a:srgbClr val="1F6FEB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selected as the final model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help identify customers likely to churn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can support customer retention activities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1E9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produce False Positives and False Negatives.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data could improve 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74320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interaction history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renewal history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74320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cancellation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retention offers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Plan-change history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290945" y="1572491"/>
            <a:ext cx="8395855" cy="1582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33400" y="238887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Using Supervised Learning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1262</Words>
  <Application>Microsoft Office PowerPoint</Application>
  <PresentationFormat>On-screen Show (16:9)</PresentationFormat>
  <Paragraphs>303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>PptxGenJS Presentation</dc:subject>
  <dc:creator>PptxGenJS</dc:creator>
  <cp:lastModifiedBy>Keerthi Priya</cp:lastModifiedBy>
  <cp:revision>4</cp:revision>
  <dcterms:created xsi:type="dcterms:W3CDTF">2026-09-28T16:54:47Z</dcterms:created>
  <dcterms:modified xsi:type="dcterms:W3CDTF">2026-09-28T17:00:53Z</dcterms:modified>
</cp:coreProperties>
</file>